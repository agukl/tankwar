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5" r:id="rId14"/>
    <p:sldId id="266" r:id="rId15"/>
  </p:sldIdLst>
  <p:sldSz cx="9144000" cy="6858000" type="screen4x3"/>
  <p:notesSz cx="6858000" cy="9144000"/>
  <p:custDataLst>
    <p:tags r:id="rId20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llo" initials="n" lastIdx="2" clrIdx="0"/>
  <p:cmAuthor id="2" name="作者" initials="作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73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106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0" Type="http://schemas.openxmlformats.org/officeDocument/2006/relationships/slideLayout" Target="../slideLayouts/slideLayout18.xml"/><Relationship Id="rId1" Type="http://schemas.openxmlformats.org/officeDocument/2006/relationships/tags" Target="../tags/tag1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0" Type="http://schemas.openxmlformats.org/officeDocument/2006/relationships/slideLayout" Target="../slideLayouts/slideLayout18.xml"/><Relationship Id="rId1" Type="http://schemas.openxmlformats.org/officeDocument/2006/relationships/tags" Target="../tags/tag4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image" Target="../media/image2.png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0" Type="http://schemas.openxmlformats.org/officeDocument/2006/relationships/slideLayout" Target="../slideLayouts/slideLayout18.xml"/><Relationship Id="rId1" Type="http://schemas.openxmlformats.org/officeDocument/2006/relationships/tags" Target="../tags/tag5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84.xml"/><Relationship Id="rId1" Type="http://schemas.openxmlformats.org/officeDocument/2006/relationships/tags" Target="../tags/tag7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94.xml"/><Relationship Id="rId1" Type="http://schemas.openxmlformats.org/officeDocument/2006/relationships/tags" Target="../tags/tag8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60153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397510" y="5373370"/>
            <a:ext cx="8139430" cy="71310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404040"/>
                </a:solidFill>
                <a:uFillTx/>
                <a:ea typeface="微软雅黑" panose="020B0503020204020204" charset="-122"/>
                <a:sym typeface="+mn-ea"/>
              </a:rPr>
              <a:t>组长：</a:t>
            </a:r>
            <a:r>
              <a:rPr lang="en-US" altLang="zh-CN" sz="1200">
                <a:solidFill>
                  <a:srgbClr val="404040"/>
                </a:solidFill>
                <a:uFillTx/>
                <a:ea typeface="微软雅黑" panose="020B0503020204020204" charset="-122"/>
                <a:sym typeface="+mn-ea"/>
              </a:rPr>
              <a:t>郎竑健 </a:t>
            </a:r>
            <a:endParaRPr kumimoji="0" lang="en-US" altLang="zh-CN" sz="1200" b="0" i="0" u="none" strike="noStrike" kern="1200" cap="none" spc="150" normalizeH="0" baseline="0" noProof="1">
              <a:solidFill>
                <a:srgbClr val="404040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404040"/>
                </a:solidFill>
                <a:uFillTx/>
                <a:ea typeface="微软雅黑" panose="020B0503020204020204" charset="-122"/>
                <a:sym typeface="+mn-ea"/>
              </a:rPr>
              <a:t>组员：</a:t>
            </a:r>
            <a:r>
              <a:rPr lang="en-US" altLang="zh-CN" sz="1200">
                <a:solidFill>
                  <a:srgbClr val="404040"/>
                </a:solidFill>
                <a:uFillTx/>
                <a:ea typeface="微软雅黑" panose="020B0503020204020204" charset="-122"/>
                <a:sym typeface="+mn-ea"/>
              </a:rPr>
              <a:t>徐志浩 俞伟鸿 王天宇</a:t>
            </a:r>
            <a:endParaRPr lang="zh-CN" altLang="en-US" sz="1200" dirty="0">
              <a:solidFill>
                <a:srgbClr val="000000">
                  <a:lumMod val="50000"/>
                  <a:lumOff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2771775" y="1568450"/>
            <a:ext cx="4192905" cy="1061085"/>
          </a:xfrm>
          <a:prstGeom prst="rect">
            <a:avLst/>
          </a:prstGeom>
          <a:noFill/>
        </p:spPr>
        <p:txBody>
          <a:bodyPr wrap="square" lIns="76200" tIns="28575" rIns="47625" bIns="28575" rtlCol="0" anchor="b" anchorCtr="0">
            <a:no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sz="4400" b="1" spc="300" dirty="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可行性分析</a:t>
            </a:r>
            <a:endParaRPr lang="zh-CN" altLang="en-US" sz="4400" b="1" spc="300" dirty="0">
              <a:solidFill>
                <a:srgbClr val="000000">
                  <a:lumMod val="75000"/>
                  <a:lumOff val="25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algn="r" fontAlgn="auto">
              <a:lnSpc>
                <a:spcPct val="100000"/>
              </a:lnSpc>
            </a:pPr>
            <a:endParaRPr lang="en-US" altLang="zh-CN" sz="2700" b="1" spc="300" dirty="0">
              <a:solidFill>
                <a:srgbClr val="000000">
                  <a:lumMod val="75000"/>
                  <a:lumOff val="25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118787" name="图片 -21474826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9475" y="2205355"/>
            <a:ext cx="2094865" cy="92773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60153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323215" y="692785"/>
            <a:ext cx="8139430" cy="454025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目录：</a:t>
            </a:r>
            <a:endParaRPr lang="zh-CN" altLang="en-US" sz="1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1引言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1.1编写目的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1.2 背景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1.3定义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1.4参考资料</a:t>
            </a:r>
            <a:endParaRPr lang="zh-CN" altLang="en-US" sz="1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2可行性研究的前提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2.1要求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2.2目标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2.3条件、假定和限制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2.4进行可行性研究的方法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2.5评价尺度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3对现有系统的分析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lang="en-US" altLang="zh-CN" sz="1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3.1处理流程和数据流程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3.2工作负荷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3.3费用开支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3.4人员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3.5设备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3.6局限性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lang="en-US" altLang="zh-CN" sz="1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4所建议的系统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4.1改进之处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4.2影响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4.2.1对设备的影响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4.2.2对软件的影响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4.2.3对用户单位机构的影响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4.2.4对系统运行过程的影响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4.2.5对开发的影响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4.2.6对地点和设施的影响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4.2.7对经费开支的影响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4.3局限性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4.4技术条件方面的可行性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5可选择的其他系统方案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lang="en-US" altLang="zh-CN" sz="1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5.1可选择的系统方案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lang="en-US" altLang="zh-CN" sz="1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6投资及效益分析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6.1支出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6.2收益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6.3收益投资比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6.4投资回收周期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6.5敏感性分析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lang="en-US" altLang="zh-CN" sz="1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7社会因素方面的可行性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7.1法律方面的可行性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7.2使用方面的可行性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lang="en-US" altLang="zh-CN" sz="1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8结论</a:t>
            </a:r>
            <a:endParaRPr lang="zh-CN" altLang="en-US" sz="14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60153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可行性研究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467360" y="1485265"/>
            <a:ext cx="6669405" cy="182054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定义：初步进行工程化</a:t>
            </a:r>
            <a:r>
              <a:rPr lang="zh-CN" altLang="en-US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软件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</a:t>
            </a:r>
            <a:r>
              <a:rPr lang="zh-CN" altLang="en-US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设计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。以调查的目标人群为基础，提供一款娱乐休闲的小游戏。以电脑的运行的载体，初步计划以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Java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语言进行实现，把微信联网小程序作为游戏开发的最终版本，期望经典的坦克大战的基本实现，并在传统版本上体验多人游戏。</a:t>
            </a: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60153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0" y="260985"/>
            <a:ext cx="740092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现有技术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实现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可行性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467360" y="1485265"/>
            <a:ext cx="6669405" cy="182054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jdkSE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工具的基础上，使用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eclipse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编辑器，制作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java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项目，以此实现经典版坦克大战的复刻，基本实现流程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如下：</a:t>
            </a: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kumimoji="0" lang="zh-CN" altLang="en-US" sz="1200" b="0" i="0" u="none" strike="noStrike" kern="1200" cap="none" spc="50" normalizeH="0" baseline="0" noProof="1" dirty="0">
              <a:ln w="3175">
                <a:noFill/>
                <a:prstDash val="dash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9"/>
            </p:custDataLst>
          </p:nvPr>
        </p:nvSpPr>
        <p:spPr>
          <a:xfrm>
            <a:off x="394970" y="2637155"/>
            <a:ext cx="8044815" cy="271462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4178300" algn="l"/>
              </a:tabLst>
            </a:pPr>
            <a:r>
              <a:rPr lang="en-US" altLang="zh-CN" sz="1400" spc="50" dirty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1.</a:t>
            </a:r>
            <a:r>
              <a:rPr lang="zh-CN" altLang="en-US" sz="1400" spc="50" dirty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窗体对象用</a:t>
            </a:r>
            <a:r>
              <a:rPr lang="en-US" altLang="zh-CN" sz="1400" spc="50" dirty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JFrame</a:t>
            </a:r>
            <a:r>
              <a:rPr lang="zh-CN" altLang="en-US" sz="1400" spc="50" dirty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对象完成</a:t>
            </a:r>
            <a:r>
              <a:rPr lang="en-US" altLang="zh-CN" sz="1400" spc="50" dirty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	2.</a:t>
            </a:r>
            <a:r>
              <a:rPr lang="zh-CN" altLang="en-US" sz="1400" spc="50" dirty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敌方或我方坦克为零结束</a:t>
            </a:r>
            <a:endParaRPr lang="en-US" altLang="zh-CN" sz="1400" spc="50" dirty="0">
              <a:ln w="3175">
                <a:noFill/>
                <a:prstDash val="dash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4178300" algn="l"/>
              </a:tabLst>
            </a:pPr>
            <a:r>
              <a:rPr lang="en-US" altLang="zh-CN" sz="1400" spc="50" dirty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3.</a:t>
            </a:r>
            <a:r>
              <a:rPr lang="zh-CN" altLang="en-US" sz="1400" spc="50" dirty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缓存闪动先提前绘制元素，再统一呈现</a:t>
            </a:r>
            <a:r>
              <a:rPr lang="en-US" altLang="zh-CN" sz="1400" spc="50" dirty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	4.</a:t>
            </a:r>
            <a:r>
              <a:rPr lang="zh-CN" altLang="en-US" sz="1400" spc="50" dirty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矩形的碰撞检测以坐标为基础进行遍历</a:t>
            </a:r>
            <a:endParaRPr kumimoji="0" lang="zh-CN" altLang="en-US" sz="1400" b="0" i="0" u="none" strike="noStrike" kern="1200" cap="none" spc="50" normalizeH="0" baseline="0" noProof="1" dirty="0">
              <a:ln w="3175">
                <a:noFill/>
                <a:prstDash val="dash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4178300" algn="l"/>
              </a:tabLst>
            </a:pPr>
            <a:r>
              <a:rPr lang="en-US" altLang="zh-CN" sz="1400" spc="50" dirty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5..</a:t>
            </a:r>
            <a:r>
              <a:rPr lang="zh-CN" altLang="en-US" sz="1400" spc="50" dirty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射击间隔就新建一条线程计算冷却时间</a:t>
            </a:r>
            <a:r>
              <a:rPr lang="en-US" altLang="zh-CN" sz="1400" spc="50" dirty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	6.</a:t>
            </a:r>
            <a:r>
              <a:rPr lang="zh-CN" altLang="en-US" sz="1400" spc="50" dirty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爆炸以爆炸坐标添加连续图片实现动画</a:t>
            </a:r>
            <a:endParaRPr kumimoji="0" lang="zh-CN" altLang="en-US" sz="1400" b="0" i="0" u="none" strike="noStrike" kern="1200" cap="none" spc="50" normalizeH="0" baseline="0" noProof="1" dirty="0">
              <a:ln w="3175">
                <a:noFill/>
                <a:prstDash val="dash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4178300" algn="l"/>
              </a:tabLst>
            </a:pPr>
            <a:r>
              <a:rPr lang="en-US" altLang="zh-CN" sz="1400" spc="50" dirty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7.</a:t>
            </a:r>
            <a:r>
              <a:rPr lang="zh-CN" altLang="en-US" sz="1400" spc="50" dirty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敌方坦克动作用随机函数和基本动作类</a:t>
            </a:r>
            <a:r>
              <a:rPr lang="en-US" altLang="zh-CN" sz="1400" spc="50" dirty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	8.</a:t>
            </a:r>
            <a:r>
              <a:rPr lang="zh-CN" altLang="en-US" sz="1400" spc="50" dirty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坦克移动等用键盘监视器进行事件处理</a:t>
            </a:r>
            <a:endParaRPr kumimoji="0" lang="zh-CN" altLang="en-US" sz="1400" b="0" i="0" u="none" strike="noStrike" kern="1200" cap="none" spc="50" normalizeH="0" baseline="0" noProof="1" dirty="0">
              <a:ln w="3175">
                <a:noFill/>
                <a:prstDash val="dash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>
                <a:tab pos="4178300" algn="l"/>
              </a:tabLst>
            </a:pPr>
            <a:endParaRPr kumimoji="0" lang="zh-CN" altLang="en-US" sz="1200" b="0" i="0" u="none" strike="noStrike" kern="1200" cap="none" spc="50" normalizeH="0" baseline="0" noProof="1" dirty="0">
              <a:ln w="3175">
                <a:noFill/>
                <a:prstDash val="dash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endParaRPr kumimoji="0" lang="zh-CN" altLang="en-US" sz="1200" b="0" i="0" u="none" strike="noStrike" kern="1200" cap="none" spc="50" normalizeH="0" baseline="0" noProof="1" dirty="0">
              <a:ln w="3175">
                <a:noFill/>
                <a:prstDash val="dash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60153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r>
              <a:rPr kumimoji="1" lang="zh-CN" altLang="en-US" sz="12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由于</a:t>
            </a:r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0" y="260985"/>
            <a:ext cx="740092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经济效益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的可行性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323850" y="1125220"/>
            <a:ext cx="6669405" cy="166624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支出：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每周2人时/天 * 120天 * 46元/时=11040</a:t>
            </a:r>
            <a:endParaRPr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/>
            <a:r>
              <a:rPr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设备资源</a:t>
            </a:r>
            <a:r>
              <a:rPr lang="zh-CN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本地开发+GIT上传 = 0</a:t>
            </a:r>
            <a:endParaRPr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9"/>
            </p:custDataLst>
          </p:nvPr>
        </p:nvSpPr>
        <p:spPr>
          <a:xfrm>
            <a:off x="395605" y="3068955"/>
            <a:ext cx="6669405" cy="166624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收益：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游戏本身的体现</a:t>
            </a:r>
            <a:r>
              <a:rPr lang="zh-CN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，目标用户的使用</a:t>
            </a:r>
            <a:endParaRPr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/>
            <a:r>
              <a:rPr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作为小组的任务，制作软件制作流程的锻炼</a:t>
            </a:r>
            <a:endParaRPr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lvl="1" indent="457200"/>
            <a:r>
              <a:rPr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一个软件制作</a:t>
            </a: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成品</a:t>
            </a:r>
            <a:endParaRPr lang="zh-CN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10"/>
            </p:custDataLst>
          </p:nvPr>
        </p:nvSpPr>
        <p:spPr>
          <a:xfrm>
            <a:off x="395605" y="4581525"/>
            <a:ext cx="6669405" cy="166624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由于本小组的人力资源均有小组成员提供，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对比</a:t>
            </a:r>
            <a:r>
              <a:rPr lang="zh-CN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实际较低的经济收益，并无具体的经济支出；即人力支出对应作品产出和能力的锻炼，经济上收支较为</a:t>
            </a:r>
            <a:r>
              <a:rPr lang="zh-CN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稀少。</a:t>
            </a:r>
            <a:endParaRPr lang="zh-CN" sz="20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60153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r>
              <a:rPr kumimoji="1" lang="zh-CN" altLang="en-US" sz="12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由于</a:t>
            </a:r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0" y="260985"/>
            <a:ext cx="740092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操作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的可行性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395605" y="1870710"/>
            <a:ext cx="6669405" cy="166624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目标人群为早期玩过类似游戏，想重新体验经典的玩家，和通过休闲游戏打发时间的用户。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我们融入全新游戏要素，能够唤醒玩家记忆，又能够获得良好的游戏体验，让用户从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游戏中获得满足感。</a:t>
            </a:r>
            <a:endParaRPr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60153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r>
              <a:rPr kumimoji="1" lang="zh-CN" altLang="en-US" sz="12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由于</a:t>
            </a:r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0" y="621030"/>
            <a:ext cx="740092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系统流程图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5" name="图片 4" descr="cad62286a2c03b622c82f746f63ce9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60" y="1456690"/>
            <a:ext cx="9144000" cy="438531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60153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r>
              <a:rPr kumimoji="1" lang="zh-CN" altLang="en-US" sz="12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由于</a:t>
            </a:r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0" y="260985"/>
            <a:ext cx="740092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成本/效益分析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323850" y="908685"/>
            <a:ext cx="3072765" cy="52578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000" i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成本估计</a:t>
            </a:r>
            <a:endParaRPr lang="zh-CN" altLang="en-US" sz="2000" i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9"/>
            </p:custDataLst>
          </p:nvPr>
        </p:nvSpPr>
        <p:spPr>
          <a:xfrm>
            <a:off x="683895" y="1772920"/>
            <a:ext cx="7825105" cy="25374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时间成本：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/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花费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二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周的时间进行可行性分析和软件需求分析，了解对象的需求度，花费二周的时间完成第一部分的实现，以方便后续对进度的评估，及软件功能增加可能性的设计，花费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四周左右的时间完成第二部分的实现（其中粗略设计占一周）。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/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以上对软件基础的实现及软件需求分析、可行性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等共计八周。计划二周时间进行最终规模的估计、规划及预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设计编写。花费三周的时间完成运行代码的书写，花费二周的时间完成运行代码的调试及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修改。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/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60153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r>
              <a:rPr kumimoji="1" lang="zh-CN" altLang="en-US" sz="12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由于</a:t>
            </a:r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0" y="260985"/>
            <a:ext cx="740092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成本/效益分析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323850" y="908685"/>
            <a:ext cx="3072765" cy="52578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000" i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成本估计</a:t>
            </a:r>
            <a:endParaRPr lang="zh-CN" altLang="en-US" sz="2000" i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9"/>
            </p:custDataLst>
          </p:nvPr>
        </p:nvSpPr>
        <p:spPr>
          <a:xfrm>
            <a:off x="683895" y="1772920"/>
            <a:ext cx="7825105" cy="25374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人力成本：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/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总人力投入：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100%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人力（每周平均：每人每天半小时）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/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可行性研究：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10%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人力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/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需求分析：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10%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人力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/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设计：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15%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人力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/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编码和单元测试：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5%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人力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/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综合测试：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30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%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人力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/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60153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r>
              <a:rPr kumimoji="1" lang="zh-CN" altLang="en-US" sz="12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由于</a:t>
            </a:r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0" y="260985"/>
            <a:ext cx="7400925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成本/效益分析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323850" y="908685"/>
            <a:ext cx="3072765" cy="52578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效益</a:t>
            </a:r>
            <a:r>
              <a:rPr lang="zh-CN" altLang="en-US" sz="2000" i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估计</a:t>
            </a:r>
            <a:endParaRPr lang="zh-CN" altLang="en-US" sz="2000" i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9"/>
            </p:custDataLst>
          </p:nvPr>
        </p:nvSpPr>
        <p:spPr>
          <a:xfrm>
            <a:off x="683895" y="1772920"/>
            <a:ext cx="7825105" cy="403987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algn="l">
              <a:buClrTx/>
              <a:buSzTx/>
              <a:buFontTx/>
            </a:pP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实践效益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1" algn="l">
              <a:buClrTx/>
              <a:buSzTx/>
              <a:buFontTx/>
            </a:pP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游戏本身的体现，目标用户的使用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1" algn="l">
              <a:buClrTx/>
              <a:buSzTx/>
              <a:buFontTx/>
            </a:pP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作为小组的任务，制作软件制作流程的锻炼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1" algn="l">
              <a:buClrTx/>
              <a:buSzTx/>
              <a:buFontTx/>
            </a:pP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一个软件制作成品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经济效益：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1"/>
            <a:r>
              <a:rPr lang="zh-CN" altLang="en-US" sz="225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广告植入</a:t>
            </a:r>
            <a:endParaRPr lang="zh-CN" altLang="en-US" sz="225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1"/>
            <a:r>
              <a:rPr lang="zh-CN" altLang="en-US" sz="225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游戏版权的占有</a:t>
            </a:r>
            <a:endParaRPr lang="zh-CN" altLang="en-US" sz="225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1"/>
            <a:r>
              <a:rPr lang="zh-CN" altLang="en-US" sz="225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游戏内部充值渠道</a:t>
            </a:r>
            <a:endParaRPr lang="zh-CN" altLang="en-US" sz="225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6977" name="组合 43"/>
          <p:cNvGrpSpPr/>
          <p:nvPr/>
        </p:nvGrpSpPr>
        <p:grpSpPr>
          <a:xfrm>
            <a:off x="492125" y="461963"/>
            <a:ext cx="923925" cy="711200"/>
            <a:chOff x="842086" y="1969574"/>
            <a:chExt cx="1233302" cy="949325"/>
          </a:xfrm>
        </p:grpSpPr>
        <p:sp>
          <p:nvSpPr>
            <p:cNvPr id="42" name="任意多边形: 形状 41"/>
            <p:cNvSpPr/>
            <p:nvPr>
              <p:custDataLst>
                <p:tags r:id="rId1"/>
              </p:custDataLst>
            </p:nvPr>
          </p:nvSpPr>
          <p:spPr>
            <a:xfrm>
              <a:off x="8420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 fontAlgn="base"/>
              <a:endParaRPr lang="zh-CN" altLang="en-US" sz="1350" strike="noStrike" noProof="1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3" name="任意多边形: 形状 42"/>
            <p:cNvSpPr/>
            <p:nvPr>
              <p:custDataLst>
                <p:tags r:id="rId2"/>
              </p:custDataLst>
            </p:nvPr>
          </p:nvSpPr>
          <p:spPr>
            <a:xfrm>
              <a:off x="15024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 fontAlgn="base"/>
              <a:endParaRPr lang="zh-CN" altLang="en-US" sz="1350" strike="noStrike" noProof="1">
                <a:ea typeface="微软雅黑" panose="020B0503020204020204" charset="-122"/>
              </a:endParaRPr>
            </a:p>
          </p:txBody>
        </p:sp>
      </p:grpSp>
      <p:sp>
        <p:nvSpPr>
          <p:cNvPr id="126980" name="文本框 6"/>
          <p:cNvSpPr txBox="1"/>
          <p:nvPr>
            <p:custDataLst>
              <p:tags r:id="rId3"/>
            </p:custDataLst>
          </p:nvPr>
        </p:nvSpPr>
        <p:spPr>
          <a:xfrm>
            <a:off x="1416050" y="1419225"/>
            <a:ext cx="3960813" cy="58896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2700" b="1" dirty="0">
                <a:solidFill>
                  <a:srgbClr val="404040"/>
                </a:solidFill>
                <a:latin typeface="Arial" panose="020B0604020202020204" pitchFamily="34" charset="0"/>
                <a:ea typeface="微软雅黑" panose="020B0503020204020204" charset="-122"/>
              </a:rPr>
              <a:t>当前里程碑评价：</a:t>
            </a:r>
            <a:endParaRPr lang="zh-CN" altLang="en-US" sz="2700" b="1" dirty="0">
              <a:solidFill>
                <a:srgbClr val="40404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>
            <p:custDataLst>
              <p:tags r:id="rId4"/>
            </p:custDataLst>
          </p:nvPr>
        </p:nvCxnSpPr>
        <p:spPr>
          <a:xfrm>
            <a:off x="1135063" y="1308100"/>
            <a:ext cx="0" cy="811213"/>
          </a:xfrm>
          <a:prstGeom prst="line">
            <a:avLst/>
          </a:prstGeom>
          <a:ln>
            <a:solidFill>
              <a:sysClr val="windowText" lastClr="000000"/>
            </a:solidFill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rgbClr val="4472C4"/>
          </a:effectRef>
          <a:fontRef idx="minor">
            <a:sysClr val="windowText" lastClr="000000"/>
          </a:fontRef>
        </p:style>
      </p:cxnSp>
      <p:grpSp>
        <p:nvGrpSpPr>
          <p:cNvPr id="126982" name="组合 44"/>
          <p:cNvGrpSpPr/>
          <p:nvPr/>
        </p:nvGrpSpPr>
        <p:grpSpPr>
          <a:xfrm rot="10800000">
            <a:off x="7562850" y="1173163"/>
            <a:ext cx="923925" cy="711200"/>
            <a:chOff x="842086" y="1969574"/>
            <a:chExt cx="1233302" cy="949325"/>
          </a:xfrm>
        </p:grpSpPr>
        <p:sp>
          <p:nvSpPr>
            <p:cNvPr id="46" name="任意多边形: 形状 45"/>
            <p:cNvSpPr/>
            <p:nvPr>
              <p:custDataLst>
                <p:tags r:id="rId5"/>
              </p:custDataLst>
            </p:nvPr>
          </p:nvSpPr>
          <p:spPr>
            <a:xfrm>
              <a:off x="8420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 fontAlgn="base"/>
              <a:endParaRPr lang="zh-CN" altLang="en-US" sz="1350" strike="noStrike" noProof="1">
                <a:ea typeface="微软雅黑" panose="020B0503020204020204" charset="-122"/>
              </a:endParaRPr>
            </a:p>
          </p:txBody>
        </p:sp>
        <p:sp>
          <p:nvSpPr>
            <p:cNvPr id="47" name="任意多边形: 形状 46"/>
            <p:cNvSpPr/>
            <p:nvPr>
              <p:custDataLst>
                <p:tags r:id="rId6"/>
              </p:custDataLst>
            </p:nvPr>
          </p:nvSpPr>
          <p:spPr>
            <a:xfrm>
              <a:off x="15024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 fontAlgn="base"/>
              <a:endParaRPr lang="zh-CN" altLang="en-US" sz="1350" strike="noStrike" noProof="1">
                <a:ea typeface="微软雅黑" panose="020B0503020204020204" charset="-122"/>
              </a:endParaRPr>
            </a:p>
          </p:txBody>
        </p:sp>
      </p:grpSp>
      <p:sp>
        <p:nvSpPr>
          <p:cNvPr id="126985" name="文本框 1"/>
          <p:cNvSpPr txBox="1"/>
          <p:nvPr/>
        </p:nvSpPr>
        <p:spPr>
          <a:xfrm>
            <a:off x="1416050" y="2251075"/>
            <a:ext cx="5253038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郎竑建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(90)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>
                <a:sym typeface="+mn-ea"/>
              </a:rPr>
              <a:t>报告修订、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制作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微软雅黑" panose="020B0503020204020204" charset="-122"/>
              </a:rPr>
              <a:t>俞伟鸿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(80)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：报告修订、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PPT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修改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徐志浩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(75)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>
                <a:sym typeface="+mn-ea"/>
              </a:rPr>
              <a:t>报告修订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微软雅黑" panose="020B0503020204020204" charset="-122"/>
              </a:rPr>
              <a:t>王天宇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(70)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>
                <a:sym typeface="+mn-ea"/>
              </a:rPr>
              <a:t>报告修订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7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31073" name="组合 25"/>
          <p:cNvGrpSpPr/>
          <p:nvPr/>
        </p:nvGrpSpPr>
        <p:grpSpPr>
          <a:xfrm>
            <a:off x="684213" y="825500"/>
            <a:ext cx="7775575" cy="5207000"/>
            <a:chOff x="975533" y="0"/>
            <a:chExt cx="10240934" cy="6858000"/>
          </a:xfrm>
        </p:grpSpPr>
        <p:sp>
          <p:nvSpPr>
            <p:cNvPr id="23" name="任意多边形: 形状 22"/>
            <p:cNvSpPr/>
            <p:nvPr>
              <p:custDataLst>
                <p:tags r:id="rId1"/>
              </p:custDataLst>
            </p:nvPr>
          </p:nvSpPr>
          <p:spPr>
            <a:xfrm>
              <a:off x="2412733" y="0"/>
              <a:ext cx="7366534" cy="6858000"/>
            </a:xfrm>
            <a:custGeom>
              <a:avLst/>
              <a:gdLst>
                <a:gd name="connsiteX0" fmla="*/ 2338804 w 7366534"/>
                <a:gd name="connsiteY0" fmla="*/ 0 h 6858000"/>
                <a:gd name="connsiteX1" fmla="*/ 5027730 w 7366534"/>
                <a:gd name="connsiteY1" fmla="*/ 0 h 6858000"/>
                <a:gd name="connsiteX2" fmla="*/ 5116961 w 7366534"/>
                <a:gd name="connsiteY2" fmla="*/ 35183 h 6858000"/>
                <a:gd name="connsiteX3" fmla="*/ 7366534 w 7366534"/>
                <a:gd name="connsiteY3" fmla="*/ 3429000 h 6858000"/>
                <a:gd name="connsiteX4" fmla="*/ 5116961 w 7366534"/>
                <a:gd name="connsiteY4" fmla="*/ 6822818 h 6858000"/>
                <a:gd name="connsiteX5" fmla="*/ 5027731 w 7366534"/>
                <a:gd name="connsiteY5" fmla="*/ 6858000 h 6858000"/>
                <a:gd name="connsiteX6" fmla="*/ 2338804 w 7366534"/>
                <a:gd name="connsiteY6" fmla="*/ 6858000 h 6858000"/>
                <a:gd name="connsiteX7" fmla="*/ 2249574 w 7366534"/>
                <a:gd name="connsiteY7" fmla="*/ 6822818 h 6858000"/>
                <a:gd name="connsiteX8" fmla="*/ 0 w 7366534"/>
                <a:gd name="connsiteY8" fmla="*/ 3429000 h 6858000"/>
                <a:gd name="connsiteX9" fmla="*/ 2249574 w 7366534"/>
                <a:gd name="connsiteY9" fmla="*/ 3518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366534" h="6858000">
                  <a:moveTo>
                    <a:pt x="2338804" y="0"/>
                  </a:moveTo>
                  <a:lnTo>
                    <a:pt x="5027730" y="0"/>
                  </a:lnTo>
                  <a:lnTo>
                    <a:pt x="5116961" y="35183"/>
                  </a:lnTo>
                  <a:cubicBezTo>
                    <a:pt x="6438941" y="594333"/>
                    <a:pt x="7366534" y="1903341"/>
                    <a:pt x="7366534" y="3429000"/>
                  </a:cubicBezTo>
                  <a:cubicBezTo>
                    <a:pt x="7366534" y="4954659"/>
                    <a:pt x="6438941" y="6263667"/>
                    <a:pt x="5116961" y="6822818"/>
                  </a:cubicBezTo>
                  <a:lnTo>
                    <a:pt x="5027731" y="6858000"/>
                  </a:lnTo>
                  <a:lnTo>
                    <a:pt x="2338804" y="6858000"/>
                  </a:lnTo>
                  <a:lnTo>
                    <a:pt x="2249574" y="6822818"/>
                  </a:lnTo>
                  <a:cubicBezTo>
                    <a:pt x="927594" y="6263667"/>
                    <a:pt x="0" y="4954659"/>
                    <a:pt x="0" y="3429000"/>
                  </a:cubicBezTo>
                  <a:cubicBezTo>
                    <a:pt x="0" y="1903341"/>
                    <a:pt x="927594" y="594333"/>
                    <a:pt x="2249574" y="35183"/>
                  </a:cubicBezTo>
                  <a:close/>
                </a:path>
              </a:pathLst>
            </a:custGeom>
            <a:noFill/>
            <a:ln>
              <a:solidFill>
                <a:sysClr val="window" lastClr="FFFFFF">
                  <a:lumMod val="95000"/>
                </a:sysClr>
              </a:solidFill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p>
              <a:pPr algn="just" fontAlgn="base">
                <a:lnSpc>
                  <a:spcPct val="120000"/>
                </a:lnSpc>
              </a:pPr>
              <a:endParaRPr lang="zh-CN" altLang="en-US" sz="1350" strike="noStrike" noProof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任意多边形: 形状 24"/>
            <p:cNvSpPr/>
            <p:nvPr>
              <p:custDataLst>
                <p:tags r:id="rId2"/>
              </p:custDataLst>
            </p:nvPr>
          </p:nvSpPr>
          <p:spPr>
            <a:xfrm>
              <a:off x="975533" y="0"/>
              <a:ext cx="10240934" cy="6858000"/>
            </a:xfrm>
            <a:custGeom>
              <a:avLst/>
              <a:gdLst>
                <a:gd name="connsiteX0" fmla="*/ 1318176 w 10240934"/>
                <a:gd name="connsiteY0" fmla="*/ 0 h 6858000"/>
                <a:gd name="connsiteX1" fmla="*/ 8922758 w 10240934"/>
                <a:gd name="connsiteY1" fmla="*/ 0 h 6858000"/>
                <a:gd name="connsiteX2" fmla="*/ 9071668 w 10240934"/>
                <a:gd name="connsiteY2" fmla="*/ 171908 h 6858000"/>
                <a:gd name="connsiteX3" fmla="*/ 10240934 w 10240934"/>
                <a:gd name="connsiteY3" fmla="*/ 3429000 h 6858000"/>
                <a:gd name="connsiteX4" fmla="*/ 9071668 w 10240934"/>
                <a:gd name="connsiteY4" fmla="*/ 6686093 h 6858000"/>
                <a:gd name="connsiteX5" fmla="*/ 8922758 w 10240934"/>
                <a:gd name="connsiteY5" fmla="*/ 6858000 h 6858000"/>
                <a:gd name="connsiteX6" fmla="*/ 1318176 w 10240934"/>
                <a:gd name="connsiteY6" fmla="*/ 6858000 h 6858000"/>
                <a:gd name="connsiteX7" fmla="*/ 1169266 w 10240934"/>
                <a:gd name="connsiteY7" fmla="*/ 6686093 h 6858000"/>
                <a:gd name="connsiteX8" fmla="*/ 0 w 10240934"/>
                <a:gd name="connsiteY8" fmla="*/ 3429000 h 6858000"/>
                <a:gd name="connsiteX9" fmla="*/ 1169266 w 10240934"/>
                <a:gd name="connsiteY9" fmla="*/ 17190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240934" h="6858000">
                  <a:moveTo>
                    <a:pt x="1318176" y="0"/>
                  </a:moveTo>
                  <a:lnTo>
                    <a:pt x="8922758" y="0"/>
                  </a:lnTo>
                  <a:lnTo>
                    <a:pt x="9071668" y="171908"/>
                  </a:lnTo>
                  <a:cubicBezTo>
                    <a:pt x="9802133" y="1057026"/>
                    <a:pt x="10240934" y="2191769"/>
                    <a:pt x="10240934" y="3429000"/>
                  </a:cubicBezTo>
                  <a:cubicBezTo>
                    <a:pt x="10240934" y="4666231"/>
                    <a:pt x="9802133" y="5800974"/>
                    <a:pt x="9071668" y="6686093"/>
                  </a:cubicBezTo>
                  <a:lnTo>
                    <a:pt x="8922758" y="6858000"/>
                  </a:lnTo>
                  <a:lnTo>
                    <a:pt x="1318176" y="6858000"/>
                  </a:lnTo>
                  <a:lnTo>
                    <a:pt x="1169266" y="6686093"/>
                  </a:lnTo>
                  <a:cubicBezTo>
                    <a:pt x="438801" y="5800974"/>
                    <a:pt x="0" y="4666231"/>
                    <a:pt x="0" y="3429000"/>
                  </a:cubicBezTo>
                  <a:cubicBezTo>
                    <a:pt x="0" y="2191769"/>
                    <a:pt x="438801" y="1057026"/>
                    <a:pt x="1169266" y="171908"/>
                  </a:cubicBezTo>
                  <a:close/>
                </a:path>
              </a:pathLst>
            </a:custGeom>
            <a:noFill/>
            <a:ln>
              <a:solidFill>
                <a:sysClr val="window" lastClr="FFFFFF">
                  <a:lumMod val="95000"/>
                </a:sysClr>
              </a:solidFill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p>
              <a:pPr algn="just" fontAlgn="base">
                <a:lnSpc>
                  <a:spcPct val="120000"/>
                </a:lnSpc>
              </a:pPr>
              <a:endParaRPr lang="zh-CN" altLang="en-US" sz="1350" strike="noStrike" noProof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2809875" y="1666875"/>
            <a:ext cx="3524250" cy="3524250"/>
          </a:xfrm>
          <a:prstGeom prst="ellipse">
            <a:avLst/>
          </a:prstGeom>
          <a:noFill/>
          <a:ln>
            <a:solidFill>
              <a:sysClr val="window" lastClr="FFFFFF">
                <a:lumMod val="95000"/>
              </a:sysClr>
            </a:solidFill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>
            <a:normAutofit/>
          </a:bodyPr>
          <a:p>
            <a:pPr algn="ctr" fontAlgn="base">
              <a:lnSpc>
                <a:spcPct val="120000"/>
              </a:lnSpc>
            </a:pPr>
            <a:endParaRPr lang="zh-CN" altLang="en-US" sz="1350" strike="noStrike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9838" y="2997200"/>
            <a:ext cx="2476500" cy="8302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800"/>
              </a:spcAft>
            </a:pPr>
            <a:r>
              <a:rPr lang="zh-CN" altLang="en-US" sz="4800" spc="30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谢谢</a:t>
            </a:r>
            <a:endParaRPr lang="zh-CN" altLang="en-US" sz="4800" spc="300" noProof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5.xml><?xml version="1.0" encoding="utf-8"?>
<p:tagLst xmlns:p="http://schemas.openxmlformats.org/presentationml/2006/main">
  <p:tag name="KSO_WM_UNIT_ISCONTENTSTITLE" val="0"/>
  <p:tag name="KSO_WM_UNIT_PRESET_TEXT" val="单击此处&#13;添加大标题内容"/>
  <p:tag name="KSO_WM_UNIT_TEXT_PART_ID" val="5-X"/>
  <p:tag name="KSO_WM_UNIT_TEXT_PART_SIZE" val="92.4*403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194877_1*a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NOCLEAR" val="0"/>
  <p:tag name="KSO_WM_DIAGRAM_GROUP_CODE" val="ζ1-1"/>
  <p:tag name="KSO_WM_UNIT_TEXT_PART_ID_V2" val="a-2-1"/>
  <p:tag name="KSO_WM_UNIT_TEXT_FILL_FORE_SCHEMECOLOR_INDEX" val="13"/>
  <p:tag name="KSO_WM_UNIT_TEXT_FILL_TYPE" val="1"/>
  <p:tag name="KSO_WM_UNIT_USESOURCEFORMAT_APPLY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9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3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7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1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5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26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0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4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35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36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0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4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45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46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47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1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5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56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60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64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68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72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73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74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78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82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83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84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88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92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93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94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1551_1*i*3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1551_1*i*4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ISCONTENTSTITLE" val="0"/>
  <p:tag name="KSO_WM_UNIT_PRESET_TEXT" val="点击&#13;输入大标题"/>
  <p:tag name="KSO_WM_UNIT_NOCLEAR" val="0"/>
  <p:tag name="KSO_WM_UNIT_SHOW_EDIT_AREA_INDICATION" val="1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1551_1*a*1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1551_1*i*5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201551_1*i*9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1551_1*i*2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ID" val="diagram20201551_1"/>
  <p:tag name="KSO_WM_TEMPLATE_SUBCATEGORY" val="0"/>
  <p:tag name="KSO_WM_SLIDE_ITEM_CNT" val="0"/>
  <p:tag name="KSO_WM_SLIDE_INDEX" val="1"/>
  <p:tag name="KSO_WM_UNIT_SHOW_EDIT_AREA_INDICATION" val="1"/>
  <p:tag name="KSO_WM_TAG_VERSION" val="1.0"/>
  <p:tag name="KSO_WM_BEAUTIFY_FLAG" val="#wm#"/>
  <p:tag name="KSO_WM_TEMPLATE_CATEGORY" val="diagram"/>
  <p:tag name="KSO_WM_TEMPLATE_INDEX" val="20201551"/>
  <p:tag name="KSO_WM_SLIDE_LAYOUT" val="a_d_h"/>
  <p:tag name="KSO_WM_SLIDE_LAYOUT_CNT" val="1_1_1"/>
  <p:tag name="KSO_WM_SLIDE_TYPE" val="text"/>
  <p:tag name="KSO_WM_SLIDE_SUBTYPE" val="picTxt"/>
  <p:tag name="KSO_WM_SLIDE_SIZE" val="143.7*26.55"/>
  <p:tag name="KSO_WM_SLIDE_POSITION" val="260.4*271.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13_1*i*3"/>
  <p:tag name="KSO_WM_TEMPLATE_CATEGORY" val="diagram"/>
  <p:tag name="KSO_WM_TEMPLATE_INDEX" val="2020161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13_1*i*4"/>
  <p:tag name="KSO_WM_TEMPLATE_CATEGORY" val="diagram"/>
  <p:tag name="KSO_WM_TEMPLATE_INDEX" val="20201613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13_1*i*5"/>
  <p:tag name="KSO_WM_TEMPLATE_CATEGORY" val="diagram"/>
  <p:tag name="KSO_WM_TEMPLATE_INDEX" val="20201613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105.xml><?xml version="1.0" encoding="utf-8"?>
<p:tagLst xmlns:p="http://schemas.openxmlformats.org/presentationml/2006/main">
  <p:tag name="KSO_WM_SLIDE_ID" val="diagram20201613_1"/>
  <p:tag name="KSO_WM_TEMPLATE_SUBCATEGORY" val="0"/>
  <p:tag name="KSO_WM_SLIDE_TYPE" val="text"/>
  <p:tag name="KSO_WM_SLIDE_SUBTYPE" val="diag"/>
  <p:tag name="KSO_WM_SLIDE_ITEM_CNT" val="0"/>
  <p:tag name="KSO_WM_SLIDE_INDEX" val="1"/>
  <p:tag name="KSO_WM_SLIDE_SIZE" val="854*546"/>
  <p:tag name="KSO_WM_SLIDE_POSITION" val="71*-3"/>
  <p:tag name="KSO_WM_TAG_VERSION" val="1.0"/>
  <p:tag name="KSO_WM_BEAUTIFY_FLAG" val="#wm#"/>
  <p:tag name="KSO_WM_TEMPLATE_CATEGORY" val="diagram"/>
  <p:tag name="KSO_WM_TEMPLATE_INDEX" val="20201613"/>
  <p:tag name="KSO_WM_SLIDE_LAYOUT" val="a_d_f"/>
  <p:tag name="KSO_WM_SLIDE_LAYOUT_CNT" val="1_1_2"/>
</p:tagLst>
</file>

<file path=ppt/tags/tag106.xml><?xml version="1.0" encoding="utf-8"?>
<p:tagLst xmlns:p="http://schemas.openxmlformats.org/presentationml/2006/main">
  <p:tag name="COMMONDATA" val="eyJoZGlkIjoiNWJhMDIwNjlkNzQ3MzljNzcwMGNhYTgyZjNkMzJhZjE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1506</Words>
  <Application>WPS 演示</Application>
  <PresentationFormat/>
  <Paragraphs>107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Arial Unicode MS</vt:lpstr>
      <vt:lpstr>Calibri</vt:lpstr>
      <vt:lpstr>华文新魏</vt:lpstr>
      <vt:lpstr>华文隶书</vt:lpstr>
      <vt:lpstr>仿宋</vt:lpstr>
      <vt:lpstr>华文彩云</vt:lpstr>
      <vt:lpstr>黑体</vt:lpstr>
      <vt:lpstr>华文中宋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jjddn</dc:creator>
  <cp:lastModifiedBy>XI AOGUI</cp:lastModifiedBy>
  <cp:revision>3</cp:revision>
  <dcterms:created xsi:type="dcterms:W3CDTF">2022-10-23T12:56:14Z</dcterms:created>
  <dcterms:modified xsi:type="dcterms:W3CDTF">2022-10-23T13:07:25Z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CAFC78D0152746E6B566C51C29D9ED56</vt:lpwstr>
  </property>
</Properties>
</file>