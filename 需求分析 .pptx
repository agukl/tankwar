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sldIdLst>
    <p:sldId id="257" r:id="rId5"/>
    <p:sldId id="263" r:id="rId6"/>
    <p:sldId id="267" r:id="rId7"/>
    <p:sldId id="266" r:id="rId8"/>
    <p:sldId id="268" r:id="rId9"/>
    <p:sldId id="269" r:id="rId10"/>
    <p:sldId id="270" r:id="rId11"/>
    <p:sldId id="264" r:id="rId12"/>
    <p:sldId id="265" r:id="rId13"/>
  </p:sldIdLst>
  <p:sldSz cx="9144000" cy="6858000" type="screen4x3"/>
  <p:notesSz cx="6858000" cy="9144000"/>
  <p:custDataLst>
    <p:tags r:id="rId1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llo" initials="n" lastIdx="2" clrIdx="0"/>
  <p:cmAuthor id="2" name="作者" initials="作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20"/>
        <p:guide pos="289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77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7.xml"/><Relationship Id="rId7" Type="http://schemas.openxmlformats.org/officeDocument/2006/relationships/image" Target="../media/image1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2" Type="http://schemas.openxmlformats.org/officeDocument/2006/relationships/slideLayout" Target="../slideLayouts/slideLayout29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0" Type="http://schemas.openxmlformats.org/officeDocument/2006/relationships/slideLayout" Target="../slideLayouts/slideLayout29.xml"/><Relationship Id="rId1" Type="http://schemas.openxmlformats.org/officeDocument/2006/relationships/tags" Target="../tags/tag2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2" Type="http://schemas.openxmlformats.org/officeDocument/2006/relationships/slideLayout" Target="../slideLayouts/slideLayout29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0" Type="http://schemas.openxmlformats.org/officeDocument/2006/relationships/slideLayout" Target="../slideLayouts/slideLayout29.xml"/><Relationship Id="rId1" Type="http://schemas.openxmlformats.org/officeDocument/2006/relationships/tags" Target="../tags/tag4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0" Type="http://schemas.openxmlformats.org/officeDocument/2006/relationships/slideLayout" Target="../slideLayouts/slideLayout29.xml"/><Relationship Id="rId1" Type="http://schemas.openxmlformats.org/officeDocument/2006/relationships/tags" Target="../tags/tag5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587" y="857250"/>
            <a:ext cx="9145588" cy="3452813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 fontAlgn="base"/>
            <a:endParaRPr kumimoji="1" lang="zh-CN" altLang="en-US" sz="1200" b="1" strike="noStrike" noProof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788" y="857250"/>
            <a:ext cx="5384800" cy="3452813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 fontAlgn="base"/>
            <a:endParaRPr kumimoji="1" lang="zh-CN" altLang="en-US" sz="1200" b="1" strike="noStrike" noProof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063"/>
            <a:ext cx="9145588" cy="1690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 fontAlgn="base"/>
            <a:endParaRPr kumimoji="1" lang="zh-CN" altLang="en-US" sz="1200" b="1" strike="noStrike" noProof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396875" y="5287963"/>
            <a:ext cx="8140700" cy="712788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组长：</a:t>
            </a:r>
            <a:r>
              <a:rPr lang="en-US" altLang="zh-CN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郎竑健 </a:t>
            </a:r>
            <a:endParaRPr kumimoji="0" lang="en-US" altLang="zh-CN" sz="1200" b="0" i="0" u="none" strike="noStrike" kern="1200" cap="none" spc="150" normalizeH="0" baseline="0" noProof="1">
              <a:solidFill>
                <a:srgbClr val="404040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组员：</a:t>
            </a:r>
            <a:r>
              <a:rPr lang="en-US" altLang="zh-CN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徐志浩 俞伟鸿 王天宇</a:t>
            </a:r>
            <a:endParaRPr lang="zh-CN" altLang="en-US" sz="1200" strike="noStrike" noProof="1" dirty="0">
              <a:solidFill>
                <a:srgbClr val="000000">
                  <a:lumMod val="50000"/>
                  <a:lumOff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3132138" y="1525588"/>
            <a:ext cx="4192588" cy="1060450"/>
          </a:xfrm>
          <a:prstGeom prst="rect">
            <a:avLst/>
          </a:prstGeom>
          <a:noFill/>
        </p:spPr>
        <p:txBody>
          <a:bodyPr wrap="square" lIns="76200" tIns="28575" rIns="47625" bIns="28575" rtlCol="0" anchor="b" anchorCtr="0">
            <a:noAutofit/>
          </a:bodyPr>
          <a:lstStyle/>
          <a:p>
            <a:pPr fontAlgn="auto"/>
            <a:r>
              <a:rPr lang="zh-CN" altLang="en-US" sz="4400" b="1" spc="300" noProof="1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需求分析</a:t>
            </a:r>
            <a:endParaRPr lang="zh-CN" altLang="en-US" sz="4400" b="1" spc="300" noProof="1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r" fontAlgn="auto"/>
            <a:endParaRPr lang="en-US" altLang="zh-CN" sz="2700" b="1" spc="300" noProof="1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/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 fontAlgn="base"/>
              <a:endParaRPr lang="zh-CN" altLang="en-US" sz="1350" strike="noStrike" noProof="1"/>
            </a:p>
          </p:txBody>
        </p:sp>
        <p:sp>
          <p:nvSpPr>
            <p:cNvPr id="20" name="任意多边形: 形状 19"/>
            <p:cNvSpPr>
              <a:spLocks noChangeAspect="1"/>
            </p:cNvSpPr>
            <p:nvPr/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 fontAlgn="base"/>
              <a:endParaRPr lang="zh-CN" altLang="en-US" sz="1350" strike="noStrike" noProof="1"/>
            </a:p>
          </p:txBody>
        </p:sp>
      </p:grpSp>
      <p:pic>
        <p:nvPicPr>
          <p:cNvPr id="3079" name="图片 -21474826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475" y="2205038"/>
            <a:ext cx="2095500" cy="928687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8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用户分析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467360" y="1485265"/>
            <a:ext cx="6669405" cy="182054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软件以供用户娱乐为目标，适应性较广泛。对用户的学历，素质要求不高，只需要用户对本项目软件感兴趣并具备一定的计算机操作知识即可。同时本项目还需要管理员，可以对软件后续维护和排行榜等后台数据进行简单维护，以及解决常见的配置问题。本软件在硬件支持下可以保证在每一天24小时连续运行，用户同时在线人数预计不超过100人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59518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905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与用户沟通获取需求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406400" y="1024255"/>
            <a:ext cx="6669405" cy="182054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访谈</a:t>
            </a:r>
            <a:r>
              <a:rPr 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游戏玩家</a:t>
            </a: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进行问卷调查。</a:t>
            </a:r>
            <a:endParaRPr lang="zh-CN"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107315" y="3382010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假定和约束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0"/>
            </p:custDataLst>
          </p:nvPr>
        </p:nvSpPr>
        <p:spPr>
          <a:xfrm>
            <a:off x="587375" y="4310380"/>
            <a:ext cx="6669405" cy="182054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a.估计完整开发该工程，总工作量约需4~5个月，该工程需要在该时间段内完成开发、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测试完毕并且在线运行；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b.软件必须能运行在满足最低运行需求的联网计算机上；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c.开发人员共4人。</a:t>
            </a:r>
            <a:endParaRPr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59518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对性能的规定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406400" y="1024255"/>
            <a:ext cx="6669405" cy="182054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精度</a:t>
            </a:r>
            <a:r>
              <a:rPr 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管理员和用户登录时进行验证。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时间特性要求</a:t>
            </a:r>
            <a:r>
              <a:rPr 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用户登录系统。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灵活性</a:t>
            </a:r>
            <a:r>
              <a:rPr 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客户端可以在任何满足运行最低配置要求的终端上使用，管理员可以运行维护工具对软件及其后台数据进行维护工作。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59518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数据管理能力要求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336550" y="1024255"/>
            <a:ext cx="6669405" cy="182054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用户：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1.可以注册用户；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2.可以对自己的登陆密码进行修改；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3.可以注销用户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4.查看游玩数据和排行榜内容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管理员：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1.对用户信息表可以进行添加、修改、删除；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2.对排行榜信息进行添加、修改、删除；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3.可以对自己的登陆密码进行修改；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5553075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故障处理要求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0"/>
            </p:custDataLst>
          </p:nvPr>
        </p:nvSpPr>
        <p:spPr>
          <a:xfrm>
            <a:off x="5107305" y="1024255"/>
            <a:ext cx="4037330" cy="182054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正常情况下，管理员维持稳定运行，在系统正常运行或者出现故障时，管理员可以登录进行维护修改，保障系统运行，当系统出现问题，不会影响用户信息安全。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59518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其他要求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336550" y="1024255"/>
            <a:ext cx="6669405" cy="182054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可维护性：在使用过程中，系统管理员可以对系统进行简单的系统维护；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可补充性：在使用过程中，用户的需求变更，可以在系统显示添加功能以添加数据库；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易读性：程序可被普遍大众理解使用；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可靠性：系统必须保证使用者的信息的安全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59518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需求验证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336550" y="857250"/>
            <a:ext cx="6669405" cy="182054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一致性</a:t>
            </a:r>
            <a:r>
              <a:rPr 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经过分析检验，上述所有需求都呈现一致性，任何一条需求都未和其他需求相互矛盾。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完整性和有效性</a:t>
            </a:r>
            <a:r>
              <a:rPr 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每个需求都表现出完整性，上述所写包括了用户需要的每一个性能或功能；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这些需求大多通过用户方验证或者提出，可以证明这些需求分析内容都是正确有数的，确实能够解决用户的问题。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现实性</a:t>
            </a:r>
            <a:r>
              <a:rPr 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上述需求基本上都能通过现有的硬件技术和软件技术来满足实现。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6977" name="组合 43"/>
          <p:cNvGrpSpPr/>
          <p:nvPr/>
        </p:nvGrpSpPr>
        <p:grpSpPr>
          <a:xfrm>
            <a:off x="492125" y="461963"/>
            <a:ext cx="923925" cy="711200"/>
            <a:chOff x="842086" y="1969574"/>
            <a:chExt cx="1233302" cy="949325"/>
          </a:xfrm>
        </p:grpSpPr>
        <p:sp>
          <p:nvSpPr>
            <p:cNvPr id="42" name="任意多边形: 形状 41"/>
            <p:cNvSpPr/>
            <p:nvPr>
              <p:custDataLst>
                <p:tags r:id="rId1"/>
              </p:custDataLst>
            </p:nvPr>
          </p:nvSpPr>
          <p:spPr>
            <a:xfrm>
              <a:off x="8420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3" name="任意多边形: 形状 42"/>
            <p:cNvSpPr/>
            <p:nvPr>
              <p:custDataLst>
                <p:tags r:id="rId2"/>
              </p:custDataLst>
            </p:nvPr>
          </p:nvSpPr>
          <p:spPr>
            <a:xfrm>
              <a:off x="15024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</p:grpSp>
      <p:sp>
        <p:nvSpPr>
          <p:cNvPr id="126980" name="文本框 6"/>
          <p:cNvSpPr txBox="1"/>
          <p:nvPr>
            <p:custDataLst>
              <p:tags r:id="rId3"/>
            </p:custDataLst>
          </p:nvPr>
        </p:nvSpPr>
        <p:spPr>
          <a:xfrm>
            <a:off x="1416050" y="1419225"/>
            <a:ext cx="3960813" cy="58896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700" b="1" dirty="0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charset="-122"/>
              </a:rPr>
              <a:t>当前里程碑评价：</a:t>
            </a:r>
            <a:endParaRPr lang="zh-CN" altLang="en-US" sz="2700" b="1" dirty="0">
              <a:solidFill>
                <a:srgbClr val="40404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>
            <p:custDataLst>
              <p:tags r:id="rId4"/>
            </p:custDataLst>
          </p:nvPr>
        </p:nvCxnSpPr>
        <p:spPr>
          <a:xfrm>
            <a:off x="1135063" y="1308100"/>
            <a:ext cx="0" cy="811213"/>
          </a:xfrm>
          <a:prstGeom prst="line">
            <a:avLst/>
          </a:prstGeom>
          <a:ln>
            <a:solidFill>
              <a:sysClr val="windowText" lastClr="000000"/>
            </a:solidFill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grpSp>
        <p:nvGrpSpPr>
          <p:cNvPr id="126982" name="组合 44"/>
          <p:cNvGrpSpPr/>
          <p:nvPr/>
        </p:nvGrpSpPr>
        <p:grpSpPr>
          <a:xfrm rot="10800000">
            <a:off x="7562850" y="1173163"/>
            <a:ext cx="923925" cy="711200"/>
            <a:chOff x="842086" y="1969574"/>
            <a:chExt cx="1233302" cy="949325"/>
          </a:xfrm>
        </p:grpSpPr>
        <p:sp>
          <p:nvSpPr>
            <p:cNvPr id="46" name="任意多边形: 形状 45"/>
            <p:cNvSpPr/>
            <p:nvPr>
              <p:custDataLst>
                <p:tags r:id="rId5"/>
              </p:custDataLst>
            </p:nvPr>
          </p:nvSpPr>
          <p:spPr>
            <a:xfrm>
              <a:off x="8420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  <p:sp>
          <p:nvSpPr>
            <p:cNvPr id="47" name="任意多边形: 形状 46"/>
            <p:cNvSpPr/>
            <p:nvPr>
              <p:custDataLst>
                <p:tags r:id="rId6"/>
              </p:custDataLst>
            </p:nvPr>
          </p:nvSpPr>
          <p:spPr>
            <a:xfrm>
              <a:off x="15024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</p:grpSp>
      <p:sp>
        <p:nvSpPr>
          <p:cNvPr id="126985" name="文本框 1"/>
          <p:cNvSpPr txBox="1"/>
          <p:nvPr/>
        </p:nvSpPr>
        <p:spPr>
          <a:xfrm>
            <a:off x="1416050" y="2251075"/>
            <a:ext cx="5253038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郎竑建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(90)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微软雅黑" panose="020B0503020204020204" charset="-122"/>
              </a:rPr>
              <a:t>俞伟鸿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(89)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徐志浩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(88)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微软雅黑" panose="020B0503020204020204" charset="-122"/>
              </a:rPr>
              <a:t>王天宇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(60)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1073" name="组合 25"/>
          <p:cNvGrpSpPr/>
          <p:nvPr/>
        </p:nvGrpSpPr>
        <p:grpSpPr>
          <a:xfrm>
            <a:off x="684213" y="825500"/>
            <a:ext cx="7775575" cy="5207000"/>
            <a:chOff x="975533" y="0"/>
            <a:chExt cx="10240934" cy="6858000"/>
          </a:xfrm>
        </p:grpSpPr>
        <p:sp>
          <p:nvSpPr>
            <p:cNvPr id="23" name="任意多边形: 形状 22"/>
            <p:cNvSpPr/>
            <p:nvPr>
              <p:custDataLst>
                <p:tags r:id="rId1"/>
              </p:custDataLst>
            </p:nvPr>
          </p:nvSpPr>
          <p:spPr>
            <a:xfrm>
              <a:off x="2412733" y="0"/>
              <a:ext cx="7366534" cy="6858000"/>
            </a:xfrm>
            <a:custGeom>
              <a:avLst/>
              <a:gdLst>
                <a:gd name="connsiteX0" fmla="*/ 2338804 w 7366534"/>
                <a:gd name="connsiteY0" fmla="*/ 0 h 6858000"/>
                <a:gd name="connsiteX1" fmla="*/ 5027730 w 7366534"/>
                <a:gd name="connsiteY1" fmla="*/ 0 h 6858000"/>
                <a:gd name="connsiteX2" fmla="*/ 5116961 w 7366534"/>
                <a:gd name="connsiteY2" fmla="*/ 35183 h 6858000"/>
                <a:gd name="connsiteX3" fmla="*/ 7366534 w 7366534"/>
                <a:gd name="connsiteY3" fmla="*/ 3429000 h 6858000"/>
                <a:gd name="connsiteX4" fmla="*/ 5116961 w 7366534"/>
                <a:gd name="connsiteY4" fmla="*/ 6822818 h 6858000"/>
                <a:gd name="connsiteX5" fmla="*/ 5027731 w 7366534"/>
                <a:gd name="connsiteY5" fmla="*/ 6858000 h 6858000"/>
                <a:gd name="connsiteX6" fmla="*/ 2338804 w 7366534"/>
                <a:gd name="connsiteY6" fmla="*/ 6858000 h 6858000"/>
                <a:gd name="connsiteX7" fmla="*/ 2249574 w 7366534"/>
                <a:gd name="connsiteY7" fmla="*/ 6822818 h 6858000"/>
                <a:gd name="connsiteX8" fmla="*/ 0 w 7366534"/>
                <a:gd name="connsiteY8" fmla="*/ 3429000 h 6858000"/>
                <a:gd name="connsiteX9" fmla="*/ 2249574 w 7366534"/>
                <a:gd name="connsiteY9" fmla="*/ 3518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66534" h="6858000">
                  <a:moveTo>
                    <a:pt x="2338804" y="0"/>
                  </a:moveTo>
                  <a:lnTo>
                    <a:pt x="5027730" y="0"/>
                  </a:lnTo>
                  <a:lnTo>
                    <a:pt x="5116961" y="35183"/>
                  </a:lnTo>
                  <a:cubicBezTo>
                    <a:pt x="6438941" y="594333"/>
                    <a:pt x="7366534" y="1903341"/>
                    <a:pt x="7366534" y="3429000"/>
                  </a:cubicBezTo>
                  <a:cubicBezTo>
                    <a:pt x="7366534" y="4954659"/>
                    <a:pt x="6438941" y="6263667"/>
                    <a:pt x="5116961" y="6822818"/>
                  </a:cubicBezTo>
                  <a:lnTo>
                    <a:pt x="5027731" y="6858000"/>
                  </a:lnTo>
                  <a:lnTo>
                    <a:pt x="2338804" y="6858000"/>
                  </a:lnTo>
                  <a:lnTo>
                    <a:pt x="2249574" y="6822818"/>
                  </a:lnTo>
                  <a:cubicBezTo>
                    <a:pt x="927594" y="6263667"/>
                    <a:pt x="0" y="4954659"/>
                    <a:pt x="0" y="3429000"/>
                  </a:cubicBezTo>
                  <a:cubicBezTo>
                    <a:pt x="0" y="1903341"/>
                    <a:pt x="927594" y="594333"/>
                    <a:pt x="2249574" y="35183"/>
                  </a:cubicBezTo>
                  <a:close/>
                </a:path>
              </a:pathLst>
            </a:custGeom>
            <a:noFill/>
            <a:ln>
              <a:solidFill>
                <a:sysClr val="window" lastClr="FFFFFF">
                  <a:lumMod val="95000"/>
                </a:sysClr>
              </a:solidFill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p>
              <a:pPr algn="just" fontAlgn="base">
                <a:lnSpc>
                  <a:spcPct val="120000"/>
                </a:lnSpc>
              </a:pPr>
              <a:endParaRPr lang="zh-CN" altLang="en-US" sz="1350" strike="noStrike" noProof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任意多边形: 形状 24"/>
            <p:cNvSpPr/>
            <p:nvPr>
              <p:custDataLst>
                <p:tags r:id="rId2"/>
              </p:custDataLst>
            </p:nvPr>
          </p:nvSpPr>
          <p:spPr>
            <a:xfrm>
              <a:off x="975533" y="0"/>
              <a:ext cx="10240934" cy="6858000"/>
            </a:xfrm>
            <a:custGeom>
              <a:avLst/>
              <a:gdLst>
                <a:gd name="connsiteX0" fmla="*/ 1318176 w 10240934"/>
                <a:gd name="connsiteY0" fmla="*/ 0 h 6858000"/>
                <a:gd name="connsiteX1" fmla="*/ 8922758 w 10240934"/>
                <a:gd name="connsiteY1" fmla="*/ 0 h 6858000"/>
                <a:gd name="connsiteX2" fmla="*/ 9071668 w 10240934"/>
                <a:gd name="connsiteY2" fmla="*/ 171908 h 6858000"/>
                <a:gd name="connsiteX3" fmla="*/ 10240934 w 10240934"/>
                <a:gd name="connsiteY3" fmla="*/ 3429000 h 6858000"/>
                <a:gd name="connsiteX4" fmla="*/ 9071668 w 10240934"/>
                <a:gd name="connsiteY4" fmla="*/ 6686093 h 6858000"/>
                <a:gd name="connsiteX5" fmla="*/ 8922758 w 10240934"/>
                <a:gd name="connsiteY5" fmla="*/ 6858000 h 6858000"/>
                <a:gd name="connsiteX6" fmla="*/ 1318176 w 10240934"/>
                <a:gd name="connsiteY6" fmla="*/ 6858000 h 6858000"/>
                <a:gd name="connsiteX7" fmla="*/ 1169266 w 10240934"/>
                <a:gd name="connsiteY7" fmla="*/ 6686093 h 6858000"/>
                <a:gd name="connsiteX8" fmla="*/ 0 w 10240934"/>
                <a:gd name="connsiteY8" fmla="*/ 3429000 h 6858000"/>
                <a:gd name="connsiteX9" fmla="*/ 1169266 w 10240934"/>
                <a:gd name="connsiteY9" fmla="*/ 17190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40934" h="6858000">
                  <a:moveTo>
                    <a:pt x="1318176" y="0"/>
                  </a:moveTo>
                  <a:lnTo>
                    <a:pt x="8922758" y="0"/>
                  </a:lnTo>
                  <a:lnTo>
                    <a:pt x="9071668" y="171908"/>
                  </a:lnTo>
                  <a:cubicBezTo>
                    <a:pt x="9802133" y="1057026"/>
                    <a:pt x="10240934" y="2191769"/>
                    <a:pt x="10240934" y="3429000"/>
                  </a:cubicBezTo>
                  <a:cubicBezTo>
                    <a:pt x="10240934" y="4666231"/>
                    <a:pt x="9802133" y="5800974"/>
                    <a:pt x="9071668" y="6686093"/>
                  </a:cubicBezTo>
                  <a:lnTo>
                    <a:pt x="8922758" y="6858000"/>
                  </a:lnTo>
                  <a:lnTo>
                    <a:pt x="1318176" y="6858000"/>
                  </a:lnTo>
                  <a:lnTo>
                    <a:pt x="1169266" y="6686093"/>
                  </a:lnTo>
                  <a:cubicBezTo>
                    <a:pt x="438801" y="5800974"/>
                    <a:pt x="0" y="4666231"/>
                    <a:pt x="0" y="3429000"/>
                  </a:cubicBezTo>
                  <a:cubicBezTo>
                    <a:pt x="0" y="2191769"/>
                    <a:pt x="438801" y="1057026"/>
                    <a:pt x="1169266" y="171908"/>
                  </a:cubicBezTo>
                  <a:close/>
                </a:path>
              </a:pathLst>
            </a:custGeom>
            <a:noFill/>
            <a:ln>
              <a:solidFill>
                <a:sysClr val="window" lastClr="FFFFFF">
                  <a:lumMod val="95000"/>
                </a:sysClr>
              </a:solidFill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p>
              <a:pPr algn="just" fontAlgn="base">
                <a:lnSpc>
                  <a:spcPct val="120000"/>
                </a:lnSpc>
              </a:pPr>
              <a:endParaRPr lang="zh-CN" altLang="en-US" sz="1350" strike="noStrike" noProof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2809875" y="1666875"/>
            <a:ext cx="3524250" cy="3524250"/>
          </a:xfrm>
          <a:prstGeom prst="ellipse">
            <a:avLst/>
          </a:prstGeom>
          <a:noFill/>
          <a:ln>
            <a:solidFill>
              <a:sysClr val="window" lastClr="FFFFFF">
                <a:lumMod val="95000"/>
              </a:sysClr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>
            <a:normAutofit/>
          </a:bodyPr>
          <a:p>
            <a:pPr algn="ctr" fontAlgn="base">
              <a:lnSpc>
                <a:spcPct val="120000"/>
              </a:lnSpc>
            </a:pPr>
            <a:endParaRPr lang="zh-CN" altLang="en-US" sz="1350" strike="noStrike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9838" y="2997200"/>
            <a:ext cx="2476500" cy="8302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</a:pPr>
            <a:r>
              <a:rPr lang="zh-CN" altLang="en-US" sz="4800" spc="30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谢谢</a:t>
            </a:r>
            <a:endParaRPr lang="zh-CN" altLang="en-US" sz="4800" spc="300" noProof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5.xml><?xml version="1.0" encoding="utf-8"?>
<p:tagLst xmlns:p="http://schemas.openxmlformats.org/presentationml/2006/main">
  <p:tag name="KSO_WM_UNIT_ISCONTENTSTITLE" val="0"/>
  <p:tag name="KSO_WM_UNIT_PRESET_TEXT" val="单击此处&#13;添加大标题内容"/>
  <p:tag name="KSO_WM_UNIT_TEXT_PART_ID" val="5-X"/>
  <p:tag name="KSO_WM_UNIT_TEXT_PART_SIZE" val="92.4*403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194877_1*a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NOCLEAR" val="0"/>
  <p:tag name="KSO_WM_DIAGRAM_GROUP_CODE" val="ζ1-1"/>
  <p:tag name="KSO_WM_UNIT_TEXT_PART_ID_V2" val="a-2-1"/>
  <p:tag name="KSO_WM_UNIT_TEXT_FILL_FORE_SCHEMECOLOR_INDEX" val="13"/>
  <p:tag name="KSO_WM_UNIT_TEXT_FILL_TYPE" val="1"/>
  <p:tag name="KSO_WM_UNIT_USESOURCEFORMAT_APPLY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1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5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0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4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25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26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27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5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36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0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4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1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5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56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60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4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65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1551_1*i*3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1551_1*i*4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PRESET_TEXT" val="点击&#13;输入大标题"/>
  <p:tag name="KSO_WM_UNIT_NOCLEAR" val="0"/>
  <p:tag name="KSO_WM_UNIT_SHOW_EDIT_AREA_INDICATION" val="1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551_1*a*1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1551_1*i*5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1551_1*i*9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1551_1*i*2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SLIDE_ID" val="diagram20201551_1"/>
  <p:tag name="KSO_WM_TEMPLATE_SUBCATEGORY" val="0"/>
  <p:tag name="KSO_WM_SLIDE_ITEM_CNT" val="0"/>
  <p:tag name="KSO_WM_SLIDE_INDEX" val="1"/>
  <p:tag name="KSO_WM_UNIT_SHOW_EDIT_AREA_INDICATION" val="1"/>
  <p:tag name="KSO_WM_TAG_VERSION" val="1.0"/>
  <p:tag name="KSO_WM_BEAUTIFY_FLAG" val="#wm#"/>
  <p:tag name="KSO_WM_TEMPLATE_CATEGORY" val="diagram"/>
  <p:tag name="KSO_WM_TEMPLATE_INDEX" val="20201551"/>
  <p:tag name="KSO_WM_SLIDE_LAYOUT" val="a_d_h"/>
  <p:tag name="KSO_WM_SLIDE_LAYOUT_CNT" val="1_1_1"/>
  <p:tag name="KSO_WM_SLIDE_TYPE" val="text"/>
  <p:tag name="KSO_WM_SLIDE_SUBTYPE" val="picTxt"/>
  <p:tag name="KSO_WM_SLIDE_SIZE" val="143.7*26.55"/>
  <p:tag name="KSO_WM_SLIDE_POSITION" val="260.4*271.2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3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4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5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76.xml><?xml version="1.0" encoding="utf-8"?>
<p:tagLst xmlns:p="http://schemas.openxmlformats.org/presentationml/2006/main">
  <p:tag name="KSO_WM_SLIDE_ID" val="diagram20201613_1"/>
  <p:tag name="KSO_WM_TEMPLATE_SUBCATEGORY" val="0"/>
  <p:tag name="KSO_WM_SLIDE_TYPE" val="text"/>
  <p:tag name="KSO_WM_SLIDE_SUBTYPE" val="diag"/>
  <p:tag name="KSO_WM_SLIDE_ITEM_CNT" val="0"/>
  <p:tag name="KSO_WM_SLIDE_INDEX" val="1"/>
  <p:tag name="KSO_WM_SLIDE_SIZE" val="854*546"/>
  <p:tag name="KSO_WM_SLIDE_POSITION" val="71*-3"/>
  <p:tag name="KSO_WM_TAG_VERSION" val="1.0"/>
  <p:tag name="KSO_WM_BEAUTIFY_FLAG" val="#wm#"/>
  <p:tag name="KSO_WM_TEMPLATE_CATEGORY" val="diagram"/>
  <p:tag name="KSO_WM_TEMPLATE_INDEX" val="20201613"/>
  <p:tag name="KSO_WM_SLIDE_LAYOUT" val="a_d_f"/>
  <p:tag name="KSO_WM_SLIDE_LAYOUT_CNT" val="1_1_2"/>
</p:tagLst>
</file>

<file path=ppt/tags/tag77.xml><?xml version="1.0" encoding="utf-8"?>
<p:tagLst xmlns:p="http://schemas.openxmlformats.org/presentationml/2006/main">
  <p:tag name="COMMONDATA" val="eyJoZGlkIjoiNWJhMDIwNjlkNzQ3MzljNzcwMGNhYTgyZjNkMzJhZjE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</Words>
  <Application>WPS 演示</Application>
  <PresentationFormat/>
  <Paragraphs>74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Arial Unicode MS</vt:lpstr>
      <vt:lpstr>Calibri</vt:lpstr>
      <vt:lpstr>黑体</vt:lpstr>
      <vt:lpstr>默认设计模板</vt:lpstr>
      <vt:lpstr>1_默认设计模板</vt:lpstr>
      <vt:lpstr>2_默认设计模板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jjddn</dc:creator>
  <cp:lastModifiedBy>XI AOGUI</cp:lastModifiedBy>
  <cp:revision>3</cp:revision>
  <dcterms:created xsi:type="dcterms:W3CDTF">2022-10-30T13:20:41Z</dcterms:created>
  <dcterms:modified xsi:type="dcterms:W3CDTF">2022-10-30T13:40:32Z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2052-11.1.0.9192</vt:lpwstr>
  </property>
  <property fmtid="{D5CDD505-2E9C-101B-9397-08002B2CF9AE}" pid="3" name="ICV">
    <vt:lpwstr>4DC3AED9A2454AD09C81CB048738E86D</vt:lpwstr>
  </property>
</Properties>
</file>