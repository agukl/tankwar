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sldIdLst>
    <p:sldId id="257" r:id="rId5"/>
    <p:sldId id="263" r:id="rId6"/>
    <p:sldId id="282" r:id="rId7"/>
    <p:sldId id="266" r:id="rId8"/>
    <p:sldId id="268" r:id="rId9"/>
    <p:sldId id="275" r:id="rId10"/>
    <p:sldId id="293" r:id="rId11"/>
    <p:sldId id="264" r:id="rId12"/>
    <p:sldId id="265" r:id="rId13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lo" initials="n" lastIdx="2" clrIdx="0"/>
  <p:cmAuthor id="2" name="作者" initials="作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30"/>
        <p:guide pos="287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69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image" Target="../media/image2.png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0" Type="http://schemas.openxmlformats.org/officeDocument/2006/relationships/slideLayout" Target="../slideLayouts/slideLayout29.xml"/><Relationship Id="rId1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image" Target="../media/image3.png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0" Type="http://schemas.openxmlformats.org/officeDocument/2006/relationships/slideLayout" Target="../slideLayouts/slideLayout29.xml"/><Relationship Id="rId1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57.xml"/><Relationship Id="rId10" Type="http://schemas.openxmlformats.org/officeDocument/2006/relationships/image" Target="../media/image5.png"/><Relationship Id="rId1" Type="http://schemas.openxmlformats.org/officeDocument/2006/relationships/tags" Target="../tags/tag4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587" y="857250"/>
            <a:ext cx="9145588" cy="3452813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4499610" y="857250"/>
            <a:ext cx="4628515" cy="3453130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063"/>
            <a:ext cx="9145588" cy="1690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396875" y="5287963"/>
            <a:ext cx="8140700" cy="712788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组长：</a:t>
            </a:r>
            <a:r>
              <a:rPr lang="en-US" altLang="zh-CN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郎竑健 </a:t>
            </a:r>
            <a:endParaRPr kumimoji="0" lang="en-US" altLang="zh-CN" sz="1200" b="0" i="0" u="none" strike="noStrike" kern="1200" cap="none" spc="150" normalizeH="0" baseline="0" noProof="1">
              <a:solidFill>
                <a:srgbClr val="404040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组员：</a:t>
            </a:r>
            <a:r>
              <a:rPr lang="en-US" altLang="zh-CN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徐志浩 俞伟鸿 王天宇</a:t>
            </a:r>
            <a:endParaRPr lang="zh-CN" altLang="en-US" sz="1200" strike="noStrike" noProof="1" dirty="0">
              <a:solidFill>
                <a:srgbClr val="000000">
                  <a:lumMod val="50000"/>
                  <a:lumOff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3132138" y="1525588"/>
            <a:ext cx="4192588" cy="1060450"/>
          </a:xfrm>
          <a:prstGeom prst="rect">
            <a:avLst/>
          </a:prstGeom>
          <a:noFill/>
        </p:spPr>
        <p:txBody>
          <a:bodyPr wrap="square" lIns="76200" tIns="28575" rIns="47625" bIns="28575" rtlCol="0" anchor="b" anchorCtr="0">
            <a:noAutofit/>
          </a:bodyPr>
          <a:lstStyle/>
          <a:p>
            <a:pPr fontAlgn="auto"/>
            <a:r>
              <a:rPr lang="zh-CN" altLang="en-US" sz="4400" b="1" spc="300" noProof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总体设计</a:t>
            </a:r>
            <a:endParaRPr lang="zh-CN" altLang="en-US" sz="4400" b="1" spc="300" noProof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 fontAlgn="auto"/>
            <a:endParaRPr lang="en-US" altLang="zh-CN" sz="2700" b="1" spc="300" noProof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/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 fontAlgn="base"/>
              <a:endParaRPr lang="zh-CN" altLang="en-US" sz="1350" strike="noStrike" noProof="1"/>
            </a:p>
          </p:txBody>
        </p:sp>
        <p:sp>
          <p:nvSpPr>
            <p:cNvPr id="20" name="任意多边形: 形状 19"/>
            <p:cNvSpPr>
              <a:spLocks noChangeAspect="1"/>
            </p:cNvSpPr>
            <p:nvPr/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 fontAlgn="base"/>
              <a:endParaRPr lang="zh-CN" altLang="en-US" sz="1350" strike="noStrike" noProof="1"/>
            </a:p>
          </p:txBody>
        </p:sp>
      </p:grpSp>
      <p:pic>
        <p:nvPicPr>
          <p:cNvPr id="3079" name="图片 -21474826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475" y="2205038"/>
            <a:ext cx="2095500" cy="92868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8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179705" y="189230"/>
            <a:ext cx="1392555" cy="62293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395605" y="1484630"/>
            <a:ext cx="7056755" cy="46780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>
              <a:buFont typeface="Wingdings" panose="05000000000000000000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设计方案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模块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数据库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设计方案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467360" y="1485265"/>
            <a:ext cx="6669405" cy="271335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285750" indent="-285750">
              <a:buFont typeface="Wingdings" panose="05000000000000000000" charset="0"/>
              <a:buChar char="l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界面：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Wingdings" panose="05000000000000000000" charset="0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1.界面结构包含横向结构（二维的信息区域划分）和纵向结构（多个横向结构的堆叠）。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Wingdings" panose="05000000000000000000" charset="0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2.功能区信息划分为四大类：信息元件；执行元件；装饰元件；混合元件。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后端：java。基于组员对各高级语言的熟悉程度确定。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数据存储：本地存储及MySQL服务器的搭建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>
              <a:buFont typeface="Wingdings" panose="05000000000000000000" charset="0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模块设计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9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" y="836930"/>
            <a:ext cx="8635365" cy="54248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4932045" y="836930"/>
            <a:ext cx="4165600" cy="2245360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359410" y="4310380"/>
            <a:ext cx="4297045" cy="24314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251460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>
              <a:buFont typeface="Wingdings" panose="05000000000000000000" charset="0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结构设计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8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955" y="1543050"/>
            <a:ext cx="8366760" cy="378396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4932045" y="836930"/>
            <a:ext cx="4165600" cy="2245360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34925" y="116840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>
              <a:buFont typeface="Wingdings" panose="05000000000000000000" charset="0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数据库设计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395605" y="1261745"/>
            <a:ext cx="6665595" cy="388810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设计要求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AutoNum type="arabicPeriod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能够存储游戏运行的结果数据，并对游戏的一些设置进行变更记录。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AutoNum type="arabicPeriod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管理员用户能够访问部分存储用户信息的数据，并能够加以修改。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AutoNum type="arabicPeriod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简单提供代码测试人员的信息可视功能，使得测试过程更容易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AutoNum type="arabicPeriod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当系统出现问题，不会影响用户信息安全。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数据字典、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ER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片 11" descr="41ffb8db2d10ee5b8a9660cd38ac11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7633" y="1052513"/>
            <a:ext cx="4046855" cy="449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4345" y="2277110"/>
            <a:ext cx="4939030" cy="24472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6977" name="组合 43"/>
          <p:cNvGrpSpPr/>
          <p:nvPr/>
        </p:nvGrpSpPr>
        <p:grpSpPr>
          <a:xfrm>
            <a:off x="492125" y="461963"/>
            <a:ext cx="923925" cy="711200"/>
            <a:chOff x="842086" y="1969574"/>
            <a:chExt cx="1233302" cy="949325"/>
          </a:xfrm>
        </p:grpSpPr>
        <p:sp>
          <p:nvSpPr>
            <p:cNvPr id="42" name="任意多边形: 形状 41"/>
            <p:cNvSpPr/>
            <p:nvPr>
              <p:custDataLst>
                <p:tags r:id="rId1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2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0" name="文本框 6"/>
          <p:cNvSpPr txBox="1"/>
          <p:nvPr>
            <p:custDataLst>
              <p:tags r:id="rId3"/>
            </p:custDataLst>
          </p:nvPr>
        </p:nvSpPr>
        <p:spPr>
          <a:xfrm>
            <a:off x="1416050" y="1419225"/>
            <a:ext cx="3960813" cy="5889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7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charset="-122"/>
              </a:rPr>
              <a:t>当前里程碑评价：</a:t>
            </a:r>
            <a:endParaRPr lang="zh-CN" altLang="en-US" sz="2700" b="1" dirty="0">
              <a:solidFill>
                <a:srgbClr val="40404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4"/>
            </p:custDataLst>
          </p:nvPr>
        </p:nvCxnSpPr>
        <p:spPr>
          <a:xfrm>
            <a:off x="1135063" y="1308100"/>
            <a:ext cx="0" cy="811213"/>
          </a:xfrm>
          <a:prstGeom prst="line">
            <a:avLst/>
          </a:prstGeom>
          <a:ln>
            <a:solidFill>
              <a:sysClr val="windowText" lastClr="000000"/>
            </a:solidFill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grpSp>
        <p:nvGrpSpPr>
          <p:cNvPr id="126982" name="组合 44"/>
          <p:cNvGrpSpPr/>
          <p:nvPr/>
        </p:nvGrpSpPr>
        <p:grpSpPr>
          <a:xfrm rot="10800000">
            <a:off x="7562850" y="1173163"/>
            <a:ext cx="923925" cy="711200"/>
            <a:chOff x="842086" y="1969574"/>
            <a:chExt cx="1233302" cy="949325"/>
          </a:xfrm>
        </p:grpSpPr>
        <p:sp>
          <p:nvSpPr>
            <p:cNvPr id="46" name="任意多边形: 形状 45"/>
            <p:cNvSpPr/>
            <p:nvPr>
              <p:custDataLst>
                <p:tags r:id="rId5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6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5" name="文本框 1"/>
          <p:cNvSpPr txBox="1"/>
          <p:nvPr/>
        </p:nvSpPr>
        <p:spPr>
          <a:xfrm>
            <a:off x="1416050" y="2251075"/>
            <a:ext cx="660209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郎竑健：其余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(90)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微软雅黑" panose="020B0503020204020204" charset="-122"/>
              </a:rPr>
              <a:t>俞伟鸿：模块层次图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20%</a:t>
            </a:r>
            <a:r>
              <a:rPr lang="en-US" altLang="zh-CN">
                <a:sym typeface="+mn-ea"/>
              </a:rPr>
              <a:t>Word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(89)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徐志浩：</a:t>
            </a:r>
            <a:r>
              <a:rPr lang="zh-CN" altLang="en-US">
                <a:sym typeface="+mn-ea"/>
              </a:rPr>
              <a:t>业务流程图、</a:t>
            </a:r>
            <a:r>
              <a:rPr lang="en-US" altLang="zh-CN">
                <a:sym typeface="+mn-ea"/>
              </a:rPr>
              <a:t>20%</a:t>
            </a:r>
            <a:r>
              <a:rPr lang="en-US" altLang="zh-CN">
                <a:sym typeface="+mn-ea"/>
              </a:rPr>
              <a:t>Word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(88)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1073" name="组合 25"/>
          <p:cNvGrpSpPr/>
          <p:nvPr/>
        </p:nvGrpSpPr>
        <p:grpSpPr>
          <a:xfrm>
            <a:off x="684213" y="825500"/>
            <a:ext cx="7775575" cy="5207000"/>
            <a:chOff x="975533" y="0"/>
            <a:chExt cx="10240934" cy="6858000"/>
          </a:xfrm>
        </p:grpSpPr>
        <p:sp>
          <p:nvSpPr>
            <p:cNvPr id="23" name="任意多边形: 形状 22"/>
            <p:cNvSpPr/>
            <p:nvPr>
              <p:custDataLst>
                <p:tags r:id="rId1"/>
              </p:custDataLst>
            </p:nvPr>
          </p:nvSpPr>
          <p:spPr>
            <a:xfrm>
              <a:off x="2412733" y="0"/>
              <a:ext cx="7366534" cy="6858000"/>
            </a:xfrm>
            <a:custGeom>
              <a:avLst/>
              <a:gdLst>
                <a:gd name="connsiteX0" fmla="*/ 2338804 w 7366534"/>
                <a:gd name="connsiteY0" fmla="*/ 0 h 6858000"/>
                <a:gd name="connsiteX1" fmla="*/ 5027730 w 7366534"/>
                <a:gd name="connsiteY1" fmla="*/ 0 h 6858000"/>
                <a:gd name="connsiteX2" fmla="*/ 5116961 w 7366534"/>
                <a:gd name="connsiteY2" fmla="*/ 35183 h 6858000"/>
                <a:gd name="connsiteX3" fmla="*/ 7366534 w 7366534"/>
                <a:gd name="connsiteY3" fmla="*/ 3429000 h 6858000"/>
                <a:gd name="connsiteX4" fmla="*/ 5116961 w 7366534"/>
                <a:gd name="connsiteY4" fmla="*/ 6822818 h 6858000"/>
                <a:gd name="connsiteX5" fmla="*/ 5027731 w 7366534"/>
                <a:gd name="connsiteY5" fmla="*/ 6858000 h 6858000"/>
                <a:gd name="connsiteX6" fmla="*/ 2338804 w 7366534"/>
                <a:gd name="connsiteY6" fmla="*/ 6858000 h 6858000"/>
                <a:gd name="connsiteX7" fmla="*/ 2249574 w 7366534"/>
                <a:gd name="connsiteY7" fmla="*/ 6822818 h 6858000"/>
                <a:gd name="connsiteX8" fmla="*/ 0 w 7366534"/>
                <a:gd name="connsiteY8" fmla="*/ 3429000 h 6858000"/>
                <a:gd name="connsiteX9" fmla="*/ 2249574 w 7366534"/>
                <a:gd name="connsiteY9" fmla="*/ 35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66534" h="6858000">
                  <a:moveTo>
                    <a:pt x="2338804" y="0"/>
                  </a:moveTo>
                  <a:lnTo>
                    <a:pt x="5027730" y="0"/>
                  </a:lnTo>
                  <a:lnTo>
                    <a:pt x="5116961" y="35183"/>
                  </a:lnTo>
                  <a:cubicBezTo>
                    <a:pt x="6438941" y="594333"/>
                    <a:pt x="7366534" y="1903341"/>
                    <a:pt x="7366534" y="3429000"/>
                  </a:cubicBezTo>
                  <a:cubicBezTo>
                    <a:pt x="7366534" y="4954659"/>
                    <a:pt x="6438941" y="6263667"/>
                    <a:pt x="5116961" y="6822818"/>
                  </a:cubicBezTo>
                  <a:lnTo>
                    <a:pt x="5027731" y="6858000"/>
                  </a:lnTo>
                  <a:lnTo>
                    <a:pt x="2338804" y="6858000"/>
                  </a:lnTo>
                  <a:lnTo>
                    <a:pt x="2249574" y="6822818"/>
                  </a:lnTo>
                  <a:cubicBezTo>
                    <a:pt x="927594" y="6263667"/>
                    <a:pt x="0" y="4954659"/>
                    <a:pt x="0" y="3429000"/>
                  </a:cubicBezTo>
                  <a:cubicBezTo>
                    <a:pt x="0" y="1903341"/>
                    <a:pt x="927594" y="594333"/>
                    <a:pt x="2249574" y="35183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2"/>
              </p:custDataLst>
            </p:nvPr>
          </p:nvSpPr>
          <p:spPr>
            <a:xfrm>
              <a:off x="975533" y="0"/>
              <a:ext cx="10240934" cy="6858000"/>
            </a:xfrm>
            <a:custGeom>
              <a:avLst/>
              <a:gdLst>
                <a:gd name="connsiteX0" fmla="*/ 1318176 w 10240934"/>
                <a:gd name="connsiteY0" fmla="*/ 0 h 6858000"/>
                <a:gd name="connsiteX1" fmla="*/ 8922758 w 10240934"/>
                <a:gd name="connsiteY1" fmla="*/ 0 h 6858000"/>
                <a:gd name="connsiteX2" fmla="*/ 9071668 w 10240934"/>
                <a:gd name="connsiteY2" fmla="*/ 171908 h 6858000"/>
                <a:gd name="connsiteX3" fmla="*/ 10240934 w 10240934"/>
                <a:gd name="connsiteY3" fmla="*/ 3429000 h 6858000"/>
                <a:gd name="connsiteX4" fmla="*/ 9071668 w 10240934"/>
                <a:gd name="connsiteY4" fmla="*/ 6686093 h 6858000"/>
                <a:gd name="connsiteX5" fmla="*/ 8922758 w 10240934"/>
                <a:gd name="connsiteY5" fmla="*/ 6858000 h 6858000"/>
                <a:gd name="connsiteX6" fmla="*/ 1318176 w 10240934"/>
                <a:gd name="connsiteY6" fmla="*/ 6858000 h 6858000"/>
                <a:gd name="connsiteX7" fmla="*/ 1169266 w 10240934"/>
                <a:gd name="connsiteY7" fmla="*/ 6686093 h 6858000"/>
                <a:gd name="connsiteX8" fmla="*/ 0 w 10240934"/>
                <a:gd name="connsiteY8" fmla="*/ 3429000 h 6858000"/>
                <a:gd name="connsiteX9" fmla="*/ 1169266 w 10240934"/>
                <a:gd name="connsiteY9" fmla="*/ 17190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40934" h="6858000">
                  <a:moveTo>
                    <a:pt x="1318176" y="0"/>
                  </a:moveTo>
                  <a:lnTo>
                    <a:pt x="8922758" y="0"/>
                  </a:lnTo>
                  <a:lnTo>
                    <a:pt x="9071668" y="171908"/>
                  </a:lnTo>
                  <a:cubicBezTo>
                    <a:pt x="9802133" y="1057026"/>
                    <a:pt x="10240934" y="2191769"/>
                    <a:pt x="10240934" y="3429000"/>
                  </a:cubicBezTo>
                  <a:cubicBezTo>
                    <a:pt x="10240934" y="4666231"/>
                    <a:pt x="9802133" y="5800974"/>
                    <a:pt x="9071668" y="6686093"/>
                  </a:cubicBezTo>
                  <a:lnTo>
                    <a:pt x="8922758" y="6858000"/>
                  </a:lnTo>
                  <a:lnTo>
                    <a:pt x="1318176" y="6858000"/>
                  </a:lnTo>
                  <a:lnTo>
                    <a:pt x="1169266" y="6686093"/>
                  </a:lnTo>
                  <a:cubicBezTo>
                    <a:pt x="438801" y="5800974"/>
                    <a:pt x="0" y="4666231"/>
                    <a:pt x="0" y="3429000"/>
                  </a:cubicBezTo>
                  <a:cubicBezTo>
                    <a:pt x="0" y="2191769"/>
                    <a:pt x="438801" y="1057026"/>
                    <a:pt x="1169266" y="171908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809875" y="1666875"/>
            <a:ext cx="3524250" cy="3524250"/>
          </a:xfrm>
          <a:prstGeom prst="ellipse">
            <a:avLst/>
          </a:prstGeom>
          <a:noFill/>
          <a:ln>
            <a:solidFill>
              <a:sysClr val="window" lastClr="FFFFFF">
                <a:lumMod val="95000"/>
              </a:sysClr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p>
            <a:pPr algn="ctr" fontAlgn="base">
              <a:lnSpc>
                <a:spcPct val="120000"/>
              </a:lnSpc>
            </a:pPr>
            <a:endParaRPr lang="zh-CN" altLang="en-US" sz="1350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9838" y="2997200"/>
            <a:ext cx="2476500" cy="8302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</a:pPr>
            <a:r>
              <a:rPr lang="zh-CN" altLang="en-US" sz="4800" spc="30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谢谢</a:t>
            </a:r>
            <a:endParaRPr lang="zh-CN" altLang="en-US" sz="4800" spc="300" noProof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UNIT_ISCONTENTSTITLE" val="0"/>
  <p:tag name="KSO_WM_UNIT_PRESET_TEXT" val="单击此处&#13;添加大标题内容"/>
  <p:tag name="KSO_WM_UNIT_TEXT_PART_ID" val="5-X"/>
  <p:tag name="KSO_WM_UNIT_TEXT_PART_SIZE" val="92.4*403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194877_1*a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NOCLEAR" val="0"/>
  <p:tag name="KSO_WM_DIAGRAM_GROUP_CODE" val="ζ1-1"/>
  <p:tag name="KSO_WM_UNIT_TEXT_PART_ID_V2" val="a-2-1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UNIT_PLACING_PICTURE_USER_VIEWPORT" val="{&quot;height&quot;:4909,&quot;width&quot;:7815}"/>
</p:tagLst>
</file>

<file path=ppt/tags/tag32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6.xml><?xml version="1.0" encoding="utf-8"?>
<p:tagLst xmlns:p="http://schemas.openxmlformats.org/presentationml/2006/main">
  <p:tag name="KSO_WM_UNIT_PLACING_PICTURE_USER_VIEWPORT" val="{&quot;height&quot;:7085,&quot;width&quot;:6373}"/>
</p:tagLst>
</file>

<file path=ppt/tags/tag57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551_1*i*3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1551_1*i*4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PRESET_TEXT" val="点击&#13;输入大标题"/>
  <p:tag name="KSO_WM_UNIT_NOCLEAR" val="0"/>
  <p:tag name="KSO_WM_UNIT_SHOW_EDIT_AREA_INDICATION" val="1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551_1*a*1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551_1*i*5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1551_1*i*9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551_1*i*2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diagram20201551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BEAUTIFY_FLAG" val="#wm#"/>
  <p:tag name="KSO_WM_TEMPLATE_CATEGORY" val="diagram"/>
  <p:tag name="KSO_WM_TEMPLATE_INDEX" val="20201551"/>
  <p:tag name="KSO_WM_SLIDE_LAYOUT" val="a_d_h"/>
  <p:tag name="KSO_WM_SLIDE_LAYOUT_CNT" val="1_1_1"/>
  <p:tag name="KSO_WM_SLIDE_TYPE" val="text"/>
  <p:tag name="KSO_WM_SLIDE_SUBTYPE" val="picTxt"/>
  <p:tag name="KSO_WM_SLIDE_SIZE" val="143.7*26.55"/>
  <p:tag name="KSO_WM_SLIDE_POSITION" val="260.4*271.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3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4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5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68.xml><?xml version="1.0" encoding="utf-8"?>
<p:tagLst xmlns:p="http://schemas.openxmlformats.org/presentationml/2006/main">
  <p:tag name="KSO_WM_SLIDE_ID" val="diagram20201613_1"/>
  <p:tag name="KSO_WM_TEMPLATE_SUBCATEGORY" val="0"/>
  <p:tag name="KSO_WM_SLIDE_TYPE" val="text"/>
  <p:tag name="KSO_WM_SLIDE_SUBTYPE" val="diag"/>
  <p:tag name="KSO_WM_SLIDE_ITEM_CNT" val="0"/>
  <p:tag name="KSO_WM_SLIDE_INDEX" val="1"/>
  <p:tag name="KSO_WM_SLIDE_SIZE" val="854*546"/>
  <p:tag name="KSO_WM_SLIDE_POSITION" val="71*-3"/>
  <p:tag name="KSO_WM_TAG_VERSION" val="1.0"/>
  <p:tag name="KSO_WM_BEAUTIFY_FLAG" val="#wm#"/>
  <p:tag name="KSO_WM_TEMPLATE_CATEGORY" val="diagram"/>
  <p:tag name="KSO_WM_TEMPLATE_INDEX" val="20201613"/>
  <p:tag name="KSO_WM_SLIDE_LAYOUT" val="a_d_f"/>
  <p:tag name="KSO_WM_SLIDE_LAYOUT_CNT" val="1_1_2"/>
</p:tagLst>
</file>

<file path=ppt/tags/tag69.xml><?xml version="1.0" encoding="utf-8"?>
<p:tagLst xmlns:p="http://schemas.openxmlformats.org/presentationml/2006/main">
  <p:tag name="COMMONDATA" val="eyJoZGlkIjoiM2I0YzY4NjUwZGU1YzMwM2VhZjcxMmNjYTBmYTc2YmEifQ=="/>
  <p:tag name="KSO_WPP_MARK_KEY" val="c2a9c131-d783-4698-8b70-4756e70de055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WPS 演示</Application>
  <PresentationFormat/>
  <Paragraphs>48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黑体</vt:lpstr>
      <vt:lpstr>Wingdings</vt:lpstr>
      <vt:lpstr>Arial Unicode MS</vt:lpstr>
      <vt:lpstr>Calibri</vt:lpstr>
      <vt:lpstr>默认设计模板</vt:lpstr>
      <vt:lpstr>1_默认设计模板</vt:lpstr>
      <vt:lpstr>2_默认设计模板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jjddn</dc:creator>
  <cp:lastModifiedBy>XI AOGUI</cp:lastModifiedBy>
  <cp:revision>16</cp:revision>
  <dcterms:created xsi:type="dcterms:W3CDTF">2022-10-30T13:20:00Z</dcterms:created>
  <dcterms:modified xsi:type="dcterms:W3CDTF">2022-11-23T01:22:02Z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4DC3AED9A2454AD09C81CB048738E86D</vt:lpwstr>
  </property>
</Properties>
</file>