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sldIdLst>
    <p:sldId id="257" r:id="rId3"/>
    <p:sldId id="263" r:id="rId4"/>
    <p:sldId id="369" r:id="rId5"/>
    <p:sldId id="370" r:id="rId6"/>
    <p:sldId id="371" r:id="rId7"/>
    <p:sldId id="372" r:id="rId8"/>
    <p:sldId id="373" r:id="rId9"/>
    <p:sldId id="374" r:id="rId10"/>
    <p:sldId id="375" r:id="rId11"/>
    <p:sldId id="376" r:id="rId12"/>
    <p:sldId id="377" r:id="rId13"/>
    <p:sldId id="378" r:id="rId14"/>
    <p:sldId id="379" r:id="rId15"/>
    <p:sldId id="380" r:id="rId16"/>
    <p:sldId id="381" r:id="rId17"/>
    <p:sldId id="382" r:id="rId18"/>
    <p:sldId id="383" r:id="rId19"/>
    <p:sldId id="384" r:id="rId20"/>
    <p:sldId id="385" r:id="rId21"/>
    <p:sldId id="386" r:id="rId22"/>
    <p:sldId id="387" r:id="rId23"/>
    <p:sldId id="388" r:id="rId24"/>
    <p:sldId id="389" r:id="rId25"/>
    <p:sldId id="390" r:id="rId26"/>
    <p:sldId id="349" r:id="rId27"/>
    <p:sldId id="359" r:id="rId28"/>
    <p:sldId id="364" r:id="rId29"/>
    <p:sldId id="365" r:id="rId30"/>
    <p:sldId id="350" r:id="rId31"/>
    <p:sldId id="361" r:id="rId32"/>
    <p:sldId id="362" r:id="rId33"/>
    <p:sldId id="363" r:id="rId34"/>
    <p:sldId id="351" r:id="rId35"/>
    <p:sldId id="366" r:id="rId36"/>
    <p:sldId id="344" r:id="rId37"/>
    <p:sldId id="352" r:id="rId38"/>
    <p:sldId id="353" r:id="rId39"/>
    <p:sldId id="354" r:id="rId40"/>
    <p:sldId id="355" r:id="rId41"/>
    <p:sldId id="316" r:id="rId42"/>
    <p:sldId id="317" r:id="rId43"/>
  </p:sldIdLst>
  <p:sldSz cx="9144000" cy="6858000" type="screen4x3"/>
  <p:notesSz cx="6858000" cy="9144000"/>
  <p:custDataLst>
    <p:tags r:id="rId49"/>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llo" initials="n" lastIdx="2" clrIdx="0"/>
  <p:cmAuthor id="2" name="作者" initials="作"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177"/>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9" Type="http://schemas.openxmlformats.org/officeDocument/2006/relationships/tags" Target="tags/tag255.xml"/><Relationship Id="rId48" Type="http://schemas.openxmlformats.org/officeDocument/2006/relationships/commentAuthors" Target="commentAuthors.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notesMaster" Target="notesMasters/notesMaster1.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p>
            <a:pPr lvl="0"/>
            <a:r>
              <a:rPr lang="zh-CN" altLang="en-US"/>
              <a:t>单击此处编辑母版标题样式</a:t>
            </a:r>
            <a:endParaRPr lang="zh-CN" altLang="en-US"/>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7.xml"/><Relationship Id="rId7" Type="http://schemas.openxmlformats.org/officeDocument/2006/relationships/image" Target="../media/image1.png"/><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s>
</file>

<file path=ppt/slides/_rels/slide7.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0" Type="http://schemas.openxmlformats.org/officeDocument/2006/relationships/slideLayout" Target="../slideLayouts/slideLayout7.xml"/><Relationship Id="rId1" Type="http://schemas.openxmlformats.org/officeDocument/2006/relationships/tags" Target="../tags/tag48.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s>
</file>

<file path=ppt/slides/_rels/slide11.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image" Target="../media/image2.png"/><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1" Type="http://schemas.openxmlformats.org/officeDocument/2006/relationships/slideLayout" Target="../slideLayouts/slideLayout7.xml"/><Relationship Id="rId10" Type="http://schemas.openxmlformats.org/officeDocument/2006/relationships/tags" Target="../tags/tag82.xml"/><Relationship Id="rId1" Type="http://schemas.openxmlformats.org/officeDocument/2006/relationships/tags" Target="../tags/tag77.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tags" Target="../tags/tag119.xml"/></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128.xml"/><Relationship Id="rId5" Type="http://schemas.openxmlformats.org/officeDocument/2006/relationships/image" Target="../media/image6.png"/><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53.xml"/><Relationship Id="rId4" Type="http://schemas.openxmlformats.org/officeDocument/2006/relationships/tags" Target="../tags/tag152.xml"/><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68.xml"/><Relationship Id="rId4" Type="http://schemas.openxmlformats.org/officeDocument/2006/relationships/tags" Target="../tags/tag167.xml"/><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78.xml"/><Relationship Id="rId4" Type="http://schemas.openxmlformats.org/officeDocument/2006/relationships/tags" Target="../tags/tag177.xml"/><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88.xml"/><Relationship Id="rId4" Type="http://schemas.openxmlformats.org/officeDocument/2006/relationships/tags" Target="../tags/tag187.xml"/><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s>
</file>

<file path=ppt/slides/_rels/slide3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193.xml"/><Relationship Id="rId5" Type="http://schemas.openxmlformats.org/officeDocument/2006/relationships/image" Target="../media/image7.png"/><Relationship Id="rId4" Type="http://schemas.openxmlformats.org/officeDocument/2006/relationships/tags" Target="../tags/tag192.xml"/><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98.xml"/><Relationship Id="rId4" Type="http://schemas.openxmlformats.org/officeDocument/2006/relationships/tags" Target="../tags/tag197.xml"/><Relationship Id="rId3" Type="http://schemas.openxmlformats.org/officeDocument/2006/relationships/tags" Target="../tags/tag196.xml"/><Relationship Id="rId2" Type="http://schemas.openxmlformats.org/officeDocument/2006/relationships/tags" Target="../tags/tag195.xml"/><Relationship Id="rId1" Type="http://schemas.openxmlformats.org/officeDocument/2006/relationships/tags" Target="../tags/tag194.xml"/></Relationships>
</file>

<file path=ppt/slides/_rels/slide35.xml.rels><?xml version="1.0" encoding="UTF-8" standalone="yes"?>
<Relationships xmlns="http://schemas.openxmlformats.org/package/2006/relationships"><Relationship Id="rId9" Type="http://schemas.openxmlformats.org/officeDocument/2006/relationships/tags" Target="../tags/tag207.xml"/><Relationship Id="rId8" Type="http://schemas.openxmlformats.org/officeDocument/2006/relationships/tags" Target="../tags/tag206.xml"/><Relationship Id="rId7" Type="http://schemas.openxmlformats.org/officeDocument/2006/relationships/tags" Target="../tags/tag205.xml"/><Relationship Id="rId6" Type="http://schemas.openxmlformats.org/officeDocument/2006/relationships/tags" Target="../tags/tag204.xml"/><Relationship Id="rId5" Type="http://schemas.openxmlformats.org/officeDocument/2006/relationships/tags" Target="../tags/tag203.xml"/><Relationship Id="rId4" Type="http://schemas.openxmlformats.org/officeDocument/2006/relationships/tags" Target="../tags/tag202.xml"/><Relationship Id="rId3" Type="http://schemas.openxmlformats.org/officeDocument/2006/relationships/tags" Target="../tags/tag201.xml"/><Relationship Id="rId2" Type="http://schemas.openxmlformats.org/officeDocument/2006/relationships/tags" Target="../tags/tag200.xml"/><Relationship Id="rId10" Type="http://schemas.openxmlformats.org/officeDocument/2006/relationships/slideLayout" Target="../slideLayouts/slideLayout7.xml"/><Relationship Id="rId1" Type="http://schemas.openxmlformats.org/officeDocument/2006/relationships/tags" Target="../tags/tag199.xml"/></Relationships>
</file>

<file path=ppt/slides/_rels/slide36.xml.rels><?xml version="1.0" encoding="UTF-8" standalone="yes"?>
<Relationships xmlns="http://schemas.openxmlformats.org/package/2006/relationships"><Relationship Id="rId9" Type="http://schemas.openxmlformats.org/officeDocument/2006/relationships/tags" Target="../tags/tag216.xml"/><Relationship Id="rId8" Type="http://schemas.openxmlformats.org/officeDocument/2006/relationships/tags" Target="../tags/tag215.xml"/><Relationship Id="rId7" Type="http://schemas.openxmlformats.org/officeDocument/2006/relationships/tags" Target="../tags/tag214.xml"/><Relationship Id="rId6" Type="http://schemas.openxmlformats.org/officeDocument/2006/relationships/tags" Target="../tags/tag213.xml"/><Relationship Id="rId5" Type="http://schemas.openxmlformats.org/officeDocument/2006/relationships/tags" Target="../tags/tag212.xml"/><Relationship Id="rId4" Type="http://schemas.openxmlformats.org/officeDocument/2006/relationships/tags" Target="../tags/tag211.xml"/><Relationship Id="rId3" Type="http://schemas.openxmlformats.org/officeDocument/2006/relationships/tags" Target="../tags/tag210.xml"/><Relationship Id="rId2" Type="http://schemas.openxmlformats.org/officeDocument/2006/relationships/tags" Target="../tags/tag209.xml"/><Relationship Id="rId10" Type="http://schemas.openxmlformats.org/officeDocument/2006/relationships/slideLayout" Target="../slideLayouts/slideLayout7.xml"/><Relationship Id="rId1" Type="http://schemas.openxmlformats.org/officeDocument/2006/relationships/tags" Target="../tags/tag208.xml"/></Relationships>
</file>

<file path=ppt/slides/_rels/slide37.xml.rels><?xml version="1.0" encoding="UTF-8" standalone="yes"?>
<Relationships xmlns="http://schemas.openxmlformats.org/package/2006/relationships"><Relationship Id="rId9" Type="http://schemas.openxmlformats.org/officeDocument/2006/relationships/tags" Target="../tags/tag225.xml"/><Relationship Id="rId8" Type="http://schemas.openxmlformats.org/officeDocument/2006/relationships/tags" Target="../tags/tag224.xml"/><Relationship Id="rId7" Type="http://schemas.openxmlformats.org/officeDocument/2006/relationships/tags" Target="../tags/tag223.xml"/><Relationship Id="rId6" Type="http://schemas.openxmlformats.org/officeDocument/2006/relationships/tags" Target="../tags/tag222.xml"/><Relationship Id="rId5" Type="http://schemas.openxmlformats.org/officeDocument/2006/relationships/tags" Target="../tags/tag221.xml"/><Relationship Id="rId4" Type="http://schemas.openxmlformats.org/officeDocument/2006/relationships/tags" Target="../tags/tag220.xml"/><Relationship Id="rId3" Type="http://schemas.openxmlformats.org/officeDocument/2006/relationships/tags" Target="../tags/tag219.xml"/><Relationship Id="rId2" Type="http://schemas.openxmlformats.org/officeDocument/2006/relationships/tags" Target="../tags/tag218.xml"/><Relationship Id="rId10" Type="http://schemas.openxmlformats.org/officeDocument/2006/relationships/slideLayout" Target="../slideLayouts/slideLayout7.xml"/><Relationship Id="rId1" Type="http://schemas.openxmlformats.org/officeDocument/2006/relationships/tags" Target="../tags/tag217.xml"/></Relationships>
</file>

<file path=ppt/slides/_rels/slide38.xml.rels><?xml version="1.0" encoding="UTF-8" standalone="yes"?>
<Relationships xmlns="http://schemas.openxmlformats.org/package/2006/relationships"><Relationship Id="rId9" Type="http://schemas.openxmlformats.org/officeDocument/2006/relationships/tags" Target="../tags/tag234.xml"/><Relationship Id="rId8" Type="http://schemas.openxmlformats.org/officeDocument/2006/relationships/tags" Target="../tags/tag233.xml"/><Relationship Id="rId7" Type="http://schemas.openxmlformats.org/officeDocument/2006/relationships/tags" Target="../tags/tag232.xml"/><Relationship Id="rId6" Type="http://schemas.openxmlformats.org/officeDocument/2006/relationships/tags" Target="../tags/tag231.xml"/><Relationship Id="rId5" Type="http://schemas.openxmlformats.org/officeDocument/2006/relationships/tags" Target="../tags/tag230.xml"/><Relationship Id="rId4" Type="http://schemas.openxmlformats.org/officeDocument/2006/relationships/tags" Target="../tags/tag229.xml"/><Relationship Id="rId3" Type="http://schemas.openxmlformats.org/officeDocument/2006/relationships/tags" Target="../tags/tag228.xml"/><Relationship Id="rId2" Type="http://schemas.openxmlformats.org/officeDocument/2006/relationships/tags" Target="../tags/tag227.xml"/><Relationship Id="rId10" Type="http://schemas.openxmlformats.org/officeDocument/2006/relationships/slideLayout" Target="../slideLayouts/slideLayout7.xml"/><Relationship Id="rId1" Type="http://schemas.openxmlformats.org/officeDocument/2006/relationships/tags" Target="../tags/tag226.xml"/></Relationships>
</file>

<file path=ppt/slides/_rels/slide39.xml.rels><?xml version="1.0" encoding="UTF-8" standalone="yes"?>
<Relationships xmlns="http://schemas.openxmlformats.org/package/2006/relationships"><Relationship Id="rId9" Type="http://schemas.openxmlformats.org/officeDocument/2006/relationships/tags" Target="../tags/tag243.xml"/><Relationship Id="rId8" Type="http://schemas.openxmlformats.org/officeDocument/2006/relationships/tags" Target="../tags/tag242.xml"/><Relationship Id="rId7" Type="http://schemas.openxmlformats.org/officeDocument/2006/relationships/tags" Target="../tags/tag241.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 Id="rId3" Type="http://schemas.openxmlformats.org/officeDocument/2006/relationships/tags" Target="../tags/tag237.xml"/><Relationship Id="rId2" Type="http://schemas.openxmlformats.org/officeDocument/2006/relationships/tags" Target="../tags/tag236.xml"/><Relationship Id="rId10" Type="http://schemas.openxmlformats.org/officeDocument/2006/relationships/slideLayout" Target="../slideLayouts/slideLayout7.xml"/><Relationship Id="rId1" Type="http://schemas.openxmlformats.org/officeDocument/2006/relationships/tags" Target="../tags/tag235.xml"/></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250.xml"/><Relationship Id="rId6" Type="http://schemas.openxmlformats.org/officeDocument/2006/relationships/tags" Target="../tags/tag249.xml"/><Relationship Id="rId5" Type="http://schemas.openxmlformats.org/officeDocument/2006/relationships/tags" Target="../tags/tag248.xml"/><Relationship Id="rId4" Type="http://schemas.openxmlformats.org/officeDocument/2006/relationships/tags" Target="../tags/tag247.xml"/><Relationship Id="rId3" Type="http://schemas.openxmlformats.org/officeDocument/2006/relationships/tags" Target="../tags/tag246.xml"/><Relationship Id="rId2" Type="http://schemas.openxmlformats.org/officeDocument/2006/relationships/tags" Target="../tags/tag245.xml"/><Relationship Id="rId1" Type="http://schemas.openxmlformats.org/officeDocument/2006/relationships/tags" Target="../tags/tag244.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54.xml"/><Relationship Id="rId3" Type="http://schemas.openxmlformats.org/officeDocument/2006/relationships/tags" Target="../tags/tag253.xml"/><Relationship Id="rId2" Type="http://schemas.openxmlformats.org/officeDocument/2006/relationships/tags" Target="../tags/tag252.xml"/><Relationship Id="rId1" Type="http://schemas.openxmlformats.org/officeDocument/2006/relationships/tags" Target="../tags/tag2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4499610" y="857250"/>
            <a:ext cx="4628515" cy="3453130"/>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 name="矩形 3"/>
          <p:cNvSpPr/>
          <p:nvPr>
            <p:custDataLst>
              <p:tags r:id="rId3"/>
            </p:custDataLst>
          </p:nvPr>
        </p:nvSpPr>
        <p:spPr>
          <a:xfrm>
            <a:off x="0" y="4310063"/>
            <a:ext cx="9145588" cy="1690688"/>
          </a:xfrm>
          <a:prstGeom prst="rect">
            <a:avLst/>
          </a:prstGeom>
          <a:solidFill>
            <a:srgbClr val="FFFFFF"/>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4" name="文本框 13"/>
          <p:cNvSpPr txBox="1"/>
          <p:nvPr>
            <p:custDataLst>
              <p:tags r:id="rId4"/>
            </p:custDataLst>
          </p:nvPr>
        </p:nvSpPr>
        <p:spPr>
          <a:xfrm>
            <a:off x="396875" y="5287963"/>
            <a:ext cx="8140700" cy="712788"/>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0" marR="0" indent="0" algn="l" defTabSz="685800" rtl="0" eaLnBrk="1" fontAlgn="auto" latinLnBrk="0" hangingPunct="1">
              <a:lnSpc>
                <a:spcPct val="100000"/>
              </a:lnSpc>
              <a:spcBef>
                <a:spcPts val="0"/>
              </a:spcBef>
              <a:spcAft>
                <a:spcPts val="1000"/>
              </a:spcAft>
              <a:buClrTx/>
              <a:buSzTx/>
              <a:buFont typeface="Arial" panose="020B0604020202020204" pitchFamily="34" charset="0"/>
              <a:buNone/>
            </a:pPr>
            <a:r>
              <a:rPr lang="zh-CN" altLang="en-US" sz="1200" strike="noStrike" noProof="1">
                <a:solidFill>
                  <a:srgbClr val="404040"/>
                </a:solidFill>
                <a:uFillTx/>
                <a:latin typeface="Arial" panose="020B0604020202020204" pitchFamily="34" charset="0"/>
                <a:ea typeface="微软雅黑" panose="020B0503020204020204" charset="-122"/>
                <a:cs typeface="+mn-cs"/>
                <a:sym typeface="+mn-ea"/>
              </a:rPr>
              <a:t>组长：</a:t>
            </a:r>
            <a:r>
              <a:rPr lang="en-US" altLang="zh-CN" sz="1200" strike="noStrike" noProof="1">
                <a:solidFill>
                  <a:srgbClr val="404040"/>
                </a:solidFill>
                <a:uFillTx/>
                <a:latin typeface="Arial" panose="020B0604020202020204" pitchFamily="34" charset="0"/>
                <a:ea typeface="微软雅黑" panose="020B0503020204020204" charset="-122"/>
                <a:cs typeface="+mn-cs"/>
                <a:sym typeface="+mn-ea"/>
              </a:rPr>
              <a:t>郎竑健 </a:t>
            </a:r>
            <a:endParaRPr kumimoji="0" lang="en-US" altLang="zh-CN" sz="1200" b="0" i="0" u="none" strike="noStrike" kern="1200" cap="none" spc="150" normalizeH="0" baseline="0" noProof="1">
              <a:solidFill>
                <a:srgbClr val="404040"/>
              </a:solidFill>
              <a:uFillTx/>
              <a:latin typeface="Arial" panose="020B0604020202020204" pitchFamily="34" charset="0"/>
              <a:ea typeface="微软雅黑" panose="020B0503020204020204" charset="-122"/>
              <a:cs typeface="+mn-cs"/>
            </a:endParaRPr>
          </a:p>
          <a:p>
            <a:pPr marL="0" marR="0" indent="0" algn="l" defTabSz="685800" rtl="0" eaLnBrk="1" fontAlgn="auto" latinLnBrk="0" hangingPunct="1">
              <a:lnSpc>
                <a:spcPct val="100000"/>
              </a:lnSpc>
              <a:spcBef>
                <a:spcPts val="0"/>
              </a:spcBef>
              <a:spcAft>
                <a:spcPts val="1000"/>
              </a:spcAft>
              <a:buClrTx/>
              <a:buSzTx/>
              <a:buFont typeface="Arial" panose="020B0604020202020204" pitchFamily="34" charset="0"/>
              <a:buNone/>
            </a:pPr>
            <a:r>
              <a:rPr lang="zh-CN" altLang="en-US" sz="1200" strike="noStrike" noProof="1">
                <a:solidFill>
                  <a:srgbClr val="404040"/>
                </a:solidFill>
                <a:uFillTx/>
                <a:latin typeface="Arial" panose="020B0604020202020204" pitchFamily="34" charset="0"/>
                <a:ea typeface="微软雅黑" panose="020B0503020204020204" charset="-122"/>
                <a:cs typeface="+mn-cs"/>
                <a:sym typeface="+mn-ea"/>
              </a:rPr>
              <a:t>组员：</a:t>
            </a:r>
            <a:r>
              <a:rPr lang="en-US" altLang="zh-CN" sz="1200" strike="noStrike" noProof="1">
                <a:solidFill>
                  <a:srgbClr val="404040"/>
                </a:solidFill>
                <a:uFillTx/>
                <a:latin typeface="Arial" panose="020B0604020202020204" pitchFamily="34" charset="0"/>
                <a:ea typeface="微软雅黑" panose="020B0503020204020204" charset="-122"/>
                <a:cs typeface="+mn-cs"/>
                <a:sym typeface="+mn-ea"/>
              </a:rPr>
              <a:t>徐志浩 俞伟鸿 </a:t>
            </a:r>
            <a:endParaRPr lang="zh-CN" altLang="en-US" sz="1200" strike="noStrike" noProof="1" dirty="0">
              <a:solidFill>
                <a:srgbClr val="000000">
                  <a:lumMod val="50000"/>
                  <a:lumOff val="50000"/>
                </a:srgbClr>
              </a:solidFill>
              <a:latin typeface="微软雅黑" panose="020B0503020204020204" charset="-122"/>
              <a:ea typeface="微软雅黑" panose="020B0503020204020204" charset="-122"/>
            </a:endParaRPr>
          </a:p>
        </p:txBody>
      </p:sp>
      <p:sp>
        <p:nvSpPr>
          <p:cNvPr id="15" name="文本框 14"/>
          <p:cNvSpPr txBox="1"/>
          <p:nvPr>
            <p:custDataLst>
              <p:tags r:id="rId5"/>
            </p:custDataLst>
          </p:nvPr>
        </p:nvSpPr>
        <p:spPr>
          <a:xfrm>
            <a:off x="3132138" y="1525588"/>
            <a:ext cx="4192588" cy="1060450"/>
          </a:xfrm>
          <a:prstGeom prst="rect">
            <a:avLst/>
          </a:prstGeom>
          <a:noFill/>
        </p:spPr>
        <p:txBody>
          <a:bodyPr wrap="square" lIns="76200" tIns="28575" rIns="47625" bIns="28575" rtlCol="0" anchor="b" anchorCtr="0">
            <a:noAutofit/>
          </a:bodyPr>
          <a:lstStyle/>
          <a:p>
            <a:pPr fontAlgn="auto"/>
            <a:r>
              <a:rPr lang="zh-CN" altLang="en-US" sz="4400" b="1" spc="300" noProof="1" dirty="0">
                <a:solidFill>
                  <a:srgbClr val="000000">
                    <a:lumMod val="75000"/>
                    <a:lumOff val="25000"/>
                  </a:srgbClr>
                </a:solidFill>
                <a:latin typeface="微软雅黑" panose="020B0503020204020204" charset="-122"/>
                <a:ea typeface="微软雅黑" panose="020B0503020204020204" charset="-122"/>
                <a:cs typeface="+mn-cs"/>
              </a:rPr>
              <a:t>翻转课堂</a:t>
            </a:r>
            <a:r>
              <a:rPr lang="en-US" altLang="zh-CN" sz="4400" b="1" spc="300" noProof="1" dirty="0">
                <a:solidFill>
                  <a:srgbClr val="000000">
                    <a:lumMod val="75000"/>
                    <a:lumOff val="25000"/>
                  </a:srgbClr>
                </a:solidFill>
                <a:latin typeface="微软雅黑" panose="020B0503020204020204" charset="-122"/>
                <a:ea typeface="微软雅黑" panose="020B0503020204020204" charset="-122"/>
                <a:cs typeface="+mn-cs"/>
              </a:rPr>
              <a:t>2</a:t>
            </a:r>
            <a:endParaRPr lang="zh-CN" altLang="en-US" sz="4400" b="1" spc="300" noProof="1" dirty="0">
              <a:solidFill>
                <a:srgbClr val="000000">
                  <a:lumMod val="75000"/>
                  <a:lumOff val="25000"/>
                </a:srgbClr>
              </a:solidFill>
              <a:latin typeface="微软雅黑" panose="020B0503020204020204" charset="-122"/>
              <a:ea typeface="微软雅黑" panose="020B0503020204020204" charset="-122"/>
            </a:endParaRPr>
          </a:p>
          <a:p>
            <a:pPr algn="r" fontAlgn="auto"/>
            <a:endParaRPr lang="en-US" altLang="zh-CN" sz="2700" b="1" spc="300" noProof="1" dirty="0">
              <a:solidFill>
                <a:srgbClr val="000000">
                  <a:lumMod val="75000"/>
                  <a:lumOff val="25000"/>
                </a:srgbClr>
              </a:solidFill>
              <a:latin typeface="微软雅黑" panose="020B0503020204020204" charset="-122"/>
              <a:ea typeface="微软雅黑" panose="020B0503020204020204" charset="-122"/>
            </a:endParaRPr>
          </a:p>
        </p:txBody>
      </p:sp>
      <p:grpSp>
        <p:nvGrpSpPr>
          <p:cNvPr id="18" name="组合 17"/>
          <p:cNvGrpSpPr>
            <a:grpSpLocks noChangeAspect="1"/>
          </p:cNvGrpSpPr>
          <p:nvPr>
            <p:custDataLst>
              <p:tags r:id="rId6"/>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pic>
        <p:nvPicPr>
          <p:cNvPr id="3079" name="图片 -2147482611"/>
          <p:cNvPicPr>
            <a:picLocks noChangeAspect="1"/>
          </p:cNvPicPr>
          <p:nvPr/>
        </p:nvPicPr>
        <p:blipFill>
          <a:blip r:embed="rId7"/>
          <a:stretch>
            <a:fillRect/>
          </a:stretch>
        </p:blipFill>
        <p:spPr>
          <a:xfrm>
            <a:off x="3132455" y="2348865"/>
            <a:ext cx="2498090" cy="1106805"/>
          </a:xfrm>
          <a:prstGeom prst="rect">
            <a:avLst/>
          </a:prstGeom>
          <a:noFill/>
          <a:ln w="9525">
            <a:noFill/>
          </a:ln>
        </p:spPr>
      </p:pic>
    </p:spTree>
    <p:custDataLst>
      <p:tags r:id="rId8"/>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60153" y="857251"/>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179705" y="189230"/>
            <a:ext cx="1392555" cy="62293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r>
              <a:rPr lang="zh-CN" altLang="en-US" sz="2800" dirty="0">
                <a:solidFill>
                  <a:schemeClr val="tx1"/>
                </a:solidFill>
                <a:latin typeface="黑体" panose="02010609060101010101" charset="-122"/>
                <a:ea typeface="黑体" panose="02010609060101010101" charset="-122"/>
                <a:cs typeface="黑体" panose="02010609060101010101" charset="-122"/>
              </a:rPr>
              <a:t>目录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1196340"/>
            <a:ext cx="7056755" cy="467804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285750" indent="-285750" algn="l">
              <a:buClrTx/>
              <a:buSzTx/>
              <a:buFont typeface="Wingdings" panose="05000000000000000000" charset="0"/>
              <a:buChar char="l"/>
            </a:pPr>
            <a:r>
              <a:rPr lang="zh-CN" altLang="en-US" sz="1800" dirty="0">
                <a:solidFill>
                  <a:schemeClr val="tx1"/>
                </a:solidFill>
                <a:latin typeface="黑体" panose="02010609060101010101" charset="-122"/>
                <a:ea typeface="黑体" panose="02010609060101010101" charset="-122"/>
                <a:cs typeface="黑体" panose="02010609060101010101" charset="-122"/>
              </a:rPr>
              <a:t>7.</a:t>
            </a:r>
            <a:r>
              <a:rPr lang="zh-CN" altLang="en-US" sz="1800" dirty="0">
                <a:solidFill>
                  <a:schemeClr val="tx1"/>
                </a:solidFill>
                <a:latin typeface="黑体" panose="02010609060101010101" charset="-122"/>
                <a:ea typeface="黑体" panose="02010609060101010101" charset="-122"/>
                <a:cs typeface="黑体" panose="02010609060101010101" charset="-122"/>
              </a:rPr>
              <a:t>7黑盒测试技术</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zh-CN" altLang="en-US" sz="1800" dirty="0">
                <a:solidFill>
                  <a:schemeClr val="tx1"/>
                </a:solidFill>
                <a:latin typeface="黑体" panose="02010609060101010101" charset="-122"/>
                <a:ea typeface="黑体" panose="02010609060101010101" charset="-122"/>
                <a:cs typeface="黑体" panose="02010609060101010101" charset="-122"/>
              </a:rPr>
              <a:t>7.</a:t>
            </a:r>
            <a:r>
              <a:rPr lang="en-US" altLang="zh-CN" sz="1800" dirty="0">
                <a:solidFill>
                  <a:schemeClr val="tx1"/>
                </a:solidFill>
                <a:latin typeface="黑体" panose="02010609060101010101" charset="-122"/>
                <a:ea typeface="黑体" panose="02010609060101010101" charset="-122"/>
                <a:cs typeface="黑体" panose="02010609060101010101" charset="-122"/>
              </a:rPr>
              <a:t>8</a:t>
            </a:r>
            <a:r>
              <a:rPr lang="zh-CN" altLang="en-US" sz="1800" dirty="0">
                <a:solidFill>
                  <a:schemeClr val="tx1"/>
                </a:solidFill>
                <a:latin typeface="黑体" panose="02010609060101010101" charset="-122"/>
                <a:ea typeface="黑体" panose="02010609060101010101" charset="-122"/>
                <a:cs typeface="黑体" panose="02010609060101010101" charset="-122"/>
              </a:rPr>
              <a:t>调试</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zh-CN" altLang="en-US" sz="1800" dirty="0">
                <a:solidFill>
                  <a:schemeClr val="tx1"/>
                </a:solidFill>
                <a:latin typeface="黑体" panose="02010609060101010101" charset="-122"/>
                <a:ea typeface="黑体" panose="02010609060101010101" charset="-122"/>
                <a:cs typeface="黑体" panose="02010609060101010101" charset="-122"/>
              </a:rPr>
              <a:t>7.</a:t>
            </a:r>
            <a:r>
              <a:rPr lang="en-US" altLang="zh-CN" sz="1800" dirty="0">
                <a:solidFill>
                  <a:schemeClr val="tx1"/>
                </a:solidFill>
                <a:latin typeface="黑体" panose="02010609060101010101" charset="-122"/>
                <a:ea typeface="黑体" panose="02010609060101010101" charset="-122"/>
                <a:cs typeface="黑体" panose="02010609060101010101" charset="-122"/>
              </a:rPr>
              <a:t>9</a:t>
            </a:r>
            <a:r>
              <a:rPr lang="zh-CN" altLang="en-US" sz="1800" dirty="0">
                <a:solidFill>
                  <a:schemeClr val="tx1"/>
                </a:solidFill>
                <a:latin typeface="黑体" panose="02010609060101010101" charset="-122"/>
                <a:ea typeface="黑体" panose="02010609060101010101" charset="-122"/>
                <a:cs typeface="黑体" panose="02010609060101010101" charset="-122"/>
              </a:rPr>
              <a:t>软件</a:t>
            </a:r>
            <a:r>
              <a:rPr lang="zh-CN" altLang="en-US" sz="1800" dirty="0">
                <a:solidFill>
                  <a:schemeClr val="tx1"/>
                </a:solidFill>
                <a:latin typeface="黑体" panose="02010609060101010101" charset="-122"/>
                <a:ea typeface="黑体" panose="02010609060101010101" charset="-122"/>
                <a:cs typeface="黑体" panose="02010609060101010101" charset="-122"/>
              </a:rPr>
              <a:t>可靠性</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en-US" altLang="zh-CN" sz="1800" dirty="0">
                <a:solidFill>
                  <a:schemeClr val="tx1"/>
                </a:solidFill>
                <a:latin typeface="黑体" panose="02010609060101010101" charset="-122"/>
                <a:ea typeface="黑体" panose="02010609060101010101" charset="-122"/>
                <a:cs typeface="黑体" panose="02010609060101010101" charset="-122"/>
              </a:rPr>
              <a:t>8.1</a:t>
            </a:r>
            <a:r>
              <a:rPr lang="zh-CN" altLang="en-US" sz="1800" dirty="0">
                <a:solidFill>
                  <a:schemeClr val="tx1"/>
                </a:solidFill>
                <a:latin typeface="黑体" panose="02010609060101010101" charset="-122"/>
                <a:ea typeface="黑体" panose="02010609060101010101" charset="-122"/>
                <a:cs typeface="黑体" panose="02010609060101010101" charset="-122"/>
              </a:rPr>
              <a:t>软件维护的</a:t>
            </a:r>
            <a:r>
              <a:rPr lang="zh-CN" altLang="en-US" sz="1800" dirty="0">
                <a:solidFill>
                  <a:schemeClr val="tx1"/>
                </a:solidFill>
                <a:latin typeface="黑体" panose="02010609060101010101" charset="-122"/>
                <a:ea typeface="黑体" panose="02010609060101010101" charset="-122"/>
                <a:cs typeface="黑体" panose="02010609060101010101" charset="-122"/>
              </a:rPr>
              <a:t>定义</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en-US" altLang="zh-CN" sz="1800" dirty="0">
                <a:solidFill>
                  <a:schemeClr val="tx1"/>
                </a:solidFill>
                <a:latin typeface="黑体" panose="02010609060101010101" charset="-122"/>
                <a:ea typeface="黑体" panose="02010609060101010101" charset="-122"/>
                <a:cs typeface="黑体" panose="02010609060101010101" charset="-122"/>
              </a:rPr>
              <a:t>8.2</a:t>
            </a:r>
            <a:r>
              <a:rPr lang="zh-CN" altLang="en-US" sz="1800" dirty="0">
                <a:solidFill>
                  <a:schemeClr val="tx1"/>
                </a:solidFill>
                <a:latin typeface="黑体" panose="02010609060101010101" charset="-122"/>
                <a:ea typeface="黑体" panose="02010609060101010101" charset="-122"/>
                <a:cs typeface="黑体" panose="02010609060101010101" charset="-122"/>
              </a:rPr>
              <a:t>软件维护的</a:t>
            </a:r>
            <a:r>
              <a:rPr lang="zh-CN" altLang="en-US" sz="1800" dirty="0">
                <a:solidFill>
                  <a:schemeClr val="tx1"/>
                </a:solidFill>
                <a:latin typeface="黑体" panose="02010609060101010101" charset="-122"/>
                <a:ea typeface="黑体" panose="02010609060101010101" charset="-122"/>
                <a:cs typeface="黑体" panose="02010609060101010101" charset="-122"/>
              </a:rPr>
              <a:t>特点</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en-US" altLang="zh-CN" sz="1800" dirty="0">
                <a:solidFill>
                  <a:schemeClr val="tx1"/>
                </a:solidFill>
                <a:latin typeface="黑体" panose="02010609060101010101" charset="-122"/>
                <a:ea typeface="黑体" panose="02010609060101010101" charset="-122"/>
                <a:cs typeface="黑体" panose="02010609060101010101" charset="-122"/>
              </a:rPr>
              <a:t>8.3</a:t>
            </a:r>
            <a:r>
              <a:rPr lang="zh-CN" altLang="en-US" sz="1800" dirty="0">
                <a:solidFill>
                  <a:schemeClr val="tx1"/>
                </a:solidFill>
                <a:latin typeface="黑体" panose="02010609060101010101" charset="-122"/>
                <a:ea typeface="黑体" panose="02010609060101010101" charset="-122"/>
                <a:cs typeface="黑体" panose="02010609060101010101" charset="-122"/>
              </a:rPr>
              <a:t>软件维护的</a:t>
            </a:r>
            <a:r>
              <a:rPr lang="zh-CN" altLang="en-US" sz="1800" dirty="0">
                <a:solidFill>
                  <a:schemeClr val="tx1"/>
                </a:solidFill>
                <a:latin typeface="黑体" panose="02010609060101010101" charset="-122"/>
                <a:ea typeface="黑体" panose="02010609060101010101" charset="-122"/>
                <a:cs typeface="黑体" panose="02010609060101010101" charset="-122"/>
              </a:rPr>
              <a:t>过程</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en-US" altLang="zh-CN" sz="1800" dirty="0">
                <a:solidFill>
                  <a:schemeClr val="tx1"/>
                </a:solidFill>
                <a:latin typeface="黑体" panose="02010609060101010101" charset="-122"/>
                <a:ea typeface="黑体" panose="02010609060101010101" charset="-122"/>
                <a:cs typeface="黑体" panose="02010609060101010101" charset="-122"/>
              </a:rPr>
              <a:t>8.4</a:t>
            </a:r>
            <a:r>
              <a:rPr lang="zh-CN" altLang="en-US" sz="1800" dirty="0">
                <a:solidFill>
                  <a:schemeClr val="tx1"/>
                </a:solidFill>
                <a:latin typeface="黑体" panose="02010609060101010101" charset="-122"/>
                <a:ea typeface="黑体" panose="02010609060101010101" charset="-122"/>
                <a:cs typeface="黑体" panose="02010609060101010101" charset="-122"/>
              </a:rPr>
              <a:t>软件的可维护</a:t>
            </a:r>
            <a:r>
              <a:rPr lang="zh-CN" altLang="en-US" sz="1800" dirty="0">
                <a:solidFill>
                  <a:schemeClr val="tx1"/>
                </a:solidFill>
                <a:latin typeface="黑体" panose="02010609060101010101" charset="-122"/>
                <a:ea typeface="黑体" panose="02010609060101010101" charset="-122"/>
                <a:cs typeface="黑体" panose="02010609060101010101" charset="-122"/>
              </a:rPr>
              <a:t>性</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en-US" altLang="zh-CN" sz="1800" dirty="0">
                <a:solidFill>
                  <a:schemeClr val="tx1"/>
                </a:solidFill>
                <a:latin typeface="黑体" panose="02010609060101010101" charset="-122"/>
                <a:ea typeface="黑体" panose="02010609060101010101" charset="-122"/>
                <a:cs typeface="黑体" panose="02010609060101010101" charset="-122"/>
              </a:rPr>
              <a:t>8.5</a:t>
            </a:r>
            <a:r>
              <a:rPr lang="zh-CN" altLang="en-US" sz="1800" dirty="0">
                <a:solidFill>
                  <a:schemeClr val="tx1"/>
                </a:solidFill>
                <a:latin typeface="黑体" panose="02010609060101010101" charset="-122"/>
                <a:ea typeface="黑体" panose="02010609060101010101" charset="-122"/>
                <a:cs typeface="黑体" panose="02010609060101010101" charset="-122"/>
              </a:rPr>
              <a:t>预防性</a:t>
            </a:r>
            <a:r>
              <a:rPr lang="zh-CN" altLang="en-US" sz="1800" dirty="0">
                <a:solidFill>
                  <a:schemeClr val="tx1"/>
                </a:solidFill>
                <a:latin typeface="黑体" panose="02010609060101010101" charset="-122"/>
                <a:ea typeface="黑体" panose="02010609060101010101" charset="-122"/>
                <a:cs typeface="黑体" panose="02010609060101010101" charset="-122"/>
              </a:rPr>
              <a:t>维护</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en-US" altLang="zh-CN" sz="1800" dirty="0">
                <a:solidFill>
                  <a:schemeClr val="tx1"/>
                </a:solidFill>
                <a:latin typeface="黑体" panose="02010609060101010101" charset="-122"/>
                <a:ea typeface="黑体" panose="02010609060101010101" charset="-122"/>
                <a:cs typeface="黑体" panose="02010609060101010101" charset="-122"/>
              </a:rPr>
              <a:t>8.6</a:t>
            </a:r>
            <a:r>
              <a:rPr lang="zh-CN" altLang="en-US" sz="1800" dirty="0">
                <a:solidFill>
                  <a:schemeClr val="tx1"/>
                </a:solidFill>
                <a:latin typeface="黑体" panose="02010609060101010101" charset="-122"/>
                <a:ea typeface="黑体" panose="02010609060101010101" charset="-122"/>
                <a:cs typeface="黑体" panose="02010609060101010101" charset="-122"/>
              </a:rPr>
              <a:t>软件再工程</a:t>
            </a:r>
            <a:r>
              <a:rPr lang="zh-CN" altLang="en-US" sz="1800" dirty="0">
                <a:solidFill>
                  <a:schemeClr val="tx1"/>
                </a:solidFill>
                <a:latin typeface="黑体" panose="02010609060101010101" charset="-122"/>
                <a:ea typeface="黑体" panose="02010609060101010101" charset="-122"/>
                <a:cs typeface="黑体" panose="02010609060101010101" charset="-122"/>
              </a:rPr>
              <a:t>过程</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endParaRPr lang="zh-CN" sz="1800" dirty="0">
              <a:latin typeface="黑体" panose="02010609060101010101" charset="-122"/>
              <a:ea typeface="黑体" panose="02010609060101010101" charset="-122"/>
              <a:cs typeface="黑体" panose="02010609060101010101"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8883" y="857251"/>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107315"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r>
              <a:rPr lang="zh-CN" altLang="en-US" sz="2800" dirty="0">
                <a:latin typeface="黑体" panose="02010609060101010101" charset="-122"/>
                <a:ea typeface="黑体" panose="02010609060101010101" charset="-122"/>
                <a:cs typeface="黑体" panose="02010609060101010101" charset="-122"/>
                <a:sym typeface="+mn-ea"/>
              </a:rPr>
              <a:t>7.7黑盒测试技术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a:p>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1127125" y="1288415"/>
            <a:ext cx="7292340" cy="384365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黑盒测试力图发现下述类型的错误：</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marL="0" lvl="0" indent="0">
              <a:buFont typeface="Wingdings" panose="05000000000000000000" charset="0"/>
              <a:buNone/>
            </a:pP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a:t>
            </a: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1</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）功能不正确或遗漏了功能</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marL="0" lvl="0" indent="0">
              <a:buFont typeface="Wingdings" panose="05000000000000000000" charset="0"/>
              <a:buNone/>
            </a:pP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a:t>
            </a: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2</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）界面错误</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marL="0" lvl="0" indent="0">
              <a:buFont typeface="Wingdings" panose="05000000000000000000" charset="0"/>
              <a:buNone/>
            </a:pP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a:t>
            </a: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3</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）数据结构错误或外部数据库访问错误</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marL="0" lvl="0" indent="0">
              <a:buFont typeface="Wingdings" panose="05000000000000000000" charset="0"/>
              <a:buNone/>
            </a:pP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a:t>
            </a: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4</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）性能错误</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marL="0" lvl="0" indent="0">
              <a:buFont typeface="Wingdings" panose="05000000000000000000" charset="0"/>
              <a:buNone/>
            </a:pP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a:t>
            </a: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5</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）初始化和终止错误</a:t>
            </a:r>
            <a:endParaRPr lang="en-US" altLang="zh-CN" sz="2000" dirty="0">
              <a:solidFill>
                <a:schemeClr val="tx1"/>
              </a:solidFill>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						</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8883" y="857251"/>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107315"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r>
              <a:rPr lang="zh-CN" altLang="en-US" sz="2800" dirty="0">
                <a:latin typeface="黑体" panose="02010609060101010101" charset="-122"/>
                <a:ea typeface="黑体" panose="02010609060101010101" charset="-122"/>
                <a:cs typeface="黑体" panose="02010609060101010101" charset="-122"/>
                <a:sym typeface="+mn-ea"/>
              </a:rPr>
              <a:t>7.7黑盒测试技术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a:p>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1127125" y="1288415"/>
            <a:ext cx="7292340" cy="384365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7.7.1</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等价划分</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等价划分是一种黑盒测试技术，这种技术把程序的输入域划分成若干个数据类，据此导出测试用例。一个理想的测试用例能肚子发现一类错误</a:t>
            </a: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						</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8883" y="857251"/>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107315"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r>
              <a:rPr lang="zh-CN" altLang="en-US" sz="2800" dirty="0">
                <a:latin typeface="黑体" panose="02010609060101010101" charset="-122"/>
                <a:ea typeface="黑体" panose="02010609060101010101" charset="-122"/>
                <a:cs typeface="黑体" panose="02010609060101010101" charset="-122"/>
                <a:sym typeface="+mn-ea"/>
              </a:rPr>
              <a:t>7.7黑盒测试技术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a:p>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1127125" y="1288415"/>
            <a:ext cx="7292340" cy="384365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7.7.2</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边界值分析</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sz="2000" dirty="0">
                <a:solidFill>
                  <a:schemeClr val="tx1"/>
                </a:solidFill>
                <a:latin typeface="黑体" panose="02010609060101010101" charset="-122"/>
                <a:ea typeface="黑体" panose="02010609060101010101" charset="-122"/>
                <a:cs typeface="黑体" panose="02010609060101010101" charset="-122"/>
                <a:sym typeface="+mn-ea"/>
              </a:rPr>
              <a:t>使用边界值分析方法设计测试方案首先应该确定边界情况，通常输入等价类和输出等价类的边界，就是应该着重测试的程序边界情况。</a:t>
            </a:r>
            <a:endParaRPr lang="zh-CN" sz="2000" dirty="0">
              <a:solidFill>
                <a:schemeClr val="tx1"/>
              </a:solidFill>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sz="2000" dirty="0">
                <a:solidFill>
                  <a:schemeClr val="tx1"/>
                </a:solidFill>
                <a:latin typeface="黑体" panose="02010609060101010101" charset="-122"/>
                <a:ea typeface="黑体" panose="02010609060101010101" charset="-122"/>
                <a:cs typeface="黑体" panose="02010609060101010101" charset="-122"/>
                <a:sym typeface="+mn-ea"/>
              </a:rPr>
              <a:t>通常设计测试方案是总是联合使用等价划分和边界值分析两种技术</a:t>
            </a: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	.				</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8883" y="857251"/>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107315"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r>
              <a:rPr lang="zh-CN" altLang="en-US" sz="2800" dirty="0">
                <a:latin typeface="黑体" panose="02010609060101010101" charset="-122"/>
                <a:ea typeface="黑体" panose="02010609060101010101" charset="-122"/>
                <a:cs typeface="黑体" panose="02010609060101010101" charset="-122"/>
                <a:sym typeface="+mn-ea"/>
              </a:rPr>
              <a:t>7.7黑盒测试技术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a:p>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1127125" y="1288415"/>
            <a:ext cx="7292340" cy="384365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7.7.3</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错误推测</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因为程序输入组合的复杂性，必须依靠测试人员的经验和直觉，从各种可能的测试方案中选出一些最可能引起程序错误的方案。对于程序中可能存在哪类错误的推测，是挑选测试方案时的一个重要因素。</a:t>
            </a: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	.				</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8883" y="857251"/>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107315"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r>
              <a:rPr lang="zh-CN" altLang="en-US" sz="2800" dirty="0">
                <a:latin typeface="黑体" panose="02010609060101010101" charset="-122"/>
                <a:ea typeface="黑体" panose="02010609060101010101" charset="-122"/>
                <a:cs typeface="黑体" panose="02010609060101010101" charset="-122"/>
                <a:sym typeface="+mn-ea"/>
              </a:rPr>
              <a:t>7.</a:t>
            </a:r>
            <a:r>
              <a:rPr lang="en-US" altLang="zh-CN" sz="2800" dirty="0">
                <a:latin typeface="黑体" panose="02010609060101010101" charset="-122"/>
                <a:ea typeface="黑体" panose="02010609060101010101" charset="-122"/>
                <a:cs typeface="黑体" panose="02010609060101010101" charset="-122"/>
                <a:sym typeface="+mn-ea"/>
              </a:rPr>
              <a:t>8</a:t>
            </a:r>
            <a:r>
              <a:rPr lang="zh-CN" altLang="en-US" sz="2800" dirty="0">
                <a:latin typeface="黑体" panose="02010609060101010101" charset="-122"/>
                <a:ea typeface="黑体" panose="02010609060101010101" charset="-122"/>
                <a:cs typeface="黑体" panose="02010609060101010101" charset="-122"/>
                <a:sym typeface="+mn-ea"/>
              </a:rPr>
              <a:t>调试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a:p>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1127125" y="1288415"/>
            <a:ext cx="7292340" cy="384365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调试时在测试发现错误之后排除错误的过程</a:t>
            </a:r>
            <a:endParaRPr lang="en-US" altLang="zh-CN" sz="2000" dirty="0">
              <a:solidFill>
                <a:schemeClr val="tx1"/>
              </a:solidFill>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						</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p:txBody>
      </p:sp>
      <p:sp>
        <p:nvSpPr>
          <p:cNvPr id="3" name="文本框 2"/>
          <p:cNvSpPr txBox="1"/>
          <p:nvPr>
            <p:custDataLst>
              <p:tags r:id="rId8"/>
            </p:custDataLst>
          </p:nvPr>
        </p:nvSpPr>
        <p:spPr>
          <a:xfrm>
            <a:off x="1188085" y="1988820"/>
            <a:ext cx="7292340" cy="384365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7.8.1</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调试过程</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调试过程总会有以下两种结果之一：</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①找到了问题的原因并把问题改正和排除掉了</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②没找出问题的原因</a:t>
            </a: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	.				</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8883" y="857251"/>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107315"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r>
              <a:rPr lang="zh-CN" altLang="en-US" sz="2800" dirty="0">
                <a:latin typeface="黑体" panose="02010609060101010101" charset="-122"/>
                <a:ea typeface="黑体" panose="02010609060101010101" charset="-122"/>
                <a:cs typeface="黑体" panose="02010609060101010101" charset="-122"/>
                <a:sym typeface="+mn-ea"/>
              </a:rPr>
              <a:t>7.</a:t>
            </a:r>
            <a:r>
              <a:rPr lang="en-US" altLang="zh-CN" sz="2800" dirty="0">
                <a:latin typeface="黑体" panose="02010609060101010101" charset="-122"/>
                <a:ea typeface="黑体" panose="02010609060101010101" charset="-122"/>
                <a:cs typeface="黑体" panose="02010609060101010101" charset="-122"/>
                <a:sym typeface="+mn-ea"/>
              </a:rPr>
              <a:t>8</a:t>
            </a:r>
            <a:r>
              <a:rPr lang="zh-CN" altLang="en-US" sz="2800" dirty="0">
                <a:latin typeface="黑体" panose="02010609060101010101" charset="-122"/>
                <a:ea typeface="黑体" panose="02010609060101010101" charset="-122"/>
                <a:cs typeface="黑体" panose="02010609060101010101" charset="-122"/>
                <a:sym typeface="+mn-ea"/>
              </a:rPr>
              <a:t>调试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a:p>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3" name="文本框 2"/>
          <p:cNvSpPr txBox="1"/>
          <p:nvPr>
            <p:custDataLst>
              <p:tags r:id="rId7"/>
            </p:custDataLst>
          </p:nvPr>
        </p:nvSpPr>
        <p:spPr>
          <a:xfrm>
            <a:off x="1259840" y="909320"/>
            <a:ext cx="7292340" cy="384365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7.8.2</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调试途径</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en-US" sz="2000" dirty="0">
                <a:solidFill>
                  <a:schemeClr val="tx1"/>
                </a:solidFill>
                <a:latin typeface="黑体" panose="02010609060101010101" charset="-122"/>
                <a:ea typeface="黑体" panose="02010609060101010101" charset="-122"/>
                <a:cs typeface="黑体" panose="02010609060101010101" charset="-122"/>
                <a:sym typeface="+mn-ea"/>
              </a:rPr>
              <a:t>1.</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蛮干法</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dirty="0">
                <a:solidFill>
                  <a:schemeClr val="tx1"/>
                </a:solidFill>
                <a:latin typeface="宋体" panose="02010600030101010101" pitchFamily="2" charset="-122"/>
                <a:cs typeface="黑体" panose="02010609060101010101" charset="-122"/>
                <a:sym typeface="+mn-ea"/>
              </a:rPr>
              <a:t>可能是寻找软件错误原因的最低效的方法</a:t>
            </a:r>
            <a:endParaRPr lang="zh-CN" altLang="en-US" dirty="0">
              <a:solidFill>
                <a:schemeClr val="tx1"/>
              </a:solidFill>
              <a:latin typeface="宋体" panose="02010600030101010101" pitchFamily="2" charset="-122"/>
              <a:cs typeface="黑体" panose="02010609060101010101" charset="-122"/>
              <a:sym typeface="+mn-ea"/>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2.</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回溯法</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dirty="0">
                <a:solidFill>
                  <a:schemeClr val="tx1"/>
                </a:solidFill>
                <a:latin typeface="+mn-ea"/>
                <a:ea typeface="+mn-ea"/>
                <a:cs typeface="黑体" panose="02010609060101010101" charset="-122"/>
                <a:sym typeface="+mn-ea"/>
              </a:rPr>
              <a:t>回溯是一种相当常见的调试方法，当调试小程序时这种方法是有效的</a:t>
            </a:r>
            <a:endParaRPr lang="zh-CN" altLang="en-US" dirty="0">
              <a:solidFill>
                <a:schemeClr val="tx1"/>
              </a:solidFill>
              <a:latin typeface="+mn-ea"/>
              <a:ea typeface="+mn-ea"/>
              <a:cs typeface="黑体" panose="02010609060101010101" charset="-122"/>
              <a:sym typeface="+mn-ea"/>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3.</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原因排除法</a:t>
            </a: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	</a:t>
            </a:r>
            <a:endParaRPr lang="en-US" altLang="zh-CN" sz="2000" dirty="0">
              <a:solidFill>
                <a:schemeClr val="tx1"/>
              </a:solidFill>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dirty="0">
                <a:solidFill>
                  <a:schemeClr val="tx1"/>
                </a:solidFill>
                <a:latin typeface="+mn-ea"/>
                <a:ea typeface="+mn-ea"/>
                <a:cs typeface="黑体" panose="02010609060101010101" charset="-122"/>
                <a:sym typeface="+mn-ea"/>
              </a:rPr>
              <a:t>对分查找法、归纳法和演绎法都属于原因排除法</a:t>
            </a:r>
            <a:endParaRPr lang="en-US" altLang="zh-CN" dirty="0">
              <a:solidFill>
                <a:schemeClr val="tx1"/>
              </a:solidFill>
              <a:latin typeface="+mn-ea"/>
              <a:ea typeface="+mn-ea"/>
              <a:cs typeface="黑体" panose="02010609060101010101" charset="-122"/>
              <a:sym typeface="+mn-ea"/>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			</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grpSp>
        <p:nvGrpSpPr>
          <p:cNvPr id="18" name="组合 17"/>
          <p:cNvGrpSpPr>
            <a:grpSpLocks noChangeAspect="1"/>
          </p:cNvGrpSpPr>
          <p:nvPr>
            <p:custDataLst>
              <p:tags r:id="rId3"/>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3076" name="文本框 2"/>
          <p:cNvSpPr txBox="1"/>
          <p:nvPr>
            <p:custDataLst>
              <p:tags r:id="rId4"/>
            </p:custDataLst>
          </p:nvPr>
        </p:nvSpPr>
        <p:spPr>
          <a:xfrm>
            <a:off x="179388" y="260350"/>
            <a:ext cx="2719387" cy="625475"/>
          </a:xfrm>
          <a:prstGeom prst="rect">
            <a:avLst/>
          </a:prstGeom>
          <a:noFill/>
          <a:ln w="9525">
            <a:noFill/>
          </a:ln>
        </p:spPr>
        <p:txBody>
          <a:bodyPr wrap="square" lIns="76200" tIns="0" rIns="61912" bIns="0" anchor="t" anchorCtr="0"/>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7.</a:t>
            </a:r>
            <a:r>
              <a:rPr lang="en-US" altLang="zh-CN" sz="2800" dirty="0">
                <a:latin typeface="黑体" panose="02010609060101010101" charset="-122"/>
                <a:ea typeface="黑体" panose="02010609060101010101" charset="-122"/>
                <a:cs typeface="黑体" panose="02010609060101010101" charset="-122"/>
                <a:sym typeface="+mn-ea"/>
              </a:rPr>
              <a:t>9</a:t>
            </a:r>
            <a:r>
              <a:rPr lang="zh-CN" altLang="en-US" sz="2800" dirty="0">
                <a:latin typeface="黑体" panose="02010609060101010101" charset="-122"/>
                <a:ea typeface="黑体" panose="02010609060101010101" charset="-122"/>
                <a:cs typeface="黑体" panose="02010609060101010101" charset="-122"/>
                <a:sym typeface="+mn-ea"/>
              </a:rPr>
              <a:t>软件可靠性</a:t>
            </a:r>
            <a:endParaRPr lang="zh-CN" altLang="en-US" sz="2800" dirty="0">
              <a:latin typeface="黑体" panose="02010609060101010101" charset="-122"/>
              <a:ea typeface="黑体" panose="02010609060101010101" charset="-122"/>
            </a:endParaRPr>
          </a:p>
        </p:txBody>
      </p:sp>
      <p:sp>
        <p:nvSpPr>
          <p:cNvPr id="3077" name="文本框 5"/>
          <p:cNvSpPr txBox="1"/>
          <p:nvPr>
            <p:custDataLst>
              <p:tags r:id="rId5"/>
            </p:custDataLst>
          </p:nvPr>
        </p:nvSpPr>
        <p:spPr>
          <a:xfrm>
            <a:off x="1115695" y="1052513"/>
            <a:ext cx="7700963" cy="5011737"/>
          </a:xfrm>
          <a:prstGeom prst="rect">
            <a:avLst/>
          </a:prstGeom>
          <a:noFill/>
          <a:ln w="9525">
            <a:noFill/>
          </a:ln>
        </p:spPr>
        <p:txBody>
          <a:bodyPr wrap="square" lIns="76200" tIns="0" rIns="61912" bIns="0" anchor="t" anchorCtr="0"/>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7.9.1</a:t>
            </a:r>
            <a:r>
              <a:rPr lang="zh-CN" altLang="en-US" sz="2000" dirty="0">
                <a:latin typeface="黑体" panose="02010609060101010101" charset="-122"/>
                <a:ea typeface="黑体" panose="02010609060101010101" charset="-122"/>
                <a:cs typeface="黑体" panose="02010609060101010101" charset="-122"/>
                <a:sym typeface="+mn-ea"/>
              </a:rPr>
              <a:t>基本概念：</a:t>
            </a:r>
            <a:endParaRPr lang="zh-CN" altLang="en-US"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endParaRPr lang="zh-CN" altLang="en-US"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1.</a:t>
            </a:r>
            <a:r>
              <a:rPr lang="zh-CN" altLang="en-US" sz="2000" dirty="0">
                <a:latin typeface="黑体" panose="02010609060101010101" charset="-122"/>
                <a:ea typeface="黑体" panose="02010609060101010101" charset="-122"/>
                <a:cs typeface="黑体" panose="02010609060101010101" charset="-122"/>
                <a:sym typeface="+mn-ea"/>
              </a:rPr>
              <a:t>软件可靠性的定义：</a:t>
            </a:r>
            <a:endParaRPr lang="zh-CN" altLang="en-US" sz="2000" dirty="0">
              <a:latin typeface="黑体" panose="02010609060101010101" charset="-122"/>
              <a:ea typeface="黑体" panose="02010609060101010101" charset="-122"/>
              <a:cs typeface="黑体" panose="02010609060101010101" charset="-122"/>
              <a:sym typeface="+mn-ea"/>
            </a:endParaRPr>
          </a:p>
          <a:p>
            <a:pPr indent="457200">
              <a:buFont typeface="Wingdings" panose="05000000000000000000" charset="0"/>
            </a:pPr>
            <a:r>
              <a:rPr lang="zh-CN" altLang="en-US" sz="2000" dirty="0">
                <a:latin typeface="黑体" panose="02010609060101010101" charset="-122"/>
                <a:ea typeface="黑体" panose="02010609060101010101" charset="-122"/>
                <a:cs typeface="黑体" panose="02010609060101010101" charset="-122"/>
                <a:sym typeface="+mn-ea"/>
              </a:rPr>
              <a:t>软件可靠性是程序在给定时间间隔内，按照规格说明书的规定成功地运行的概率</a:t>
            </a:r>
            <a:endParaRPr lang="zh-CN" altLang="en-US" sz="2000" dirty="0">
              <a:latin typeface="黑体" panose="02010609060101010101" charset="-122"/>
              <a:ea typeface="黑体" panose="02010609060101010101" charset="-122"/>
              <a:cs typeface="黑体" panose="02010609060101010101" charset="-122"/>
              <a:sym typeface="+mn-ea"/>
            </a:endParaRPr>
          </a:p>
          <a:p>
            <a:pPr indent="457200">
              <a:buFont typeface="Wingdings" panose="05000000000000000000" charset="0"/>
            </a:pPr>
            <a:endParaRPr lang="zh-CN" altLang="en-US" sz="1800" dirty="0">
              <a:latin typeface="黑体" panose="02010609060101010101" charset="-122"/>
              <a:ea typeface="黑体" panose="02010609060101010101" charset="-122"/>
              <a:cs typeface="黑体" panose="02010609060101010101" charset="-122"/>
              <a:sym typeface="+mn-ea"/>
            </a:endParaRPr>
          </a:p>
          <a:p>
            <a:pPr marL="0" lvl="0" indent="0">
              <a:buFont typeface="Wingdings" panose="05000000000000000000" charset="0"/>
              <a:buNone/>
            </a:pP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2.</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软件可用性的定义：</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marL="0" lvl="0" indent="457200">
              <a:buFont typeface="Wingdings" panose="05000000000000000000" charset="0"/>
              <a:buNone/>
            </a:pP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软件可用性是程序在给定的时间点，按照规格说明书的规定，成功地运行的概率</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marL="0" lvl="0" indent="457200">
              <a:buFont typeface="Wingdings" panose="05000000000000000000" charset="0"/>
              <a:buNone/>
            </a:pP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marL="0" lvl="0" indent="457200">
              <a:buFont typeface="Wingdings" panose="05000000000000000000" charset="0"/>
              <a:buNone/>
            </a:pP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marL="0" lvl="0" indent="0">
              <a:buFont typeface="Wingdings" panose="05000000000000000000" charset="0"/>
              <a:buNone/>
            </a:pP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主要差别：可靠性意味着在</a:t>
            </a: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0</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到</a:t>
            </a: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t</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这段时间间隔内系统没有失效，而可用性只意味着在时刻</a:t>
            </a: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t</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，系统是正常运行的</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endParaRPr lang="zh-CN" altLang="en-US" sz="18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endParaRPr lang="zh-CN" altLang="en-US" sz="1800" dirty="0">
              <a:latin typeface="黑体" panose="02010609060101010101" charset="-122"/>
              <a:ea typeface="黑体" panose="02010609060101010101" charset="-122"/>
              <a:cs typeface="黑体" panose="02010609060101010101" charset="-122"/>
              <a:sym typeface="+mn-ea"/>
            </a:endParaRPr>
          </a:p>
        </p:txBody>
      </p:sp>
    </p:spTree>
    <p:custDataLst>
      <p:tags r:id="rId6"/>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grpSp>
        <p:nvGrpSpPr>
          <p:cNvPr id="18" name="组合 17"/>
          <p:cNvGrpSpPr>
            <a:grpSpLocks noChangeAspect="1"/>
          </p:cNvGrpSpPr>
          <p:nvPr>
            <p:custDataLst>
              <p:tags r:id="rId3"/>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3076" name="文本框 2"/>
          <p:cNvSpPr txBox="1"/>
          <p:nvPr>
            <p:custDataLst>
              <p:tags r:id="rId4"/>
            </p:custDataLst>
          </p:nvPr>
        </p:nvSpPr>
        <p:spPr>
          <a:xfrm>
            <a:off x="179388" y="260350"/>
            <a:ext cx="2719387" cy="625475"/>
          </a:xfrm>
          <a:prstGeom prst="rect">
            <a:avLst/>
          </a:prstGeom>
          <a:noFill/>
          <a:ln w="9525">
            <a:noFill/>
          </a:ln>
        </p:spPr>
        <p:txBody>
          <a:bodyPr wrap="square" lIns="76200" tIns="0" rIns="61912" bIns="0" anchor="t" anchorCtr="0"/>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7.</a:t>
            </a:r>
            <a:r>
              <a:rPr lang="en-US" altLang="zh-CN" sz="2800" dirty="0">
                <a:latin typeface="黑体" panose="02010609060101010101" charset="-122"/>
                <a:ea typeface="黑体" panose="02010609060101010101" charset="-122"/>
                <a:cs typeface="黑体" panose="02010609060101010101" charset="-122"/>
                <a:sym typeface="+mn-ea"/>
              </a:rPr>
              <a:t>9</a:t>
            </a:r>
            <a:r>
              <a:rPr lang="zh-CN" altLang="en-US" sz="2800" dirty="0">
                <a:latin typeface="黑体" panose="02010609060101010101" charset="-122"/>
                <a:ea typeface="黑体" panose="02010609060101010101" charset="-122"/>
                <a:cs typeface="黑体" panose="02010609060101010101" charset="-122"/>
                <a:sym typeface="+mn-ea"/>
              </a:rPr>
              <a:t>软件可靠性</a:t>
            </a:r>
            <a:endParaRPr lang="zh-CN" altLang="en-US" sz="2800" dirty="0">
              <a:latin typeface="黑体" panose="02010609060101010101" charset="-122"/>
              <a:ea typeface="黑体" panose="02010609060101010101" charset="-122"/>
            </a:endParaRPr>
          </a:p>
        </p:txBody>
      </p:sp>
      <p:sp>
        <p:nvSpPr>
          <p:cNvPr id="3077" name="文本框 5"/>
          <p:cNvSpPr txBox="1"/>
          <p:nvPr>
            <p:custDataLst>
              <p:tags r:id="rId5"/>
            </p:custDataLst>
          </p:nvPr>
        </p:nvSpPr>
        <p:spPr>
          <a:xfrm>
            <a:off x="1115695" y="1052513"/>
            <a:ext cx="7700963" cy="5011737"/>
          </a:xfrm>
          <a:prstGeom prst="rect">
            <a:avLst/>
          </a:prstGeom>
          <a:noFill/>
          <a:ln w="9525">
            <a:noFill/>
          </a:ln>
        </p:spPr>
        <p:txBody>
          <a:bodyPr wrap="square" lIns="76200" tIns="0" rIns="61912" bIns="0" anchor="t" anchorCtr="0"/>
          <a:p>
            <a:pPr>
              <a:buFont typeface="Wingdings" panose="05000000000000000000" charset="0"/>
            </a:pPr>
            <a:r>
              <a:rPr lang="zh-CN" altLang="en-US" sz="2000" dirty="0">
                <a:latin typeface="黑体" panose="02010609060101010101" charset="-122"/>
                <a:ea typeface="黑体" panose="02010609060101010101" charset="-122"/>
                <a:cs typeface="黑体" panose="02010609060101010101" charset="-122"/>
                <a:sym typeface="+mn-ea"/>
              </a:rPr>
              <a:t>软件的平均无故障时间</a:t>
            </a:r>
            <a:r>
              <a:rPr lang="en-US" altLang="zh-CN" sz="2000" dirty="0">
                <a:latin typeface="黑体" panose="02010609060101010101" charset="-122"/>
                <a:ea typeface="黑体" panose="02010609060101010101" charset="-122"/>
                <a:cs typeface="黑体" panose="02010609060101010101" charset="-122"/>
                <a:sym typeface="+mn-ea"/>
              </a:rPr>
              <a:t>MTTF</a:t>
            </a:r>
            <a:r>
              <a:rPr lang="zh-CN" altLang="en-US" sz="2000" dirty="0">
                <a:latin typeface="黑体" panose="02010609060101010101" charset="-122"/>
                <a:ea typeface="黑体" panose="02010609060101010101" charset="-122"/>
                <a:cs typeface="黑体" panose="02010609060101010101" charset="-122"/>
                <a:sym typeface="+mn-ea"/>
              </a:rPr>
              <a:t>是一个重要的质量指标</a:t>
            </a:r>
            <a:endParaRPr lang="en-US"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en-US" sz="2000" dirty="0">
                <a:latin typeface="黑体" panose="02010609060101010101" charset="-122"/>
                <a:ea typeface="黑体" panose="02010609060101010101" charset="-122"/>
                <a:cs typeface="黑体" panose="02010609060101010101" charset="-122"/>
                <a:sym typeface="+mn-ea"/>
              </a:rPr>
              <a:t>1.</a:t>
            </a:r>
            <a:r>
              <a:rPr lang="zh-CN" altLang="en-US" sz="2000" dirty="0">
                <a:latin typeface="黑体" panose="02010609060101010101" charset="-122"/>
                <a:ea typeface="黑体" panose="02010609060101010101" charset="-122"/>
                <a:cs typeface="黑体" panose="02010609060101010101" charset="-122"/>
                <a:sym typeface="+mn-ea"/>
              </a:rPr>
              <a:t>符号</a:t>
            </a:r>
            <a:endParaRPr lang="zh-CN" altLang="en-US" sz="2000" dirty="0">
              <a:latin typeface="黑体" panose="02010609060101010101" charset="-122"/>
              <a:ea typeface="黑体" panose="02010609060101010101" charset="-122"/>
              <a:cs typeface="黑体" panose="02010609060101010101" charset="-122"/>
              <a:sym typeface="+mn-ea"/>
            </a:endParaRPr>
          </a:p>
          <a:p>
            <a:pPr lvl="1">
              <a:buClr>
                <a:schemeClr val="tx2"/>
              </a:buClr>
            </a:pPr>
            <a:r>
              <a:rPr lang="zh-CN" altLang="en-US" sz="1600">
                <a:sym typeface="+mn-ea"/>
              </a:rPr>
              <a:t>E</a:t>
            </a:r>
            <a:r>
              <a:rPr lang="zh-CN" altLang="en-US" sz="1600" baseline="-25000">
                <a:sym typeface="+mn-ea"/>
              </a:rPr>
              <a:t>T  </a:t>
            </a:r>
            <a:r>
              <a:rPr lang="zh-CN" altLang="en-US" sz="1600">
                <a:sym typeface="+mn-ea"/>
              </a:rPr>
              <a:t>—— 测试之前程序中错误总数</a:t>
            </a:r>
            <a:endParaRPr lang="zh-CN" altLang="en-US" sz="1600"/>
          </a:p>
          <a:p>
            <a:pPr lvl="1">
              <a:buClr>
                <a:schemeClr val="tx2"/>
              </a:buClr>
            </a:pPr>
            <a:r>
              <a:rPr lang="zh-CN" altLang="en-US" sz="1600">
                <a:sym typeface="+mn-ea"/>
              </a:rPr>
              <a:t>I</a:t>
            </a:r>
            <a:r>
              <a:rPr lang="zh-CN" altLang="en-US" sz="1600" baseline="-25000">
                <a:sym typeface="+mn-ea"/>
              </a:rPr>
              <a:t>T</a:t>
            </a:r>
            <a:r>
              <a:rPr lang="zh-CN" altLang="en-US" sz="1600">
                <a:sym typeface="+mn-ea"/>
              </a:rPr>
              <a:t> —— 程序长度（机器指令总数）</a:t>
            </a:r>
            <a:endParaRPr lang="zh-CN" altLang="en-US" sz="1600"/>
          </a:p>
          <a:p>
            <a:pPr lvl="1">
              <a:buClr>
                <a:schemeClr val="tx2"/>
              </a:buClr>
            </a:pPr>
            <a:r>
              <a:rPr lang="zh-CN" altLang="en-US" sz="1600">
                <a:latin typeface="Arial" panose="020B0604020202020204"/>
                <a:sym typeface="Arial" panose="020B0604020202020204"/>
              </a:rPr>
              <a:t>Ʈ —— 测试时间</a:t>
            </a:r>
            <a:endParaRPr lang="zh-CN" altLang="en-US" sz="1600">
              <a:latin typeface="Arial" panose="020B0604020202020204"/>
              <a:sym typeface="Arial" panose="020B0604020202020204"/>
            </a:endParaRPr>
          </a:p>
          <a:p>
            <a:pPr lvl="1">
              <a:buClr>
                <a:schemeClr val="tx2"/>
              </a:buClr>
            </a:pPr>
            <a:r>
              <a:rPr lang="zh-CN" altLang="en-US" sz="1600">
                <a:latin typeface="Arial" panose="020B0604020202020204"/>
                <a:sym typeface="Arial" panose="020B0604020202020204"/>
              </a:rPr>
              <a:t>Ed（Ʈ）—— 在0至Ʈ之间发现的错误数</a:t>
            </a:r>
            <a:endParaRPr lang="zh-CN" altLang="en-US" sz="1600">
              <a:latin typeface="Arial" panose="020B0604020202020204"/>
              <a:sym typeface="Arial" panose="020B0604020202020204"/>
            </a:endParaRPr>
          </a:p>
          <a:p>
            <a:pPr lvl="1">
              <a:buClr>
                <a:schemeClr val="tx2"/>
              </a:buClr>
            </a:pPr>
            <a:r>
              <a:rPr lang="zh-CN" altLang="en-US" sz="1600">
                <a:latin typeface="Arial" panose="020B0604020202020204"/>
                <a:sym typeface="Arial" panose="020B0604020202020204"/>
              </a:rPr>
              <a:t>Ec（Ʈ）—— 在0至Ʈ之间改正的错误数</a:t>
            </a:r>
            <a:endParaRPr lang="zh-CN" altLang="en-US" sz="1600">
              <a:latin typeface="Arial" panose="020B0604020202020204"/>
              <a:sym typeface="Arial" panose="020B0604020202020204"/>
            </a:endParaRPr>
          </a:p>
          <a:p>
            <a:pPr lvl="1">
              <a:buClr>
                <a:schemeClr val="tx2"/>
              </a:buClr>
            </a:pPr>
            <a:r>
              <a:rPr lang="zh-CN" altLang="en-US" sz="1600">
                <a:latin typeface="Arial" panose="020B0604020202020204"/>
                <a:sym typeface="Arial" panose="020B0604020202020204"/>
              </a:rPr>
              <a:t>Er（Ʈ）——  剩余的错误数</a:t>
            </a:r>
            <a:endParaRPr lang="zh-CN" altLang="en-US" sz="1600">
              <a:latin typeface="Arial" panose="020B0604020202020204"/>
              <a:sym typeface="Arial" panose="020B0604020202020204"/>
            </a:endParaRPr>
          </a:p>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2.</a:t>
            </a:r>
            <a:r>
              <a:rPr lang="zh-CN" altLang="en-US" sz="2000" dirty="0">
                <a:latin typeface="黑体" panose="02010609060101010101" charset="-122"/>
                <a:ea typeface="黑体" panose="02010609060101010101" charset="-122"/>
                <a:cs typeface="黑体" panose="02010609060101010101" charset="-122"/>
                <a:sym typeface="+mn-ea"/>
              </a:rPr>
              <a:t>基本假定</a:t>
            </a:r>
            <a:endParaRPr lang="zh-CN" altLang="en-US" sz="2000" dirty="0">
              <a:latin typeface="黑体" panose="02010609060101010101" charset="-122"/>
              <a:ea typeface="黑体" panose="02010609060101010101" charset="-122"/>
              <a:cs typeface="黑体" panose="02010609060101010101" charset="-122"/>
              <a:sym typeface="+mn-ea"/>
            </a:endParaRPr>
          </a:p>
          <a:p>
            <a:pPr>
              <a:buClr>
                <a:schemeClr val="tx2"/>
              </a:buClr>
            </a:pPr>
            <a:r>
              <a:rPr lang="zh-CN" altLang="en-US" sz="1600">
                <a:sym typeface="+mn-ea"/>
              </a:rPr>
              <a:t>（1）根据经验数据，单位长度里的错误数E</a:t>
            </a:r>
            <a:r>
              <a:rPr lang="zh-CN" altLang="en-US" sz="1600" baseline="-25000">
                <a:sym typeface="+mn-ea"/>
              </a:rPr>
              <a:t>T</a:t>
            </a:r>
            <a:r>
              <a:rPr lang="zh-CN" altLang="en-US" sz="1600">
                <a:sym typeface="+mn-ea"/>
              </a:rPr>
              <a:t>/I</a:t>
            </a:r>
            <a:r>
              <a:rPr lang="zh-CN" altLang="en-US" sz="1600" baseline="-25000">
                <a:sym typeface="+mn-ea"/>
              </a:rPr>
              <a:t>T</a:t>
            </a:r>
            <a:r>
              <a:rPr lang="zh-CN" altLang="en-US" sz="1600">
                <a:sym typeface="+mn-ea"/>
              </a:rPr>
              <a:t> 近似为常数。统计表明，在测试之前每1000条指令中大约有5-20个错误。</a:t>
            </a:r>
            <a:endParaRPr lang="zh-CN" altLang="en-US" sz="1600"/>
          </a:p>
          <a:p>
            <a:pPr>
              <a:buClr>
                <a:schemeClr val="tx2"/>
              </a:buClr>
            </a:pPr>
            <a:r>
              <a:rPr lang="zh-CN" altLang="en-US" sz="1600">
                <a:sym typeface="+mn-ea"/>
              </a:rPr>
              <a:t>（2）平均无故障时间MTBF与剩余的错误数成反比。</a:t>
            </a:r>
            <a:endParaRPr lang="zh-CN" altLang="en-US" sz="1600">
              <a:sym typeface="+mn-ea"/>
            </a:endParaRPr>
          </a:p>
          <a:p>
            <a:pPr>
              <a:buClr>
                <a:schemeClr val="tx2"/>
              </a:buClr>
            </a:pPr>
            <a:r>
              <a:rPr lang="zh-CN" altLang="en-US" sz="1600">
                <a:sym typeface="+mn-ea"/>
              </a:rPr>
              <a:t>假设每一个发现的错误都改正了，剩余的错误为：</a:t>
            </a:r>
            <a:endParaRPr lang="zh-CN" altLang="en-US" sz="1600">
              <a:sym typeface="+mn-ea"/>
            </a:endParaRPr>
          </a:p>
          <a:p>
            <a:pPr algn="ctr">
              <a:buClr>
                <a:schemeClr val="tx2"/>
              </a:buClr>
            </a:pPr>
            <a:r>
              <a:rPr lang="zh-CN" altLang="en-US" sz="1600">
                <a:latin typeface="Arial" panose="020B0604020202020204"/>
                <a:sym typeface="Arial" panose="020B0604020202020204"/>
              </a:rPr>
              <a:t>Er（Ʈ）=</a:t>
            </a:r>
            <a:r>
              <a:rPr lang="zh-CN" altLang="en-US" sz="1600">
                <a:sym typeface="+mn-ea"/>
              </a:rPr>
              <a:t>E</a:t>
            </a:r>
            <a:r>
              <a:rPr lang="zh-CN" altLang="en-US" sz="1600" baseline="-25000">
                <a:sym typeface="+mn-ea"/>
              </a:rPr>
              <a:t>T  </a:t>
            </a:r>
            <a:r>
              <a:rPr lang="zh-CN" altLang="en-US" sz="1600">
                <a:sym typeface="+mn-ea"/>
              </a:rPr>
              <a:t>- </a:t>
            </a:r>
            <a:r>
              <a:rPr lang="zh-CN" altLang="en-US" sz="1600">
                <a:latin typeface="Arial" panose="020B0604020202020204"/>
                <a:sym typeface="Arial" panose="020B0604020202020204"/>
              </a:rPr>
              <a:t>Ec（Ʈ）</a:t>
            </a:r>
            <a:endParaRPr lang="zh-CN" altLang="en-US" sz="1600">
              <a:latin typeface="Arial" panose="020B0604020202020204"/>
              <a:sym typeface="Arial" panose="020B0604020202020204"/>
            </a:endParaRPr>
          </a:p>
          <a:p>
            <a:pPr>
              <a:buClr>
                <a:schemeClr val="tx2"/>
              </a:buClr>
            </a:pPr>
            <a:r>
              <a:rPr lang="zh-CN" altLang="en-US" sz="1600">
                <a:latin typeface="Arial" panose="020B0604020202020204"/>
                <a:sym typeface="Arial" panose="020B0604020202020204"/>
              </a:rPr>
              <a:t>单位长度程序中剩余的错误数为：</a:t>
            </a:r>
            <a:endParaRPr lang="zh-CN" altLang="en-US" sz="1600">
              <a:latin typeface="Arial" panose="020B0604020202020204"/>
              <a:sym typeface="Arial" panose="020B0604020202020204"/>
            </a:endParaRPr>
          </a:p>
          <a:p>
            <a:pPr algn="ctr">
              <a:buClr>
                <a:schemeClr val="tx2"/>
              </a:buClr>
            </a:pPr>
            <a:r>
              <a:rPr lang="zh-CN" altLang="en-US" sz="1600">
                <a:latin typeface="Arial" panose="020B0604020202020204"/>
                <a:sym typeface="Arial" panose="020B0604020202020204"/>
              </a:rPr>
              <a:t>（</a:t>
            </a:r>
            <a:r>
              <a:rPr lang="zh-CN" altLang="en-US" sz="1600">
                <a:sym typeface="+mn-ea"/>
              </a:rPr>
              <a:t>E</a:t>
            </a:r>
            <a:r>
              <a:rPr lang="zh-CN" altLang="en-US" sz="1600" baseline="-25000">
                <a:sym typeface="+mn-ea"/>
              </a:rPr>
              <a:t>T  </a:t>
            </a:r>
            <a:r>
              <a:rPr lang="zh-CN" altLang="en-US" sz="1600">
                <a:sym typeface="+mn-ea"/>
              </a:rPr>
              <a:t>- </a:t>
            </a:r>
            <a:r>
              <a:rPr lang="zh-CN" altLang="en-US" sz="1600">
                <a:latin typeface="Arial" panose="020B0604020202020204"/>
                <a:sym typeface="Arial" panose="020B0604020202020204"/>
              </a:rPr>
              <a:t>Ec（Ʈ））/ I</a:t>
            </a:r>
            <a:r>
              <a:rPr lang="zh-CN" altLang="en-US" sz="1600" baseline="-25000">
                <a:sym typeface="+mn-ea"/>
              </a:rPr>
              <a:t>T</a:t>
            </a:r>
            <a:endParaRPr lang="zh-CN" altLang="en-US" sz="1600" baseline="-25000"/>
          </a:p>
          <a:p>
            <a:pPr>
              <a:buFont typeface="Wingdings" panose="05000000000000000000" charset="0"/>
            </a:pPr>
            <a:endParaRPr lang="zh-CN" altLang="en-US"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endParaRPr lang="zh-CN" altLang="en-US" sz="2000" dirty="0">
              <a:latin typeface="黑体" panose="02010609060101010101" charset="-122"/>
              <a:ea typeface="黑体" panose="02010609060101010101" charset="-122"/>
              <a:cs typeface="黑体" panose="02010609060101010101" charset="-122"/>
              <a:sym typeface="+mn-ea"/>
            </a:endParaRPr>
          </a:p>
        </p:txBody>
      </p:sp>
    </p:spTree>
    <p:custDataLst>
      <p:tags r:id="rId6"/>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grpSp>
        <p:nvGrpSpPr>
          <p:cNvPr id="18" name="组合 17"/>
          <p:cNvGrpSpPr>
            <a:grpSpLocks noChangeAspect="1"/>
          </p:cNvGrpSpPr>
          <p:nvPr>
            <p:custDataLst>
              <p:tags r:id="rId3"/>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3076" name="文本框 2"/>
          <p:cNvSpPr txBox="1"/>
          <p:nvPr>
            <p:custDataLst>
              <p:tags r:id="rId4"/>
            </p:custDataLst>
          </p:nvPr>
        </p:nvSpPr>
        <p:spPr>
          <a:xfrm>
            <a:off x="179388" y="260350"/>
            <a:ext cx="2719387" cy="625475"/>
          </a:xfrm>
          <a:prstGeom prst="rect">
            <a:avLst/>
          </a:prstGeom>
          <a:noFill/>
          <a:ln w="9525">
            <a:noFill/>
          </a:ln>
        </p:spPr>
        <p:txBody>
          <a:bodyPr wrap="square" lIns="76200" tIns="0" rIns="61912" bIns="0" anchor="t" anchorCtr="0"/>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7.</a:t>
            </a:r>
            <a:r>
              <a:rPr lang="en-US" altLang="zh-CN" sz="2800" dirty="0">
                <a:latin typeface="黑体" panose="02010609060101010101" charset="-122"/>
                <a:ea typeface="黑体" panose="02010609060101010101" charset="-122"/>
                <a:cs typeface="黑体" panose="02010609060101010101" charset="-122"/>
                <a:sym typeface="+mn-ea"/>
              </a:rPr>
              <a:t>9</a:t>
            </a:r>
            <a:r>
              <a:rPr lang="zh-CN" altLang="en-US" sz="2800" dirty="0">
                <a:latin typeface="黑体" panose="02010609060101010101" charset="-122"/>
                <a:ea typeface="黑体" panose="02010609060101010101" charset="-122"/>
                <a:cs typeface="黑体" panose="02010609060101010101" charset="-122"/>
                <a:sym typeface="+mn-ea"/>
              </a:rPr>
              <a:t>软件可靠性</a:t>
            </a:r>
            <a:endParaRPr lang="zh-CN" altLang="en-US" sz="2800" dirty="0">
              <a:latin typeface="黑体" panose="02010609060101010101" charset="-122"/>
              <a:ea typeface="黑体" panose="02010609060101010101" charset="-122"/>
            </a:endParaRPr>
          </a:p>
        </p:txBody>
      </p:sp>
      <p:sp>
        <p:nvSpPr>
          <p:cNvPr id="3077" name="文本框 5"/>
          <p:cNvSpPr txBox="1"/>
          <p:nvPr>
            <p:custDataLst>
              <p:tags r:id="rId5"/>
            </p:custDataLst>
          </p:nvPr>
        </p:nvSpPr>
        <p:spPr>
          <a:xfrm>
            <a:off x="1115695" y="1052513"/>
            <a:ext cx="7700963" cy="5011737"/>
          </a:xfrm>
          <a:prstGeom prst="rect">
            <a:avLst/>
          </a:prstGeom>
          <a:noFill/>
          <a:ln w="9525">
            <a:noFill/>
          </a:ln>
        </p:spPr>
        <p:txBody>
          <a:bodyPr wrap="square" lIns="76200" tIns="0" rIns="61912" bIns="0" anchor="t" anchorCtr="0"/>
          <a:p>
            <a:pPr>
              <a:buFont typeface="Wingdings" panose="05000000000000000000" charset="0"/>
            </a:pPr>
            <a:r>
              <a:rPr lang="en-US" sz="2000" dirty="0">
                <a:latin typeface="黑体" panose="02010609060101010101" charset="-122"/>
                <a:ea typeface="黑体" panose="02010609060101010101" charset="-122"/>
                <a:cs typeface="黑体" panose="02010609060101010101" charset="-122"/>
                <a:sym typeface="+mn-ea"/>
              </a:rPr>
              <a:t>3.</a:t>
            </a:r>
            <a:r>
              <a:rPr lang="zh-CN" altLang="en-US" sz="2000" dirty="0">
                <a:latin typeface="黑体" panose="02010609060101010101" charset="-122"/>
                <a:ea typeface="黑体" panose="02010609060101010101" charset="-122"/>
                <a:cs typeface="黑体" panose="02010609060101010101" charset="-122"/>
                <a:sym typeface="+mn-ea"/>
              </a:rPr>
              <a:t>估算平均无故障时间</a:t>
            </a:r>
            <a:endParaRPr lang="zh-CN" altLang="en-US"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sz="1600">
                <a:sym typeface="+mn-ea"/>
              </a:rPr>
              <a:t>平均无故障时间与单位长度程序中剩余的错误数成反比：</a:t>
            </a:r>
            <a:endParaRPr lang="zh-CN" altLang="en-US" sz="1600">
              <a:sym typeface="+mn-ea"/>
            </a:endParaRPr>
          </a:p>
          <a:p>
            <a:pPr>
              <a:buFont typeface="Wingdings" panose="05000000000000000000" charset="0"/>
            </a:pPr>
            <a:endParaRPr lang="zh-CN" altLang="en-US" sz="1600">
              <a:sym typeface="+mn-ea"/>
            </a:endParaRPr>
          </a:p>
          <a:p>
            <a:pPr>
              <a:buFont typeface="Wingdings" panose="05000000000000000000" charset="0"/>
            </a:pPr>
            <a:endParaRPr lang="en-US" altLang="zh-CN"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endParaRPr lang="en-US" altLang="zh-CN"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sz="1600">
                <a:sym typeface="+mn-ea"/>
              </a:rPr>
              <a:t>其中，K为常数，它的值应该根据经验选取。统计数字表明，K的典型值是200.</a:t>
            </a:r>
            <a:endParaRPr lang="zh-CN" altLang="en-US" sz="1600">
              <a:sym typeface="+mn-ea"/>
            </a:endParaRPr>
          </a:p>
          <a:p>
            <a:pPr>
              <a:buFont typeface="Wingdings" panose="05000000000000000000" charset="0"/>
            </a:pPr>
            <a:endParaRPr lang="en-US" altLang="zh-CN"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4.</a:t>
            </a:r>
            <a:r>
              <a:rPr lang="zh-CN" altLang="en-US" sz="2000" dirty="0">
                <a:latin typeface="黑体" panose="02010609060101010101" charset="-122"/>
                <a:ea typeface="黑体" panose="02010609060101010101" charset="-122"/>
                <a:cs typeface="黑体" panose="02010609060101010101" charset="-122"/>
                <a:sym typeface="+mn-ea"/>
              </a:rPr>
              <a:t>估计错误总数的方法</a:t>
            </a:r>
            <a:endParaRPr lang="zh-CN" altLang="en-US" sz="2000" dirty="0">
              <a:latin typeface="黑体" panose="02010609060101010101" charset="-122"/>
              <a:ea typeface="黑体" panose="02010609060101010101" charset="-122"/>
              <a:cs typeface="黑体" panose="02010609060101010101" charset="-122"/>
              <a:sym typeface="+mn-ea"/>
            </a:endParaRPr>
          </a:p>
          <a:p>
            <a:pPr>
              <a:buClr>
                <a:schemeClr val="tx2"/>
              </a:buClr>
            </a:pPr>
            <a:r>
              <a:rPr lang="zh-CN" altLang="en-US" sz="1600">
                <a:sym typeface="+mn-ea"/>
              </a:rPr>
              <a:t>（1）植入错误法</a:t>
            </a:r>
            <a:endParaRPr lang="zh-CN" altLang="en-US" sz="1600">
              <a:sym typeface="+mn-ea"/>
            </a:endParaRPr>
          </a:p>
          <a:p>
            <a:pPr lvl="0">
              <a:buClr>
                <a:schemeClr val="tx2"/>
              </a:buClr>
            </a:pPr>
            <a:r>
              <a:rPr lang="zh-CN" altLang="en-US" sz="1600">
                <a:sym typeface="+mn-ea"/>
              </a:rPr>
              <a:t>人为的植入错误数为Ns，经过一段时间测试后发现n</a:t>
            </a:r>
            <a:r>
              <a:rPr lang="zh-CN" altLang="en-US" sz="1600" baseline="-25000">
                <a:sym typeface="+mn-ea"/>
              </a:rPr>
              <a:t>s</a:t>
            </a:r>
            <a:r>
              <a:rPr lang="zh-CN" altLang="en-US" sz="1600">
                <a:sym typeface="+mn-ea"/>
              </a:rPr>
              <a:t>个植入的错误，此外还发现了n个原有的错误。如果测试方案发现植入错误和发现原有错误的能力相同，则估计程序中原有的错误总数为：</a:t>
            </a:r>
            <a:endParaRPr lang="zh-CN" altLang="en-US" sz="1600">
              <a:sym typeface="+mn-ea"/>
            </a:endParaRPr>
          </a:p>
          <a:p>
            <a:pPr lvl="0">
              <a:buClr>
                <a:schemeClr val="tx2"/>
              </a:buClr>
            </a:pPr>
            <a:endParaRPr lang="zh-CN" altLang="en-US" sz="1600">
              <a:sym typeface="+mn-ea"/>
            </a:endParaRPr>
          </a:p>
          <a:p>
            <a:pPr lvl="0">
              <a:buClr>
                <a:schemeClr val="tx2"/>
              </a:buClr>
            </a:pPr>
            <a:endParaRPr lang="zh-CN" altLang="en-US" sz="1600"/>
          </a:p>
          <a:p>
            <a:pPr>
              <a:buClr>
                <a:schemeClr val="tx2"/>
              </a:buClr>
            </a:pPr>
            <a:r>
              <a:rPr lang="zh-CN" altLang="en-US" sz="1600">
                <a:sym typeface="+mn-ea"/>
              </a:rPr>
              <a:t>（2）分别测试法</a:t>
            </a:r>
            <a:endParaRPr lang="zh-CN" altLang="en-US" sz="1600">
              <a:sym typeface="+mn-ea"/>
            </a:endParaRPr>
          </a:p>
          <a:p>
            <a:pPr lvl="0">
              <a:buClr>
                <a:schemeClr val="tx2"/>
              </a:buClr>
            </a:pPr>
            <a:r>
              <a:rPr lang="zh-CN" altLang="en-US" sz="1600">
                <a:sym typeface="+mn-ea"/>
              </a:rPr>
              <a:t>两个测试员彼此独立的测试同一个程序，测试一段时间后测试员甲发现错误数为B</a:t>
            </a:r>
            <a:r>
              <a:rPr lang="zh-CN" altLang="en-US" sz="1600" baseline="-25000">
                <a:sym typeface="+mn-ea"/>
              </a:rPr>
              <a:t>1</a:t>
            </a:r>
            <a:r>
              <a:rPr lang="zh-CN" altLang="en-US" sz="1600">
                <a:sym typeface="+mn-ea"/>
              </a:rPr>
              <a:t>，测试员乙发现错误数为B</a:t>
            </a:r>
            <a:r>
              <a:rPr lang="zh-CN" altLang="en-US" sz="1600" baseline="-25000">
                <a:sym typeface="+mn-ea"/>
              </a:rPr>
              <a:t>2</a:t>
            </a:r>
            <a:r>
              <a:rPr lang="zh-CN" altLang="en-US" sz="1600">
                <a:sym typeface="+mn-ea"/>
              </a:rPr>
              <a:t>，两个测试员发现的相同错误数为b</a:t>
            </a:r>
            <a:r>
              <a:rPr lang="zh-CN" altLang="en-US" sz="1600" baseline="-25000">
                <a:sym typeface="+mn-ea"/>
              </a:rPr>
              <a:t>c，</a:t>
            </a:r>
            <a:r>
              <a:rPr lang="zh-CN" altLang="en-US" sz="1600">
                <a:sym typeface="+mn-ea"/>
              </a:rPr>
              <a:t>估计测试前程序中的错误总数为：</a:t>
            </a:r>
            <a:endParaRPr lang="zh-CN" altLang="en-US" sz="1600"/>
          </a:p>
          <a:p>
            <a:pPr>
              <a:buFont typeface="Wingdings" panose="05000000000000000000" charset="0"/>
            </a:pPr>
            <a:endParaRPr lang="zh-CN" altLang="en-US"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endParaRPr lang="zh-CN" altLang="en-US" sz="2000" dirty="0">
              <a:latin typeface="黑体" panose="02010609060101010101" charset="-122"/>
              <a:ea typeface="黑体" panose="02010609060101010101" charset="-122"/>
              <a:cs typeface="黑体" panose="02010609060101010101" charset="-122"/>
              <a:sym typeface="+mn-ea"/>
            </a:endParaRPr>
          </a:p>
        </p:txBody>
      </p:sp>
      <p:grpSp>
        <p:nvGrpSpPr>
          <p:cNvPr id="2090" name="组合 2089"/>
          <p:cNvGrpSpPr/>
          <p:nvPr/>
        </p:nvGrpSpPr>
        <p:grpSpPr>
          <a:xfrm>
            <a:off x="1377950" y="1678940"/>
            <a:ext cx="4424680" cy="688340"/>
            <a:chOff x="0" y="0"/>
            <a:chExt cx="4628" cy="987"/>
          </a:xfrm>
        </p:grpSpPr>
        <p:sp>
          <p:nvSpPr>
            <p:cNvPr id="2091" name="矩形 2090"/>
            <p:cNvSpPr/>
            <p:nvPr/>
          </p:nvSpPr>
          <p:spPr>
            <a:xfrm>
              <a:off x="0" y="0"/>
              <a:ext cx="4628" cy="987"/>
            </a:xfrm>
            <a:prstGeom prst="rect">
              <a:avLst/>
            </a:prstGeom>
            <a:solidFill>
              <a:srgbClr val="FBFAE2"/>
            </a:solidFill>
            <a:ln w="9525">
              <a:noFill/>
            </a:ln>
          </p:spPr>
          <p:txBody>
            <a:bodyPr/>
            <a:p>
              <a:endParaRPr lang="zh-CN" altLang="en-US"/>
            </a:p>
          </p:txBody>
        </p:sp>
        <p:pic>
          <p:nvPicPr>
            <p:cNvPr id="2092" name="图片 2091"/>
            <p:cNvPicPr>
              <a:picLocks noChangeAspect="1"/>
            </p:cNvPicPr>
            <p:nvPr/>
          </p:nvPicPr>
          <p:blipFill>
            <a:blip r:embed="rId6">
              <a:lum bright="-8002" contrast="20000"/>
            </a:blip>
            <a:stretch>
              <a:fillRect/>
            </a:stretch>
          </p:blipFill>
          <p:spPr>
            <a:xfrm>
              <a:off x="404" y="121"/>
              <a:ext cx="3726" cy="757"/>
            </a:xfrm>
            <a:prstGeom prst="rect">
              <a:avLst/>
            </a:prstGeom>
            <a:noFill/>
            <a:ln w="9525">
              <a:noFill/>
            </a:ln>
          </p:spPr>
        </p:pic>
      </p:grpSp>
      <p:pic>
        <p:nvPicPr>
          <p:cNvPr id="2101" name="内容占位符 2100"/>
          <p:cNvPicPr>
            <a:picLocks noChangeAspect="1"/>
          </p:cNvPicPr>
          <p:nvPr/>
        </p:nvPicPr>
        <p:blipFill>
          <a:blip r:embed="rId7">
            <a:lum bright="-10001" contrast="20000"/>
          </a:blip>
          <a:stretch>
            <a:fillRect/>
          </a:stretch>
        </p:blipFill>
        <p:spPr>
          <a:xfrm>
            <a:off x="5796280" y="1679575"/>
            <a:ext cx="2856230" cy="687705"/>
          </a:xfrm>
          <a:prstGeom prst="rect">
            <a:avLst/>
          </a:prstGeom>
          <a:noFill/>
          <a:ln w="9525">
            <a:noFill/>
          </a:ln>
        </p:spPr>
      </p:pic>
      <p:pic>
        <p:nvPicPr>
          <p:cNvPr id="2131" name="内容占位符 2130"/>
          <p:cNvPicPr>
            <a:picLocks noChangeAspect="1"/>
          </p:cNvPicPr>
          <p:nvPr/>
        </p:nvPicPr>
        <p:blipFill>
          <a:blip r:embed="rId8">
            <a:lum bright="-10001" contrast="20000"/>
          </a:blip>
          <a:stretch>
            <a:fillRect/>
          </a:stretch>
        </p:blipFill>
        <p:spPr>
          <a:xfrm>
            <a:off x="3780155" y="4077335"/>
            <a:ext cx="1619250" cy="715010"/>
          </a:xfrm>
          <a:prstGeom prst="rect">
            <a:avLst/>
          </a:prstGeom>
          <a:noFill/>
          <a:ln w="9525">
            <a:noFill/>
          </a:ln>
        </p:spPr>
      </p:pic>
      <p:pic>
        <p:nvPicPr>
          <p:cNvPr id="2136" name="内容占位符 2135"/>
          <p:cNvPicPr>
            <a:picLocks noChangeAspect="1"/>
          </p:cNvPicPr>
          <p:nvPr/>
        </p:nvPicPr>
        <p:blipFill>
          <a:blip r:embed="rId9">
            <a:lum bright="-10001" contrast="20000"/>
          </a:blip>
          <a:stretch>
            <a:fillRect/>
          </a:stretch>
        </p:blipFill>
        <p:spPr>
          <a:xfrm>
            <a:off x="3707765" y="5589270"/>
            <a:ext cx="1782445" cy="957580"/>
          </a:xfrm>
          <a:prstGeom prst="rect">
            <a:avLst/>
          </a:prstGeom>
          <a:noFill/>
          <a:ln w="9525">
            <a:noFill/>
          </a:ln>
        </p:spPr>
      </p:pic>
    </p:spTree>
    <p:custDataLst>
      <p:tags r:id="rId10"/>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additive="base">
                                        <p:cTn id="6" dur="1" fill="hold">
                                          <p:stCondLst>
                                            <p:cond delay="0"/>
                                          </p:stCondLst>
                                        </p:cTn>
                                        <p:tgtEl>
                                          <p:spTgt spid="2090"/>
                                        </p:tgtEl>
                                        <p:attrNameLst>
                                          <p:attrName>style.visibility</p:attrName>
                                        </p:attrNameLst>
                                      </p:cBhvr>
                                      <p:to>
                                        <p:strVal val="visible"/>
                                      </p:to>
                                    </p:set>
                                    <p:anim calcmode="lin" valueType="num">
                                      <p:cBhvr additive="base">
                                        <p:cTn id="7" dur="500" fill="hold"/>
                                        <p:tgtEl>
                                          <p:spTgt spid="2090"/>
                                        </p:tgtEl>
                                        <p:attrNameLst>
                                          <p:attrName>ppt_x</p:attrName>
                                        </p:attrNameLst>
                                      </p:cBhvr>
                                      <p:tavLst>
                                        <p:tav tm="0">
                                          <p:val>
                                            <p:strVal val="#ppt_x"/>
                                          </p:val>
                                        </p:tav>
                                        <p:tav tm="100000">
                                          <p:val>
                                            <p:strVal val="#ppt_x"/>
                                          </p:val>
                                        </p:tav>
                                      </p:tavLst>
                                    </p:anim>
                                    <p:anim calcmode="lin" valueType="num">
                                      <p:cBhvr additive="base">
                                        <p:cTn id="8" dur="500" fill="hold"/>
                                        <p:tgtEl>
                                          <p:spTgt spid="209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additive="base">
                                        <p:cTn id="12" dur="1" fill="hold">
                                          <p:stCondLst>
                                            <p:cond delay="0"/>
                                          </p:stCondLst>
                                        </p:cTn>
                                        <p:tgtEl>
                                          <p:spTgt spid="210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additive="base">
                                        <p:cTn id="16" dur="1" fill="hold">
                                          <p:stCondLst>
                                            <p:cond delay="0"/>
                                          </p:stCondLst>
                                        </p:cTn>
                                        <p:tgtEl>
                                          <p:spTgt spid="21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additive="base">
                                        <p:cTn id="20" dur="1" fill="hold">
                                          <p:stCondLst>
                                            <p:cond delay="0"/>
                                          </p:stCondLst>
                                        </p:cTn>
                                        <p:tgtEl>
                                          <p:spTgt spid="2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8.1</a:t>
            </a:r>
            <a:r>
              <a:rPr lang="zh-CN" altLang="en-US" sz="2800" dirty="0">
                <a:latin typeface="黑体" panose="02010609060101010101" charset="-122"/>
                <a:ea typeface="黑体" panose="02010609060101010101" charset="-122"/>
                <a:cs typeface="黑体" panose="02010609060101010101" charset="-122"/>
                <a:sym typeface="+mn-ea"/>
              </a:rPr>
              <a:t>软件维护的定义</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611188" y="1328738"/>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11188" y="2709863"/>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4" name="文本框 3"/>
          <p:cNvSpPr txBox="1"/>
          <p:nvPr>
            <p:custDataLst>
              <p:tags r:id="rId5"/>
            </p:custDataLst>
          </p:nvPr>
        </p:nvSpPr>
        <p:spPr>
          <a:xfrm>
            <a:off x="323215" y="1484630"/>
            <a:ext cx="8768715" cy="249682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所谓软件维护就是在软件已经交付使用之后，为了改正错误或满足新的需而修改软件的过程。可以通过描述软件交付使用后可能进行的</a:t>
            </a:r>
            <a:r>
              <a:rPr lang="en-US" altLang="zh-CN" sz="2000" dirty="0">
                <a:solidFill>
                  <a:schemeClr val="tx1"/>
                </a:solidFill>
                <a:latin typeface="黑体" panose="02010609060101010101" charset="-122"/>
                <a:ea typeface="黑体" panose="02010609060101010101" charset="-122"/>
                <a:cs typeface="黑体" panose="02010609060101010101" charset="-122"/>
              </a:rPr>
              <a:t>4</a:t>
            </a:r>
            <a:r>
              <a:rPr lang="zh-CN" altLang="en-US" sz="2000" dirty="0">
                <a:solidFill>
                  <a:schemeClr val="tx1"/>
                </a:solidFill>
                <a:latin typeface="黑体" panose="02010609060101010101" charset="-122"/>
                <a:ea typeface="黑体" panose="02010609060101010101" charset="-122"/>
                <a:cs typeface="黑体" panose="02010609060101010101" charset="-122"/>
              </a:rPr>
              <a:t>项活动，具体的定义软件</a:t>
            </a:r>
            <a:r>
              <a:rPr lang="zh-CN" altLang="en-US" sz="2000" dirty="0">
                <a:solidFill>
                  <a:schemeClr val="tx1"/>
                </a:solidFill>
                <a:latin typeface="黑体" panose="02010609060101010101" charset="-122"/>
                <a:ea typeface="黑体" panose="02010609060101010101" charset="-122"/>
                <a:cs typeface="黑体" panose="02010609060101010101" charset="-122"/>
              </a:rPr>
              <a:t>维护。</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包括：</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marL="914400" lvl="1" indent="-457200">
              <a:buFont typeface="Wingdings" panose="05000000000000000000" charset="0"/>
              <a:buAutoNum type="arabicPeriod"/>
            </a:pPr>
            <a:r>
              <a:rPr lang="zh-CN" altLang="en-US" sz="2250" dirty="0">
                <a:solidFill>
                  <a:schemeClr val="tx1"/>
                </a:solidFill>
                <a:latin typeface="黑体" panose="02010609060101010101" charset="-122"/>
                <a:ea typeface="黑体" panose="02010609060101010101" charset="-122"/>
                <a:cs typeface="黑体" panose="02010609060101010101" charset="-122"/>
              </a:rPr>
              <a:t>改正性维护</a:t>
            </a:r>
            <a:endParaRPr lang="zh-CN" altLang="en-US" sz="2250" dirty="0">
              <a:solidFill>
                <a:schemeClr val="tx1"/>
              </a:solidFill>
              <a:latin typeface="黑体" panose="02010609060101010101" charset="-122"/>
              <a:ea typeface="黑体" panose="02010609060101010101" charset="-122"/>
              <a:cs typeface="黑体" panose="02010609060101010101" charset="-122"/>
            </a:endParaRPr>
          </a:p>
          <a:p>
            <a:pPr marL="914400" lvl="1" indent="-457200">
              <a:buFont typeface="Wingdings" panose="05000000000000000000" charset="0"/>
              <a:buAutoNum type="arabicPeriod"/>
            </a:pPr>
            <a:r>
              <a:rPr lang="zh-CN" altLang="en-US" sz="2250" dirty="0">
                <a:solidFill>
                  <a:schemeClr val="tx1"/>
                </a:solidFill>
                <a:latin typeface="黑体" panose="02010609060101010101" charset="-122"/>
                <a:ea typeface="黑体" panose="02010609060101010101" charset="-122"/>
                <a:cs typeface="黑体" panose="02010609060101010101" charset="-122"/>
              </a:rPr>
              <a:t>适应性维护</a:t>
            </a:r>
            <a:endParaRPr lang="zh-CN" altLang="en-US" sz="2250" dirty="0">
              <a:solidFill>
                <a:schemeClr val="tx1"/>
              </a:solidFill>
              <a:latin typeface="黑体" panose="02010609060101010101" charset="-122"/>
              <a:ea typeface="黑体" panose="02010609060101010101" charset="-122"/>
              <a:cs typeface="黑体" panose="02010609060101010101" charset="-122"/>
            </a:endParaRPr>
          </a:p>
          <a:p>
            <a:pPr marL="914400" lvl="1" indent="-457200">
              <a:buFont typeface="Wingdings" panose="05000000000000000000" charset="0"/>
              <a:buAutoNum type="arabicPeriod"/>
            </a:pPr>
            <a:r>
              <a:rPr lang="zh-CN" altLang="en-US" sz="2250" dirty="0">
                <a:solidFill>
                  <a:schemeClr val="tx1"/>
                </a:solidFill>
                <a:latin typeface="黑体" panose="02010609060101010101" charset="-122"/>
                <a:ea typeface="黑体" panose="02010609060101010101" charset="-122"/>
                <a:cs typeface="黑体" panose="02010609060101010101" charset="-122"/>
              </a:rPr>
              <a:t>完善性维护</a:t>
            </a:r>
            <a:endParaRPr lang="zh-CN" altLang="en-US" sz="2250" dirty="0">
              <a:solidFill>
                <a:schemeClr val="tx1"/>
              </a:solidFill>
              <a:latin typeface="黑体" panose="02010609060101010101" charset="-122"/>
              <a:ea typeface="黑体" panose="02010609060101010101" charset="-122"/>
              <a:cs typeface="黑体" panose="02010609060101010101" charset="-122"/>
            </a:endParaRPr>
          </a:p>
          <a:p>
            <a:pPr marL="914400" lvl="1" indent="-457200">
              <a:buFont typeface="Wingdings" panose="05000000000000000000" charset="0"/>
              <a:buAutoNum type="arabicPeriod"/>
            </a:pPr>
            <a:r>
              <a:rPr lang="zh-CN" altLang="en-US" sz="2250" dirty="0">
                <a:solidFill>
                  <a:schemeClr val="tx1"/>
                </a:solidFill>
                <a:latin typeface="黑体" panose="02010609060101010101" charset="-122"/>
                <a:ea typeface="黑体" panose="02010609060101010101" charset="-122"/>
                <a:cs typeface="黑体" panose="02010609060101010101" charset="-122"/>
              </a:rPr>
              <a:t>其他维护</a:t>
            </a:r>
            <a:endParaRPr lang="zh-CN" altLang="en-US" sz="225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6"/>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36295"/>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8.2</a:t>
            </a:r>
            <a:r>
              <a:rPr lang="zh-CN" altLang="en-US" sz="2800" dirty="0">
                <a:latin typeface="黑体" panose="02010609060101010101" charset="-122"/>
                <a:ea typeface="黑体" panose="02010609060101010101" charset="-122"/>
                <a:cs typeface="黑体" panose="02010609060101010101" charset="-122"/>
                <a:sym typeface="+mn-ea"/>
              </a:rPr>
              <a:t>软件维护的特点</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611188" y="1328738"/>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83260" y="1149350"/>
            <a:ext cx="7540625" cy="3651250"/>
          </a:xfrm>
          <a:prstGeom prst="rect">
            <a:avLst/>
          </a:prstGeom>
          <a:noFill/>
        </p:spPr>
        <p:txBody>
          <a:bodyPr wrap="square" rtlCol="0" anchor="t">
            <a:noAutofit/>
          </a:bodyPr>
          <a:p>
            <a:pPr fontAlgn="auto">
              <a:lnSpc>
                <a:spcPct val="130000"/>
              </a:lnSpc>
              <a:spcAft>
                <a:spcPts val="1000"/>
              </a:spcAft>
              <a:buClrTx/>
              <a:buSzTx/>
              <a:buNone/>
            </a:pPr>
            <a:r>
              <a:rPr lang="en-US" altLang="zh-CN" sz="2400" spc="150" noProof="1" dirty="0">
                <a:latin typeface="黑体" panose="02010609060101010101" charset="-122"/>
                <a:ea typeface="黑体" panose="02010609060101010101" charset="-122"/>
                <a:cs typeface="黑体" panose="02010609060101010101" charset="-122"/>
              </a:rPr>
              <a:t>1</a:t>
            </a:r>
            <a:r>
              <a:rPr lang="zh-CN" sz="2400" spc="150" noProof="1" dirty="0">
                <a:latin typeface="黑体" panose="02010609060101010101" charset="-122"/>
                <a:ea typeface="黑体" panose="02010609060101010101" charset="-122"/>
                <a:cs typeface="黑体" panose="02010609060101010101" charset="-122"/>
              </a:rPr>
              <a:t>非结构化维护</a:t>
            </a:r>
            <a:endParaRPr lang="zh-CN" sz="2400" spc="150" noProof="1" dirty="0">
              <a:latin typeface="黑体" panose="02010609060101010101" charset="-122"/>
              <a:ea typeface="黑体" panose="02010609060101010101" charset="-122"/>
              <a:cs typeface="黑体" panose="02010609060101010101" charset="-122"/>
            </a:endParaRPr>
          </a:p>
          <a:p>
            <a:pPr marL="342900" indent="-342900" fontAlgn="auto">
              <a:lnSpc>
                <a:spcPct val="130000"/>
              </a:lnSpc>
              <a:spcAft>
                <a:spcPts val="1000"/>
              </a:spcAft>
              <a:buClrTx/>
              <a:buSzTx/>
              <a:buFont typeface="Arial" panose="020B0604020202020204" pitchFamily="34" charset="0"/>
              <a:buChar char="•"/>
            </a:pPr>
            <a:r>
              <a:rPr lang="zh-CN" sz="2000" spc="150" noProof="1" dirty="0">
                <a:latin typeface="黑体" panose="02010609060101010101" charset="-122"/>
                <a:ea typeface="黑体" panose="02010609060101010101" charset="-122"/>
                <a:cs typeface="黑体" panose="02010609060101010101" charset="-122"/>
              </a:rPr>
              <a:t>软件配置的唯一成分是程序代码,维护从评价程序代码开始程序内部文档不足;对软件结构、接口、性能和设计约束的误解,不能回归测试,代码改动的后果难于估计，需要付出很大代价,这种维护方式是没有使用良好定义的方法学开发出来的软件的必然结果</a:t>
            </a:r>
            <a:endParaRPr lang="zh-CN" sz="20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36295"/>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8.2</a:t>
            </a:r>
            <a:r>
              <a:rPr lang="zh-CN" altLang="en-US" sz="2800" dirty="0">
                <a:latin typeface="黑体" panose="02010609060101010101" charset="-122"/>
                <a:ea typeface="黑体" panose="02010609060101010101" charset="-122"/>
                <a:cs typeface="黑体" panose="02010609060101010101" charset="-122"/>
                <a:sym typeface="+mn-ea"/>
              </a:rPr>
              <a:t>软件维护的特点</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611188" y="1328738"/>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11505" y="692785"/>
            <a:ext cx="7909560" cy="5829935"/>
          </a:xfrm>
          <a:prstGeom prst="rect">
            <a:avLst/>
          </a:prstGeom>
          <a:noFill/>
        </p:spPr>
        <p:txBody>
          <a:bodyPr wrap="square" rtlCol="0" anchor="t">
            <a:noAutofit/>
          </a:bodyPr>
          <a:p>
            <a:pPr fontAlgn="auto">
              <a:lnSpc>
                <a:spcPct val="130000"/>
              </a:lnSpc>
              <a:spcAft>
                <a:spcPts val="1000"/>
              </a:spcAft>
              <a:buClrTx/>
              <a:buSzTx/>
              <a:buNone/>
            </a:pPr>
            <a:r>
              <a:rPr lang="en-US" altLang="zh-CN" sz="2400" spc="150" noProof="1" dirty="0">
                <a:latin typeface="黑体" panose="02010609060101010101" charset="-122"/>
                <a:ea typeface="黑体" panose="02010609060101010101" charset="-122"/>
                <a:cs typeface="黑体" panose="02010609060101010101" charset="-122"/>
              </a:rPr>
              <a:t>8.21</a:t>
            </a:r>
            <a:r>
              <a:rPr lang="zh-CN" sz="2400" spc="150" noProof="1" dirty="0">
                <a:latin typeface="黑体" panose="02010609060101010101" charset="-122"/>
                <a:ea typeface="黑体" panose="02010609060101010101" charset="-122"/>
                <a:cs typeface="黑体" panose="02010609060101010101" charset="-122"/>
              </a:rPr>
              <a:t>结构化维护</a:t>
            </a:r>
            <a:endParaRPr lang="zh-CN" sz="24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pPr>
            <a:r>
              <a:rPr lang="zh-CN" sz="2000" spc="150" noProof="1" dirty="0">
                <a:latin typeface="黑体" panose="02010609060101010101" charset="-122"/>
                <a:ea typeface="黑体" panose="02010609060101010101" charset="-122"/>
                <a:cs typeface="黑体" panose="02010609060101010101" charset="-122"/>
              </a:rPr>
              <a:t>完整的软件配置存在：</a:t>
            </a:r>
            <a:endParaRPr lang="zh-CN" sz="2000" spc="150" noProof="1" dirty="0">
              <a:latin typeface="黑体" panose="02010609060101010101" charset="-122"/>
              <a:ea typeface="黑体" panose="02010609060101010101" charset="-122"/>
              <a:cs typeface="黑体" panose="02010609060101010101" charset="-122"/>
            </a:endParaRPr>
          </a:p>
          <a:p>
            <a:pPr marL="342900" indent="-342900" fontAlgn="auto">
              <a:lnSpc>
                <a:spcPct val="130000"/>
              </a:lnSpc>
              <a:spcAft>
                <a:spcPts val="1000"/>
              </a:spcAft>
              <a:buClrTx/>
              <a:buSzTx/>
              <a:buFont typeface="Arial" panose="020B0604020202020204" pitchFamily="34" charset="0"/>
              <a:buChar char="•"/>
            </a:pPr>
            <a:r>
              <a:rPr lang="zh-CN" sz="2000" spc="150" noProof="1" dirty="0">
                <a:latin typeface="黑体" panose="02010609060101010101" charset="-122"/>
                <a:ea typeface="黑体" panose="02010609060101010101" charset="-122"/>
                <a:cs typeface="黑体" panose="02010609060101010101" charset="-122"/>
              </a:rPr>
              <a:t>维护从评价设计文档开始确定软件重要的结构、性能、接口特点</a:t>
            </a:r>
            <a:endParaRPr lang="zh-CN" sz="2000" spc="150" noProof="1" dirty="0">
              <a:latin typeface="黑体" panose="02010609060101010101" charset="-122"/>
              <a:ea typeface="黑体" panose="02010609060101010101" charset="-122"/>
              <a:cs typeface="黑体" panose="02010609060101010101" charset="-122"/>
            </a:endParaRPr>
          </a:p>
          <a:p>
            <a:pPr marL="342900" indent="-342900" fontAlgn="auto">
              <a:lnSpc>
                <a:spcPct val="130000"/>
              </a:lnSpc>
              <a:spcAft>
                <a:spcPts val="1000"/>
              </a:spcAft>
              <a:buClrTx/>
              <a:buSzTx/>
              <a:buFont typeface="Arial" panose="020B0604020202020204" pitchFamily="34" charset="0"/>
              <a:buChar char="•"/>
            </a:pPr>
            <a:r>
              <a:rPr lang="zh-CN" sz="2000" spc="150" noProof="1" dirty="0">
                <a:latin typeface="黑体" panose="02010609060101010101" charset="-122"/>
                <a:ea typeface="黑体" panose="02010609060101010101" charset="-122"/>
                <a:cs typeface="黑体" panose="02010609060101010101" charset="-122"/>
              </a:rPr>
              <a:t>能够估量改动带来的影响,并计划实施途径首先修改设计并对所做的修改进行仔细复查编写相应的源程序代码</a:t>
            </a:r>
            <a:endParaRPr lang="zh-CN" sz="2000" spc="150" noProof="1" dirty="0">
              <a:latin typeface="黑体" panose="02010609060101010101" charset="-122"/>
              <a:ea typeface="黑体" panose="02010609060101010101" charset="-122"/>
              <a:cs typeface="黑体" panose="02010609060101010101" charset="-122"/>
            </a:endParaRPr>
          </a:p>
          <a:p>
            <a:pPr marL="342900" indent="-342900" fontAlgn="auto">
              <a:lnSpc>
                <a:spcPct val="130000"/>
              </a:lnSpc>
              <a:spcAft>
                <a:spcPts val="1000"/>
              </a:spcAft>
              <a:buClrTx/>
              <a:buSzTx/>
              <a:buFont typeface="Arial" panose="020B0604020202020204" pitchFamily="34" charset="0"/>
              <a:buChar char="•"/>
            </a:pPr>
            <a:r>
              <a:rPr lang="zh-CN" sz="2000" spc="150" noProof="1" dirty="0">
                <a:latin typeface="黑体" panose="02010609060101010101" charset="-122"/>
                <a:ea typeface="黑体" panose="02010609060101010101" charset="-122"/>
                <a:cs typeface="黑体" panose="02010609060101010101" charset="-122"/>
              </a:rPr>
              <a:t>使用测试说明书种包含的信息进行回归测试修改后的软件再次交付使用</a:t>
            </a:r>
            <a:endParaRPr lang="zh-CN" sz="2000" spc="150" noProof="1" dirty="0">
              <a:latin typeface="黑体" panose="02010609060101010101" charset="-122"/>
              <a:ea typeface="黑体" panose="02010609060101010101" charset="-122"/>
              <a:cs typeface="黑体" panose="02010609060101010101" charset="-122"/>
            </a:endParaRPr>
          </a:p>
          <a:p>
            <a:pPr marL="342900" indent="-342900" fontAlgn="auto">
              <a:lnSpc>
                <a:spcPct val="130000"/>
              </a:lnSpc>
              <a:spcAft>
                <a:spcPts val="1000"/>
              </a:spcAft>
              <a:buClrTx/>
              <a:buSzTx/>
              <a:buFont typeface="Arial" panose="020B0604020202020204" pitchFamily="34" charset="0"/>
              <a:buChar char="•"/>
            </a:pPr>
            <a:endParaRPr 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pPr>
            <a:r>
              <a:rPr lang="zh-CN" sz="2000" spc="150" noProof="1" dirty="0">
                <a:latin typeface="黑体" panose="02010609060101010101" charset="-122"/>
                <a:ea typeface="黑体" panose="02010609060101010101" charset="-122"/>
                <a:cs typeface="黑体" panose="02010609060101010101" charset="-122"/>
              </a:rPr>
              <a:t>小结：这是在软件开发的早期应用软件工程方法学的结果。虽然软件的完整配置并不能保证维护中没有问题,但是能减少精力的浪费并提高维护的总体质量</a:t>
            </a:r>
            <a:endParaRPr lang="zh-CN" sz="20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36295"/>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8.2</a:t>
            </a:r>
            <a:r>
              <a:rPr lang="zh-CN" altLang="en-US" sz="2800" dirty="0">
                <a:latin typeface="黑体" panose="02010609060101010101" charset="-122"/>
                <a:ea typeface="黑体" panose="02010609060101010101" charset="-122"/>
                <a:cs typeface="黑体" panose="02010609060101010101" charset="-122"/>
                <a:sym typeface="+mn-ea"/>
              </a:rPr>
              <a:t>软件维护的特点</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611188" y="1328738"/>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83260" y="1149350"/>
            <a:ext cx="7540625" cy="4662805"/>
          </a:xfrm>
          <a:prstGeom prst="rect">
            <a:avLst/>
          </a:prstGeom>
          <a:noFill/>
        </p:spPr>
        <p:txBody>
          <a:bodyPr wrap="square" rtlCol="0" anchor="t">
            <a:noAutofit/>
          </a:bodyPr>
          <a:p>
            <a:pPr fontAlgn="auto">
              <a:lnSpc>
                <a:spcPct val="130000"/>
              </a:lnSpc>
              <a:spcAft>
                <a:spcPts val="1000"/>
              </a:spcAft>
              <a:buClrTx/>
              <a:buSzTx/>
              <a:buNone/>
            </a:pPr>
            <a:r>
              <a:rPr lang="en-US" altLang="zh-CN" sz="2400" spc="150" noProof="1" dirty="0">
                <a:latin typeface="黑体" panose="02010609060101010101" charset="-122"/>
                <a:ea typeface="黑体" panose="02010609060101010101" charset="-122"/>
                <a:cs typeface="黑体" panose="02010609060101010101" charset="-122"/>
              </a:rPr>
              <a:t>2</a:t>
            </a:r>
            <a:r>
              <a:rPr lang="zh-CN" sz="2400" spc="150" noProof="1" dirty="0">
                <a:latin typeface="黑体" panose="02010609060101010101" charset="-122"/>
                <a:ea typeface="黑体" panose="02010609060101010101" charset="-122"/>
                <a:cs typeface="黑体" panose="02010609060101010101" charset="-122"/>
              </a:rPr>
              <a:t>维护的代价高昂</a:t>
            </a:r>
            <a:endParaRPr lang="zh-CN" sz="2400" spc="150" noProof="1" dirty="0">
              <a:latin typeface="黑体" panose="02010609060101010101" charset="-122"/>
              <a:ea typeface="黑体" panose="02010609060101010101" charset="-122"/>
              <a:cs typeface="黑体" panose="02010609060101010101" charset="-122"/>
            </a:endParaRPr>
          </a:p>
          <a:p>
            <a:pPr marL="342900" indent="-342900" algn="l" fontAlgn="auto">
              <a:lnSpc>
                <a:spcPct val="130000"/>
              </a:lnSpc>
              <a:spcAft>
                <a:spcPts val="1000"/>
              </a:spcAft>
              <a:buClrTx/>
              <a:buSzTx/>
              <a:buFont typeface="Arial" panose="020B0604020202020204" pitchFamily="34" charset="0"/>
              <a:buChar char="•"/>
            </a:pPr>
            <a:r>
              <a:rPr lang="zh-CN" sz="2000" spc="150" dirty="0">
                <a:latin typeface="黑体" panose="02010609060101010101" charset="-122"/>
                <a:ea typeface="黑体" panose="02010609060101010101" charset="-122"/>
                <a:cs typeface="黑体" panose="02010609060101010101" charset="-122"/>
                <a:sym typeface="+mn-ea"/>
              </a:rPr>
              <a:t>维护费用是最明显的代价</a:t>
            </a:r>
            <a:endParaRPr lang="zh-CN" sz="2000" spc="150" dirty="0">
              <a:latin typeface="黑体" panose="02010609060101010101" charset="-122"/>
              <a:ea typeface="黑体" panose="02010609060101010101" charset="-122"/>
              <a:cs typeface="黑体" panose="02010609060101010101" charset="-122"/>
              <a:sym typeface="+mn-ea"/>
            </a:endParaRPr>
          </a:p>
          <a:p>
            <a:pPr marL="342900" indent="-342900" algn="l" fontAlgn="auto">
              <a:lnSpc>
                <a:spcPct val="130000"/>
              </a:lnSpc>
              <a:spcAft>
                <a:spcPts val="1000"/>
              </a:spcAft>
              <a:buClrTx/>
              <a:buSzTx/>
              <a:buFont typeface="Arial" panose="020B0604020202020204" pitchFamily="34" charset="0"/>
              <a:buChar char="•"/>
            </a:pPr>
            <a:r>
              <a:rPr lang="zh-CN" sz="2000" spc="150" dirty="0">
                <a:latin typeface="黑体" panose="02010609060101010101" charset="-122"/>
                <a:ea typeface="黑体" panose="02010609060101010101" charset="-122"/>
                <a:cs typeface="黑体" panose="02010609060101010101" charset="-122"/>
                <a:sym typeface="+mn-ea"/>
              </a:rPr>
              <a:t>无形的代价:可用资源供维护任务使用,以致耽误甚至丧失了开发的良机，当看来合理的有关改错或修改的要求不能及时满足时，引起用户不满维护时的改动在软件中引入了潜伏的错误,降低了软件质量调用软件工程师参与维护工作时,在开发过程中造成混乱</a:t>
            </a:r>
            <a:endParaRPr lang="zh-CN" sz="20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36295"/>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8.2</a:t>
            </a:r>
            <a:r>
              <a:rPr lang="zh-CN" altLang="en-US" sz="2800" dirty="0">
                <a:latin typeface="黑体" panose="02010609060101010101" charset="-122"/>
                <a:ea typeface="黑体" panose="02010609060101010101" charset="-122"/>
                <a:cs typeface="黑体" panose="02010609060101010101" charset="-122"/>
                <a:sym typeface="+mn-ea"/>
              </a:rPr>
              <a:t>软件维护的特点</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611188" y="1328738"/>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83260" y="1149350"/>
            <a:ext cx="7540625" cy="4662805"/>
          </a:xfrm>
          <a:prstGeom prst="rect">
            <a:avLst/>
          </a:prstGeom>
          <a:noFill/>
        </p:spPr>
        <p:txBody>
          <a:bodyPr wrap="square" rtlCol="0" anchor="t">
            <a:noAutofit/>
          </a:bodyPr>
          <a:p>
            <a:pPr algn="l" fontAlgn="auto">
              <a:lnSpc>
                <a:spcPct val="130000"/>
              </a:lnSpc>
              <a:spcAft>
                <a:spcPts val="1000"/>
              </a:spcAft>
              <a:buClrTx/>
              <a:buSzTx/>
            </a:pPr>
            <a:r>
              <a:rPr lang="en-US" altLang="zh-CN" sz="2400" spc="150" noProof="1" dirty="0">
                <a:latin typeface="黑体" panose="02010609060101010101" charset="-122"/>
                <a:ea typeface="黑体" panose="02010609060101010101" charset="-122"/>
                <a:cs typeface="黑体" panose="02010609060101010101" charset="-122"/>
              </a:rPr>
              <a:t>3</a:t>
            </a:r>
            <a:r>
              <a:rPr lang="zh-CN" sz="2400" spc="150" noProof="1" dirty="0">
                <a:latin typeface="黑体" panose="02010609060101010101" charset="-122"/>
                <a:ea typeface="黑体" panose="02010609060101010101" charset="-122"/>
                <a:cs typeface="黑体" panose="02010609060101010101" charset="-122"/>
              </a:rPr>
              <a:t>维护的问题很多</a:t>
            </a:r>
            <a:endParaRPr lang="zh-CN" sz="2400" spc="150" noProof="1" dirty="0">
              <a:latin typeface="黑体" panose="02010609060101010101" charset="-122"/>
              <a:ea typeface="黑体" panose="02010609060101010101" charset="-122"/>
              <a:cs typeface="黑体" panose="02010609060101010101" charset="-122"/>
            </a:endParaRPr>
          </a:p>
          <a:p>
            <a:pPr marL="342900" indent="-342900" algn="l" fontAlgn="auto">
              <a:lnSpc>
                <a:spcPct val="130000"/>
              </a:lnSpc>
              <a:spcAft>
                <a:spcPts val="1000"/>
              </a:spcAft>
              <a:buClrTx/>
              <a:buSzTx/>
              <a:buFont typeface="Arial" panose="020B0604020202020204" pitchFamily="34" charset="0"/>
              <a:buAutoNum type="arabicPeriod"/>
            </a:pPr>
            <a:r>
              <a:rPr lang="zh-CN" sz="1800" spc="150" noProof="1" dirty="0">
                <a:latin typeface="黑体" panose="02010609060101010101" charset="-122"/>
                <a:ea typeface="黑体" panose="02010609060101010101" charset="-122"/>
                <a:cs typeface="黑体" panose="02010609060101010101" charset="-122"/>
              </a:rPr>
              <a:t>理解别人写的程序困难,而且困难程度随着软件配置程序的减少而急剧增加</a:t>
            </a:r>
            <a:endParaRPr lang="zh-CN" sz="1800" spc="150" noProof="1" dirty="0">
              <a:latin typeface="黑体" panose="02010609060101010101" charset="-122"/>
              <a:ea typeface="黑体" panose="02010609060101010101" charset="-122"/>
              <a:cs typeface="黑体" panose="02010609060101010101" charset="-122"/>
            </a:endParaRPr>
          </a:p>
          <a:p>
            <a:pPr marL="342900" indent="-342900" algn="l" fontAlgn="auto">
              <a:lnSpc>
                <a:spcPct val="130000"/>
              </a:lnSpc>
              <a:spcAft>
                <a:spcPts val="1000"/>
              </a:spcAft>
              <a:buClrTx/>
              <a:buSzTx/>
              <a:buFont typeface="Arial" panose="020B0604020202020204" pitchFamily="34" charset="0"/>
              <a:buAutoNum type="arabicPeriod"/>
            </a:pPr>
            <a:r>
              <a:rPr lang="zh-CN" sz="1800" spc="150" noProof="1" dirty="0">
                <a:latin typeface="黑体" panose="02010609060101010101" charset="-122"/>
                <a:ea typeface="黑体" panose="02010609060101010101" charset="-122"/>
                <a:cs typeface="黑体" panose="02010609060101010101" charset="-122"/>
              </a:rPr>
              <a:t>需要维护的软件没有合格的说明文档,或者文档资料不足。容易理解的并且和程序代码完全一致的文档才真正有价值</a:t>
            </a:r>
            <a:endParaRPr lang="zh-CN" sz="1800" spc="150" noProof="1" dirty="0">
              <a:latin typeface="黑体" panose="02010609060101010101" charset="-122"/>
              <a:ea typeface="黑体" panose="02010609060101010101" charset="-122"/>
              <a:cs typeface="黑体" panose="02010609060101010101" charset="-122"/>
            </a:endParaRPr>
          </a:p>
          <a:p>
            <a:pPr marL="342900" indent="-342900" algn="l" fontAlgn="auto">
              <a:lnSpc>
                <a:spcPct val="130000"/>
              </a:lnSpc>
              <a:spcAft>
                <a:spcPts val="1000"/>
              </a:spcAft>
              <a:buClrTx/>
              <a:buSzTx/>
              <a:buFont typeface="Arial" panose="020B0604020202020204" pitchFamily="34" charset="0"/>
              <a:buAutoNum type="arabicPeriod"/>
            </a:pPr>
            <a:r>
              <a:rPr lang="zh-CN" sz="1800" spc="150" noProof="1" dirty="0">
                <a:latin typeface="黑体" panose="02010609060101010101" charset="-122"/>
                <a:ea typeface="黑体" panose="02010609060101010101" charset="-122"/>
                <a:cs typeface="黑体" panose="02010609060101010101" charset="-122"/>
              </a:rPr>
              <a:t>要求软件进行维护时,开发人员不在现场,无法给使用者仔细说明软件</a:t>
            </a:r>
            <a:endParaRPr lang="zh-CN" sz="1800" spc="150" noProof="1" dirty="0">
              <a:latin typeface="黑体" panose="02010609060101010101" charset="-122"/>
              <a:ea typeface="黑体" panose="02010609060101010101" charset="-122"/>
              <a:cs typeface="黑体" panose="02010609060101010101" charset="-122"/>
            </a:endParaRPr>
          </a:p>
          <a:p>
            <a:pPr marL="342900" indent="-342900" algn="l" fontAlgn="auto">
              <a:lnSpc>
                <a:spcPct val="130000"/>
              </a:lnSpc>
              <a:spcAft>
                <a:spcPts val="1000"/>
              </a:spcAft>
              <a:buClrTx/>
              <a:buSzTx/>
              <a:buFont typeface="Arial" panose="020B0604020202020204" pitchFamily="34" charset="0"/>
              <a:buAutoNum type="arabicPeriod"/>
            </a:pPr>
            <a:r>
              <a:rPr lang="zh-CN" sz="1800" spc="150" noProof="1" dirty="0">
                <a:latin typeface="黑体" panose="02010609060101010101" charset="-122"/>
                <a:ea typeface="黑体" panose="02010609060101010101" charset="-122"/>
                <a:cs typeface="黑体" panose="02010609060101010101" charset="-122"/>
              </a:rPr>
              <a:t>设计时没有考虑将来的修改,没有使用强调模块独立原理的设计方法,修改困难</a:t>
            </a:r>
            <a:endParaRPr lang="zh-CN" sz="1800" spc="150" noProof="1" dirty="0">
              <a:latin typeface="黑体" panose="02010609060101010101" charset="-122"/>
              <a:ea typeface="黑体" panose="02010609060101010101" charset="-122"/>
              <a:cs typeface="黑体" panose="02010609060101010101" charset="-122"/>
            </a:endParaRPr>
          </a:p>
          <a:p>
            <a:pPr marL="342900" indent="-342900" algn="l" fontAlgn="auto">
              <a:lnSpc>
                <a:spcPct val="130000"/>
              </a:lnSpc>
              <a:spcAft>
                <a:spcPts val="1000"/>
              </a:spcAft>
              <a:buClrTx/>
              <a:buSzTx/>
              <a:buFont typeface="Arial" panose="020B0604020202020204" pitchFamily="34" charset="0"/>
              <a:buAutoNum type="arabicPeriod"/>
            </a:pPr>
            <a:r>
              <a:rPr lang="zh-CN" sz="1800" spc="150" noProof="1" dirty="0">
                <a:latin typeface="黑体" panose="02010609060101010101" charset="-122"/>
                <a:ea typeface="黑体" panose="02010609060101010101" charset="-122"/>
                <a:cs typeface="黑体" panose="02010609060101010101" charset="-122"/>
              </a:rPr>
              <a:t>软件维护工作无法吸引人才,在维护工作经常遭受挫折</a:t>
            </a:r>
            <a:endParaRPr lang="zh-CN" sz="18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buFont typeface="Arial" panose="020B0604020202020204" pitchFamily="34" charset="0"/>
            </a:pPr>
            <a:endParaRPr lang="zh-CN" sz="18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8.3</a:t>
            </a:r>
            <a:r>
              <a:rPr lang="zh-CN" altLang="en-US" sz="2800" dirty="0">
                <a:latin typeface="黑体" panose="02010609060101010101" charset="-122"/>
                <a:ea typeface="黑体" panose="02010609060101010101" charset="-122"/>
                <a:cs typeface="黑体" panose="02010609060101010101" charset="-122"/>
                <a:sym typeface="+mn-ea"/>
              </a:rPr>
              <a:t>软件维护的过程</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611188" y="1328738"/>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11188" y="2709863"/>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5" name="文本框 4"/>
          <p:cNvSpPr txBox="1"/>
          <p:nvPr/>
        </p:nvSpPr>
        <p:spPr>
          <a:xfrm>
            <a:off x="683260" y="1149350"/>
            <a:ext cx="7841615" cy="4662805"/>
          </a:xfrm>
          <a:prstGeom prst="rect">
            <a:avLst/>
          </a:prstGeom>
          <a:noFill/>
        </p:spPr>
        <p:txBody>
          <a:bodyPr wrap="square" rtlCol="0" anchor="t">
            <a:noAutofit/>
          </a:bodyPr>
          <a:p>
            <a:pPr algn="l" fontAlgn="auto">
              <a:lnSpc>
                <a:spcPct val="130000"/>
              </a:lnSpc>
              <a:spcAft>
                <a:spcPts val="1000"/>
              </a:spcAft>
              <a:buClrTx/>
              <a:buSzTx/>
            </a:pPr>
            <a:r>
              <a:rPr lang="en-US" altLang="zh-CN" sz="2400" spc="150" noProof="1" dirty="0">
                <a:latin typeface="黑体" panose="02010609060101010101" charset="-122"/>
                <a:ea typeface="黑体" panose="02010609060101010101" charset="-122"/>
                <a:cs typeface="黑体" panose="02010609060101010101" charset="-122"/>
              </a:rPr>
              <a:t>1.</a:t>
            </a:r>
            <a:r>
              <a:rPr lang="zh-CN" sz="2400" spc="150" noProof="1" dirty="0">
                <a:latin typeface="黑体" panose="02010609060101010101" charset="-122"/>
                <a:ea typeface="黑体" panose="02010609060101010101" charset="-122"/>
                <a:cs typeface="黑体" panose="02010609060101010101" charset="-122"/>
              </a:rPr>
              <a:t>维护</a:t>
            </a:r>
            <a:r>
              <a:rPr lang="zh-CN" sz="2400" spc="150" noProof="1" dirty="0">
                <a:latin typeface="黑体" panose="02010609060101010101" charset="-122"/>
                <a:ea typeface="黑体" panose="02010609060101010101" charset="-122"/>
                <a:cs typeface="黑体" panose="02010609060101010101" charset="-122"/>
              </a:rPr>
              <a:t>组织</a:t>
            </a:r>
            <a:endParaRPr lang="zh-CN"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buFont typeface="Arial" panose="020B0604020202020204" pitchFamily="34" charset="0"/>
            </a:pPr>
            <a:r>
              <a:rPr lang="zh-CN" sz="2000" spc="150" noProof="1" dirty="0">
                <a:latin typeface="黑体" panose="02010609060101010101" charset="-122"/>
                <a:ea typeface="黑体" panose="02010609060101010101" charset="-122"/>
                <a:cs typeface="黑体" panose="02010609060101010101" charset="-122"/>
              </a:rPr>
              <a:t>通常,软件维护并不需要维持一个正式的组织机构,但委托一个非专门的维护管理员负责维护是绝对必要的。每个维护要求都通过维护管理员转交给相应的系统管理员去评价。系统管理员是被指定去熟悉一小部分产品程序的技术人员。系统管理员对维护任务做出评价之后,由变化授权人决定应该进行的活动。下图是一种典型的维护组织方式。</a:t>
            </a:r>
            <a:endParaRPr lang="zh-CN" sz="20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8.3</a:t>
            </a:r>
            <a:r>
              <a:rPr lang="zh-CN" altLang="en-US" sz="2800" dirty="0">
                <a:latin typeface="黑体" panose="02010609060101010101" charset="-122"/>
                <a:ea typeface="黑体" panose="02010609060101010101" charset="-122"/>
                <a:cs typeface="黑体" panose="02010609060101010101" charset="-122"/>
                <a:sym typeface="+mn-ea"/>
              </a:rPr>
              <a:t>软件维护的过程</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611188" y="1328738"/>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11188" y="2709863"/>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5" name="文本框 4"/>
          <p:cNvSpPr txBox="1"/>
          <p:nvPr/>
        </p:nvSpPr>
        <p:spPr>
          <a:xfrm>
            <a:off x="683260" y="1149350"/>
            <a:ext cx="7841615" cy="4662805"/>
          </a:xfrm>
          <a:prstGeom prst="rect">
            <a:avLst/>
          </a:prstGeom>
          <a:noFill/>
        </p:spPr>
        <p:txBody>
          <a:bodyPr wrap="square" rtlCol="0" anchor="t">
            <a:noAutofit/>
          </a:bodyPr>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2</a:t>
            </a:r>
            <a:r>
              <a:rPr lang="en-US" sz="2400" spc="150" noProof="1" dirty="0">
                <a:latin typeface="黑体" panose="02010609060101010101" charset="-122"/>
                <a:ea typeface="黑体" panose="02010609060101010101" charset="-122"/>
                <a:cs typeface="黑体" panose="02010609060101010101" charset="-122"/>
              </a:rPr>
              <a:t>.</a:t>
            </a:r>
            <a:r>
              <a:rPr sz="2400" spc="150" noProof="1" dirty="0">
                <a:latin typeface="黑体" panose="02010609060101010101" charset="-122"/>
                <a:ea typeface="黑体" panose="02010609060101010101" charset="-122"/>
                <a:cs typeface="黑体" panose="02010609060101010101" charset="-122"/>
              </a:rPr>
              <a:t>维护报告</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000" spc="150" noProof="1" dirty="0">
                <a:latin typeface="黑体" panose="02010609060101010101" charset="-122"/>
                <a:ea typeface="黑体" panose="02010609060101010101" charset="-122"/>
                <a:cs typeface="黑体" panose="02010609060101010101" charset="-122"/>
              </a:rPr>
              <a:t>由维护组织提供给用户,由要求一项维护活动的用户填写,用以表达用户的维护要求。如果遇到了一个错误,那么必须完整描述导致出现错误的环境(包括输入数据、全部输出数据以及其他有关信息)。对于适应性或完善性的维护要求,应该提出一个简短的需求说明书。</a:t>
            </a:r>
            <a:endParaRPr sz="20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8.3</a:t>
            </a:r>
            <a:r>
              <a:rPr lang="zh-CN" altLang="en-US" sz="2800" dirty="0">
                <a:latin typeface="黑体" panose="02010609060101010101" charset="-122"/>
                <a:ea typeface="黑体" panose="02010609060101010101" charset="-122"/>
                <a:cs typeface="黑体" panose="02010609060101010101" charset="-122"/>
                <a:sym typeface="+mn-ea"/>
              </a:rPr>
              <a:t>软件维护的过程</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611188" y="1328738"/>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11188" y="2709863"/>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5" name="文本框 4"/>
          <p:cNvSpPr txBox="1"/>
          <p:nvPr/>
        </p:nvSpPr>
        <p:spPr>
          <a:xfrm>
            <a:off x="683260" y="1149350"/>
            <a:ext cx="7841615" cy="4662805"/>
          </a:xfrm>
          <a:prstGeom prst="rect">
            <a:avLst/>
          </a:prstGeom>
          <a:noFill/>
        </p:spPr>
        <p:txBody>
          <a:bodyPr wrap="square" rtlCol="0" anchor="t">
            <a:noAutofit/>
          </a:bodyPr>
          <a:p>
            <a:pPr algn="l" fontAlgn="auto">
              <a:lnSpc>
                <a:spcPct val="130000"/>
              </a:lnSpc>
              <a:spcAft>
                <a:spcPts val="1000"/>
              </a:spcAft>
              <a:buClrTx/>
              <a:buSzTx/>
            </a:pPr>
            <a:r>
              <a:rPr sz="2000" spc="150" noProof="1" dirty="0">
                <a:latin typeface="黑体" panose="02010609060101010101" charset="-122"/>
                <a:ea typeface="黑体" panose="02010609060101010101" charset="-122"/>
                <a:cs typeface="黑体" panose="02010609060101010101" charset="-122"/>
              </a:rPr>
              <a:t>维护管理员与系统管理员评价用户提交的维护报告,并制定一个对应的软件修改报告:</a:t>
            </a:r>
            <a:endParaRPr sz="20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000" spc="150" noProof="1" dirty="0">
                <a:latin typeface="黑体" panose="02010609060101010101" charset="-122"/>
                <a:ea typeface="黑体" panose="02010609060101010101" charset="-122"/>
                <a:cs typeface="黑体" panose="02010609060101010101" charset="-122"/>
              </a:rPr>
              <a:t>1)满足用户维护要求所需要的工作量;</a:t>
            </a:r>
            <a:endParaRPr sz="20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000" spc="150" noProof="1" dirty="0">
                <a:latin typeface="黑体" panose="02010609060101010101" charset="-122"/>
                <a:ea typeface="黑体" panose="02010609060101010101" charset="-122"/>
                <a:cs typeface="黑体" panose="02010609060101010101" charset="-122"/>
              </a:rPr>
              <a:t>2)维护要求的性质;</a:t>
            </a:r>
            <a:endParaRPr sz="20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000" spc="150" noProof="1" dirty="0">
                <a:latin typeface="黑体" panose="02010609060101010101" charset="-122"/>
                <a:ea typeface="黑体" panose="02010609060101010101" charset="-122"/>
                <a:cs typeface="黑体" panose="02010609060101010101" charset="-122"/>
              </a:rPr>
              <a:t>3)这项要求的优先次序;</a:t>
            </a:r>
            <a:endParaRPr sz="20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000" spc="150" noProof="1" dirty="0">
                <a:latin typeface="黑体" panose="02010609060101010101" charset="-122"/>
                <a:ea typeface="黑体" panose="02010609060101010101" charset="-122"/>
                <a:cs typeface="黑体" panose="02010609060101010101" charset="-122"/>
              </a:rPr>
              <a:t>4)与修改有关的事后数据。在拟定进一步的维护计划之前,把软件修改报告提交给变化授权人审查批准。</a:t>
            </a:r>
            <a:endParaRPr sz="20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8.3</a:t>
            </a:r>
            <a:r>
              <a:rPr lang="zh-CN" altLang="en-US" sz="2800" dirty="0">
                <a:latin typeface="黑体" panose="02010609060101010101" charset="-122"/>
                <a:ea typeface="黑体" panose="02010609060101010101" charset="-122"/>
                <a:cs typeface="黑体" panose="02010609060101010101" charset="-122"/>
                <a:sym typeface="+mn-ea"/>
              </a:rPr>
              <a:t>软件维护的过程</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611188" y="1328738"/>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11188" y="2709863"/>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5" name="文本框 4"/>
          <p:cNvSpPr txBox="1"/>
          <p:nvPr/>
        </p:nvSpPr>
        <p:spPr>
          <a:xfrm>
            <a:off x="683260" y="1149350"/>
            <a:ext cx="7841615" cy="4662805"/>
          </a:xfrm>
          <a:prstGeom prst="rect">
            <a:avLst/>
          </a:prstGeom>
          <a:noFill/>
        </p:spPr>
        <p:txBody>
          <a:bodyPr wrap="square" rtlCol="0" anchor="t">
            <a:noAutofit/>
          </a:bodyPr>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3</a:t>
            </a:r>
            <a:r>
              <a:rPr lang="en-US" sz="2400" spc="150" noProof="1" dirty="0">
                <a:latin typeface="黑体" panose="02010609060101010101" charset="-122"/>
                <a:ea typeface="黑体" panose="02010609060101010101" charset="-122"/>
                <a:cs typeface="黑体" panose="02010609060101010101" charset="-122"/>
              </a:rPr>
              <a:t>.</a:t>
            </a:r>
            <a:r>
              <a:rPr sz="2400" spc="150" noProof="1" dirty="0">
                <a:latin typeface="黑体" panose="02010609060101010101" charset="-122"/>
                <a:ea typeface="黑体" panose="02010609060101010101" charset="-122"/>
                <a:cs typeface="黑体" panose="02010609060101010101" charset="-122"/>
              </a:rPr>
              <a:t>维护</a:t>
            </a:r>
            <a:r>
              <a:rPr lang="zh-CN" sz="2400" spc="150" noProof="1" dirty="0">
                <a:latin typeface="黑体" panose="02010609060101010101" charset="-122"/>
                <a:ea typeface="黑体" panose="02010609060101010101" charset="-122"/>
                <a:cs typeface="黑体" panose="02010609060101010101" charset="-122"/>
              </a:rPr>
              <a:t>的事件</a:t>
            </a:r>
            <a:r>
              <a:rPr sz="2400" spc="150" noProof="1" dirty="0">
                <a:latin typeface="黑体" panose="02010609060101010101" charset="-122"/>
                <a:ea typeface="黑体" panose="02010609060101010101" charset="-122"/>
                <a:cs typeface="黑体" panose="02010609060101010101" charset="-122"/>
              </a:rPr>
              <a:t>流</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图描绘了由一项维护要求而引出的工作流程。首先应该确定要求进行的维护的类型,并与用户达成共识。</a:t>
            </a:r>
            <a:endParaRPr sz="2400" spc="150" noProof="1" dirty="0">
              <a:latin typeface="黑体" panose="02010609060101010101" charset="-122"/>
              <a:ea typeface="黑体" panose="02010609060101010101" charset="-122"/>
              <a:cs typeface="黑体" panose="02010609060101010101" charset="-122"/>
            </a:endParaRPr>
          </a:p>
        </p:txBody>
      </p:sp>
      <p:pic>
        <p:nvPicPr>
          <p:cNvPr id="4" name="图片 3"/>
          <p:cNvPicPr>
            <a:picLocks noChangeAspect="1"/>
          </p:cNvPicPr>
          <p:nvPr/>
        </p:nvPicPr>
        <p:blipFill>
          <a:blip r:embed="rId5"/>
          <a:stretch>
            <a:fillRect/>
          </a:stretch>
        </p:blipFill>
        <p:spPr>
          <a:xfrm>
            <a:off x="1691640" y="2853055"/>
            <a:ext cx="5829300" cy="3886200"/>
          </a:xfrm>
          <a:prstGeom prst="rect">
            <a:avLst/>
          </a:prstGeom>
        </p:spPr>
      </p:pic>
    </p:spTree>
    <p:custDataLst>
      <p:tags r:id="rId6"/>
    </p:custData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8.3</a:t>
            </a:r>
            <a:r>
              <a:rPr lang="zh-CN" altLang="en-US" sz="2800" dirty="0">
                <a:latin typeface="黑体" panose="02010609060101010101" charset="-122"/>
                <a:ea typeface="黑体" panose="02010609060101010101" charset="-122"/>
                <a:cs typeface="黑体" panose="02010609060101010101" charset="-122"/>
                <a:sym typeface="+mn-ea"/>
              </a:rPr>
              <a:t>软件维护的过程</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611188" y="1328738"/>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11188" y="2709863"/>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5" name="文本框 4"/>
          <p:cNvSpPr txBox="1"/>
          <p:nvPr/>
        </p:nvSpPr>
        <p:spPr>
          <a:xfrm>
            <a:off x="683260" y="1149350"/>
            <a:ext cx="7841615" cy="4662805"/>
          </a:xfrm>
          <a:prstGeom prst="rect">
            <a:avLst/>
          </a:prstGeom>
          <a:noFill/>
        </p:spPr>
        <p:txBody>
          <a:bodyPr wrap="square" rtlCol="0" anchor="t">
            <a:noAutofit/>
          </a:bodyPr>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从图</a:t>
            </a:r>
            <a:r>
              <a:rPr lang="zh-CN" sz="2400" spc="150" noProof="1" dirty="0">
                <a:latin typeface="黑体" panose="02010609060101010101" charset="-122"/>
                <a:ea typeface="黑体" panose="02010609060101010101" charset="-122"/>
                <a:cs typeface="黑体" panose="02010609060101010101" charset="-122"/>
              </a:rPr>
              <a:t>示</a:t>
            </a:r>
            <a:r>
              <a:rPr sz="2400" spc="150" noProof="1" dirty="0">
                <a:latin typeface="黑体" panose="02010609060101010101" charset="-122"/>
                <a:ea typeface="黑体" panose="02010609060101010101" charset="-122"/>
                <a:cs typeface="黑体" panose="02010609060101010101" charset="-122"/>
              </a:rPr>
              <a:t>事件流看到,对一项改正性维护要求|“错误”通路)的处理,从估量错误的严重程度开始。如果是一个严重的错误,则在系统管理员的指导下分派人员,并且立即开始问题分析过程。如果错误并不严重,那么改正性的维护与其他要求软件开发资源的任务一起统筹安排。维护工作必须进行的技术工作:包括修改软件设计、复查、必要的代码修改、单元测试与集成测试、回归测试、验收测试与复审。</a:t>
            </a:r>
            <a:endParaRPr sz="24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8.3</a:t>
            </a:r>
            <a:r>
              <a:rPr lang="zh-CN" altLang="en-US" sz="2800" dirty="0">
                <a:latin typeface="黑体" panose="02010609060101010101" charset="-122"/>
                <a:ea typeface="黑体" panose="02010609060101010101" charset="-122"/>
                <a:cs typeface="黑体" panose="02010609060101010101" charset="-122"/>
                <a:sym typeface="+mn-ea"/>
              </a:rPr>
              <a:t>软件维护的过程</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611188" y="1328738"/>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11188" y="2709863"/>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5" name="文本框 4"/>
          <p:cNvSpPr txBox="1"/>
          <p:nvPr/>
        </p:nvSpPr>
        <p:spPr>
          <a:xfrm>
            <a:off x="683260" y="1149350"/>
            <a:ext cx="7841615" cy="4662805"/>
          </a:xfrm>
          <a:prstGeom prst="rect">
            <a:avLst/>
          </a:prstGeom>
          <a:noFill/>
        </p:spPr>
        <p:txBody>
          <a:bodyPr wrap="square" rtlCol="0" anchor="t">
            <a:noAutofit/>
          </a:bodyPr>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4</a:t>
            </a:r>
            <a:r>
              <a:rPr lang="en-US" sz="2400" spc="150" noProof="1" dirty="0">
                <a:latin typeface="黑体" panose="02010609060101010101" charset="-122"/>
                <a:ea typeface="黑体" panose="02010609060101010101" charset="-122"/>
                <a:cs typeface="黑体" panose="02010609060101010101" charset="-122"/>
              </a:rPr>
              <a:t>.</a:t>
            </a:r>
            <a:r>
              <a:rPr sz="2400" spc="150" noProof="1" dirty="0">
                <a:latin typeface="黑体" panose="02010609060101010101" charset="-122"/>
                <a:ea typeface="黑体" panose="02010609060101010101" charset="-122"/>
                <a:cs typeface="黑体" panose="02010609060101010101" charset="-122"/>
              </a:rPr>
              <a:t>保存维护记录</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完整、准确地保存维护记录,既可以评价软件系统使用状况与可靠性等重要特性,也可以评价维护技术的有效性。</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维护工作应该记录与维护工作有关下述数据与内容:</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1)程序标识; 2)源语句数; </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3)机器指令条数;</a:t>
            </a:r>
            <a:r>
              <a:rPr lang="en-US" sz="2400" spc="150" noProof="1" dirty="0">
                <a:latin typeface="黑体" panose="02010609060101010101" charset="-122"/>
                <a:ea typeface="黑体" panose="02010609060101010101" charset="-122"/>
                <a:cs typeface="黑体" panose="02010609060101010101" charset="-122"/>
              </a:rPr>
              <a:t>	</a:t>
            </a:r>
            <a:endParaRPr lang="en-US"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4)使用的程序设计语言; </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5)程序安装的日期;</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endParaRPr sz="24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8.3</a:t>
            </a:r>
            <a:r>
              <a:rPr lang="zh-CN" altLang="en-US" sz="2800" dirty="0">
                <a:latin typeface="黑体" panose="02010609060101010101" charset="-122"/>
                <a:ea typeface="黑体" panose="02010609060101010101" charset="-122"/>
                <a:cs typeface="黑体" panose="02010609060101010101" charset="-122"/>
                <a:sym typeface="+mn-ea"/>
              </a:rPr>
              <a:t>软件维护的过程</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611188" y="1328738"/>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11188" y="2709863"/>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5" name="文本框 4"/>
          <p:cNvSpPr txBox="1"/>
          <p:nvPr/>
        </p:nvSpPr>
        <p:spPr>
          <a:xfrm>
            <a:off x="683260" y="1149350"/>
            <a:ext cx="7841615" cy="4662805"/>
          </a:xfrm>
          <a:prstGeom prst="rect">
            <a:avLst/>
          </a:prstGeom>
          <a:noFill/>
        </p:spPr>
        <p:txBody>
          <a:bodyPr wrap="square" rtlCol="0" anchor="t">
            <a:noAutofit/>
          </a:bodyPr>
          <a:p>
            <a:pPr algn="l" fontAlgn="auto">
              <a:lnSpc>
                <a:spcPct val="130000"/>
              </a:lnSpc>
              <a:spcAft>
                <a:spcPts val="1000"/>
              </a:spcAft>
              <a:buClrTx/>
              <a:buSzTx/>
            </a:pPr>
            <a:r>
              <a:rPr sz="2400" spc="150" dirty="0">
                <a:latin typeface="黑体" panose="02010609060101010101" charset="-122"/>
                <a:ea typeface="黑体" panose="02010609060101010101" charset="-122"/>
                <a:cs typeface="黑体" panose="02010609060101010101" charset="-122"/>
                <a:sym typeface="+mn-ea"/>
              </a:rPr>
              <a:t>6)自从安装以来程序运行的次数;</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7)自从安装以来程序失效的次数;</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8)程序变动的层次与标识;</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9因程序变动而增加的源语句数; </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10)因程序变动而删除的源语句数; </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11)每个改动耗费的人时数; </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12)程序改动的日期; </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13)软件工程师的名字; </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endParaRPr sz="24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8.3</a:t>
            </a:r>
            <a:r>
              <a:rPr lang="zh-CN" altLang="en-US" sz="2800" dirty="0">
                <a:latin typeface="黑体" panose="02010609060101010101" charset="-122"/>
                <a:ea typeface="黑体" panose="02010609060101010101" charset="-122"/>
                <a:cs typeface="黑体" panose="02010609060101010101" charset="-122"/>
                <a:sym typeface="+mn-ea"/>
              </a:rPr>
              <a:t>软件维护的过程</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611188" y="1328738"/>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11188" y="2709863"/>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5" name="文本框 4"/>
          <p:cNvSpPr txBox="1"/>
          <p:nvPr/>
        </p:nvSpPr>
        <p:spPr>
          <a:xfrm>
            <a:off x="683260" y="1149350"/>
            <a:ext cx="7841615" cy="4662805"/>
          </a:xfrm>
          <a:prstGeom prst="rect">
            <a:avLst/>
          </a:prstGeom>
          <a:noFill/>
        </p:spPr>
        <p:txBody>
          <a:bodyPr wrap="square" rtlCol="0" anchor="t">
            <a:noAutofit/>
          </a:bodyPr>
          <a:p>
            <a:pPr algn="l" fontAlgn="auto">
              <a:lnSpc>
                <a:spcPct val="130000"/>
              </a:lnSpc>
              <a:spcAft>
                <a:spcPts val="1000"/>
              </a:spcAft>
              <a:buClrTx/>
              <a:buSzTx/>
            </a:pPr>
            <a:r>
              <a:rPr sz="2400" spc="150" dirty="0">
                <a:latin typeface="黑体" panose="02010609060101010101" charset="-122"/>
                <a:ea typeface="黑体" panose="02010609060101010101" charset="-122"/>
                <a:cs typeface="黑体" panose="02010609060101010101" charset="-122"/>
                <a:sym typeface="+mn-ea"/>
              </a:rPr>
              <a:t>14)维护申请报告的标识; </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dirty="0">
                <a:latin typeface="黑体" panose="02010609060101010101" charset="-122"/>
                <a:ea typeface="黑体" panose="02010609060101010101" charset="-122"/>
                <a:cs typeface="黑体" panose="02010609060101010101" charset="-122"/>
                <a:sym typeface="+mn-ea"/>
              </a:rPr>
              <a:t>15)维护类型; </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16)维护开始与完成的日期; </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17)累计用于维护的人时数; </a:t>
            </a:r>
            <a:endParaRPr sz="2400" spc="150" noProof="1" dirty="0">
              <a:latin typeface="黑体" panose="02010609060101010101" charset="-122"/>
              <a:ea typeface="黑体" panose="02010609060101010101" charset="-122"/>
              <a:cs typeface="黑体" panose="02010609060101010101" charset="-122"/>
            </a:endParaRPr>
          </a:p>
          <a:p>
            <a:pPr algn="l" fontAlgn="auto">
              <a:lnSpc>
                <a:spcPct val="130000"/>
              </a:lnSpc>
              <a:spcAft>
                <a:spcPts val="1000"/>
              </a:spcAft>
              <a:buClrTx/>
              <a:buSzTx/>
            </a:pPr>
            <a:r>
              <a:rPr sz="2400" spc="150" noProof="1" dirty="0">
                <a:latin typeface="黑体" panose="02010609060101010101" charset="-122"/>
                <a:ea typeface="黑体" panose="02010609060101010101" charset="-122"/>
                <a:cs typeface="黑体" panose="02010609060101010101" charset="-122"/>
              </a:rPr>
              <a:t>18)与完成的维护相联系的纯效益。应该为每项维护工作都收集上述数据,利用这些数据构成一个维护工作数据库,并且进行诸多有关软件各个方面的度量与评价。</a:t>
            </a:r>
            <a:endParaRPr sz="24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2222" y="908685"/>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8.4</a:t>
            </a:r>
            <a:r>
              <a:rPr lang="zh-CN" altLang="en-US" sz="2800" dirty="0">
                <a:latin typeface="黑体" panose="02010609060101010101" charset="-122"/>
                <a:ea typeface="黑体" panose="02010609060101010101" charset="-122"/>
                <a:cs typeface="黑体" panose="02010609060101010101" charset="-122"/>
                <a:sym typeface="+mn-ea"/>
              </a:rPr>
              <a:t>软件的可维护性</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1403985" y="908685"/>
            <a:ext cx="6901815" cy="5342255"/>
          </a:xfrm>
          <a:prstGeom prst="rect">
            <a:avLst/>
          </a:prstGeom>
          <a:noFill/>
        </p:spPr>
        <p:txBody>
          <a:bodyPr wrap="square" rtlCol="0" anchor="t">
            <a:noAutofit/>
          </a:bodyPr>
          <a:p>
            <a:pPr fontAlgn="auto">
              <a:lnSpc>
                <a:spcPct val="130000"/>
              </a:lnSpc>
              <a:spcAft>
                <a:spcPts val="1000"/>
              </a:spcAft>
              <a:buClrTx/>
              <a:buSzTx/>
              <a:buNone/>
            </a:pPr>
            <a:r>
              <a:rPr lang="zh-CN" sz="2000" spc="150" noProof="1" dirty="0">
                <a:latin typeface="黑体" panose="02010609060101010101" charset="-122"/>
                <a:ea typeface="黑体" panose="02010609060101010101" charset="-122"/>
                <a:cs typeface="黑体" panose="02010609060101010101" charset="-122"/>
              </a:rPr>
              <a:t>■什么是软件的可维护性</a:t>
            </a:r>
            <a:endParaRPr 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noProof="1" dirty="0">
                <a:latin typeface="黑体" panose="02010609060101010101" charset="-122"/>
                <a:ea typeface="黑体" panose="02010609060101010101" charset="-122"/>
                <a:cs typeface="黑体" panose="02010609060101010101" charset="-122"/>
              </a:rPr>
              <a:t>维护人员理解、改正、改动或改进</a:t>
            </a:r>
            <a:r>
              <a:rPr lang="en-US" altLang="zh-CN" sz="2000" spc="150" noProof="1" dirty="0">
                <a:latin typeface="黑体" panose="02010609060101010101" charset="-122"/>
                <a:ea typeface="黑体" panose="02010609060101010101" charset="-122"/>
                <a:cs typeface="黑体" panose="02010609060101010101" charset="-122"/>
              </a:rPr>
              <a:t>			 </a:t>
            </a:r>
            <a:r>
              <a:rPr lang="zh-CN" sz="2000" spc="150" noProof="1" dirty="0">
                <a:latin typeface="黑体" panose="02010609060101010101" charset="-122"/>
                <a:ea typeface="黑体" panose="02010609060101010101" charset="-122"/>
                <a:cs typeface="黑体" panose="02010609060101010101" charset="-122"/>
              </a:rPr>
              <a:t>这个软件的</a:t>
            </a:r>
            <a:r>
              <a:rPr lang="zh-CN" sz="2000" spc="150" noProof="1" dirty="0">
                <a:latin typeface="黑体" panose="02010609060101010101" charset="-122"/>
                <a:ea typeface="黑体" panose="02010609060101010101" charset="-122"/>
                <a:cs typeface="黑体" panose="02010609060101010101" charset="-122"/>
              </a:rPr>
              <a:t>难易程度的程度</a:t>
            </a:r>
            <a:endParaRPr 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dirty="0">
                <a:latin typeface="黑体" panose="02010609060101010101" charset="-122"/>
                <a:ea typeface="黑体" panose="02010609060101010101" charset="-122"/>
                <a:cs typeface="黑体" panose="02010609060101010101" charset="-122"/>
                <a:sym typeface="+mn-ea"/>
              </a:rPr>
              <a:t>■决定</a:t>
            </a:r>
            <a:r>
              <a:rPr lang="zh-CN" sz="2000" spc="150" noProof="1" dirty="0">
                <a:latin typeface="黑体" panose="02010609060101010101" charset="-122"/>
                <a:ea typeface="黑体" panose="02010609060101010101" charset="-122"/>
                <a:cs typeface="黑体" panose="02010609060101010101" charset="-122"/>
              </a:rPr>
              <a:t>软件可维护性的因素</a:t>
            </a:r>
            <a:endParaRPr 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noProof="1" dirty="0">
                <a:latin typeface="黑体" panose="02010609060101010101" charset="-122"/>
                <a:ea typeface="黑体" panose="02010609060101010101" charset="-122"/>
                <a:cs typeface="黑体" panose="02010609060101010101" charset="-122"/>
              </a:rPr>
              <a:t>可理解性</a:t>
            </a:r>
            <a:r>
              <a:rPr lang="en-US" altLang="zh-CN" sz="2000" spc="150" noProof="1" dirty="0">
                <a:latin typeface="黑体" panose="02010609060101010101" charset="-122"/>
                <a:ea typeface="黑体" panose="02010609060101010101" charset="-122"/>
                <a:cs typeface="黑体" panose="02010609060101010101" charset="-122"/>
              </a:rPr>
              <a:t>	</a:t>
            </a:r>
            <a:r>
              <a:rPr lang="zh-CN" altLang="en-US" sz="2000" spc="150" noProof="1" dirty="0">
                <a:latin typeface="黑体" panose="02010609060101010101" charset="-122"/>
                <a:ea typeface="黑体" panose="02010609060101010101" charset="-122"/>
                <a:cs typeface="黑体" panose="02010609060101010101" charset="-122"/>
              </a:rPr>
              <a:t>可测试性</a:t>
            </a:r>
            <a:r>
              <a:rPr lang="en-US" altLang="zh-CN" sz="2000" spc="150" noProof="1" dirty="0">
                <a:latin typeface="黑体" panose="02010609060101010101" charset="-122"/>
                <a:ea typeface="黑体" panose="02010609060101010101" charset="-122"/>
                <a:cs typeface="黑体" panose="02010609060101010101" charset="-122"/>
              </a:rPr>
              <a:t>	</a:t>
            </a:r>
            <a:r>
              <a:rPr lang="zh-CN" altLang="en-US" sz="2000" spc="150" noProof="1" dirty="0">
                <a:latin typeface="黑体" panose="02010609060101010101" charset="-122"/>
                <a:ea typeface="黑体" panose="02010609060101010101" charset="-122"/>
                <a:cs typeface="黑体" panose="02010609060101010101" charset="-122"/>
              </a:rPr>
              <a:t>可移植性</a:t>
            </a:r>
            <a:r>
              <a:rPr lang="en-US" altLang="zh-CN" sz="2000" spc="150" noProof="1" dirty="0">
                <a:latin typeface="黑体" panose="02010609060101010101" charset="-122"/>
                <a:ea typeface="黑体" panose="02010609060101010101" charset="-122"/>
                <a:cs typeface="黑体" panose="02010609060101010101" charset="-122"/>
              </a:rPr>
              <a:t>	</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altLang="en-US" sz="2000" spc="150" noProof="1" dirty="0">
                <a:latin typeface="黑体" panose="02010609060101010101" charset="-122"/>
                <a:ea typeface="黑体" panose="02010609060101010101" charset="-122"/>
                <a:cs typeface="黑体" panose="02010609060101010101" charset="-122"/>
              </a:rPr>
              <a:t>可修改性</a:t>
            </a:r>
            <a:r>
              <a:rPr lang="en-US" altLang="zh-CN" sz="2000" spc="150" noProof="1" dirty="0">
                <a:latin typeface="黑体" panose="02010609060101010101" charset="-122"/>
                <a:ea typeface="黑体" panose="02010609060101010101" charset="-122"/>
                <a:cs typeface="黑体" panose="02010609060101010101" charset="-122"/>
              </a:rPr>
              <a:t>	</a:t>
            </a:r>
            <a:r>
              <a:rPr lang="zh-CN" altLang="en-US" sz="2000" spc="150" noProof="1" dirty="0">
                <a:latin typeface="黑体" panose="02010609060101010101" charset="-122"/>
                <a:ea typeface="黑体" panose="02010609060101010101" charset="-122"/>
                <a:cs typeface="黑体" panose="02010609060101010101" charset="-122"/>
              </a:rPr>
              <a:t>可重用</a:t>
            </a:r>
            <a:r>
              <a:rPr lang="zh-CN" altLang="en-US" sz="2000" spc="150" noProof="1" dirty="0">
                <a:latin typeface="黑体" panose="02010609060101010101" charset="-122"/>
                <a:ea typeface="黑体" panose="02010609060101010101" charset="-122"/>
                <a:cs typeface="黑体" panose="02010609060101010101" charset="-122"/>
              </a:rPr>
              <a:t>性</a:t>
            </a:r>
            <a:endParaRPr lang="zh-CN" altLang="en-US"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endParaRPr lang="zh-CN" altLang="en-US"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11188" y="2709863"/>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2222" y="908685"/>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8.4</a:t>
            </a:r>
            <a:r>
              <a:rPr lang="zh-CN" altLang="en-US" sz="2800" dirty="0">
                <a:latin typeface="黑体" panose="02010609060101010101" charset="-122"/>
                <a:ea typeface="黑体" panose="02010609060101010101" charset="-122"/>
                <a:cs typeface="黑体" panose="02010609060101010101" charset="-122"/>
                <a:sym typeface="+mn-ea"/>
              </a:rPr>
              <a:t>软件的可维护性</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1403985" y="1052195"/>
            <a:ext cx="6901815" cy="5342255"/>
          </a:xfrm>
          <a:prstGeom prst="rect">
            <a:avLst/>
          </a:prstGeom>
          <a:noFill/>
        </p:spPr>
        <p:txBody>
          <a:bodyPr wrap="square" rtlCol="0" anchor="t">
            <a:noAutofit/>
          </a:bodyPr>
          <a:p>
            <a:pPr fontAlgn="auto">
              <a:lnSpc>
                <a:spcPct val="130000"/>
              </a:lnSpc>
              <a:spcAft>
                <a:spcPts val="1000"/>
              </a:spcAft>
              <a:buClrTx/>
              <a:buSzTx/>
              <a:buNone/>
            </a:pPr>
            <a:r>
              <a:rPr lang="zh-CN" sz="2000" spc="150" noProof="1" dirty="0">
                <a:latin typeface="黑体" panose="02010609060101010101" charset="-122"/>
                <a:ea typeface="黑体" panose="02010609060101010101" charset="-122"/>
                <a:cs typeface="黑体" panose="02010609060101010101" charset="-122"/>
              </a:rPr>
              <a:t>■文档</a:t>
            </a:r>
            <a:r>
              <a:rPr lang="en-US" altLang="zh-CN" sz="2000" spc="150" noProof="1" dirty="0">
                <a:latin typeface="黑体" panose="02010609060101010101" charset="-122"/>
                <a:ea typeface="黑体" panose="02010609060101010101" charset="-122"/>
                <a:cs typeface="黑体" panose="02010609060101010101" charset="-122"/>
              </a:rPr>
              <a:t>	</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en-US" altLang="zh-CN" sz="2000" spc="150" noProof="1" dirty="0">
                <a:latin typeface="黑体" panose="02010609060101010101" charset="-122"/>
                <a:ea typeface="黑体" panose="02010609060101010101" charset="-122"/>
                <a:cs typeface="黑体" panose="02010609060101010101" charset="-122"/>
              </a:rPr>
              <a:t>文档是影响软件可维护性的决定因素。</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en-US" altLang="zh-CN" sz="2000" spc="150" noProof="1" dirty="0">
                <a:latin typeface="黑体" panose="02010609060101010101" charset="-122"/>
                <a:ea typeface="黑体" panose="02010609060101010101" charset="-122"/>
                <a:cs typeface="黑体" panose="02010609060101010101" charset="-122"/>
              </a:rPr>
              <a:t>由于软件系统在长期的使用过程中必然会经历多次修改,因而文档比程序代码更重要</a:t>
            </a:r>
            <a:r>
              <a:rPr lang="zh-CN" altLang="en-US" sz="2000" spc="150" noProof="1" dirty="0">
                <a:latin typeface="黑体" panose="02010609060101010101" charset="-122"/>
                <a:ea typeface="黑体" panose="02010609060101010101" charset="-122"/>
                <a:cs typeface="黑体" panose="02010609060101010101" charset="-122"/>
              </a:rPr>
              <a:t>。</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en-US" altLang="zh-CN" sz="2000" spc="150" noProof="1" dirty="0">
                <a:latin typeface="黑体" panose="02010609060101010101" charset="-122"/>
                <a:ea typeface="黑体" panose="02010609060101010101" charset="-122"/>
                <a:cs typeface="黑体" panose="02010609060101010101" charset="-122"/>
              </a:rPr>
              <a:t>软件文档应该满足下述要求： </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en-US" altLang="zh-CN" sz="2000" spc="150" noProof="1" dirty="0">
                <a:latin typeface="黑体" panose="02010609060101010101" charset="-122"/>
                <a:ea typeface="黑体" panose="02010609060101010101" charset="-122"/>
                <a:cs typeface="黑体" panose="02010609060101010101" charset="-122"/>
              </a:rPr>
              <a:t>(1) 必须描述如何使用这个系统，没有这种描述时即使是最简单的系统也无法使用。 </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en-US" altLang="zh-CN" sz="2000" spc="150" noProof="1" dirty="0">
                <a:latin typeface="黑体" panose="02010609060101010101" charset="-122"/>
                <a:ea typeface="黑体" panose="02010609060101010101" charset="-122"/>
                <a:cs typeface="黑体" panose="02010609060101010101" charset="-122"/>
              </a:rPr>
              <a:t>(2) 必须描述怎样安装和管理这个系统。 </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en-US" altLang="zh-CN" sz="2000" spc="150" noProof="1" dirty="0">
                <a:latin typeface="黑体" panose="02010609060101010101" charset="-122"/>
                <a:ea typeface="黑体" panose="02010609060101010101" charset="-122"/>
                <a:cs typeface="黑体" panose="02010609060101010101" charset="-122"/>
              </a:rPr>
              <a:t>(3) 必须描述系统需求和设计。 </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en-US" altLang="zh-CN" sz="2000" spc="150" noProof="1" dirty="0">
                <a:latin typeface="黑体" panose="02010609060101010101" charset="-122"/>
                <a:ea typeface="黑体" panose="02010609060101010101" charset="-122"/>
                <a:cs typeface="黑体" panose="02010609060101010101" charset="-122"/>
              </a:rPr>
              <a:t>(4) 必须描述系统的实现和测试，以便使系统成为可维护的。</a:t>
            </a:r>
            <a:endParaRPr lang="en-US" altLang="zh-CN" sz="20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2222" y="908685"/>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8.4</a:t>
            </a:r>
            <a:r>
              <a:rPr lang="zh-CN" altLang="en-US" sz="2800" dirty="0">
                <a:latin typeface="黑体" panose="02010609060101010101" charset="-122"/>
                <a:ea typeface="黑体" panose="02010609060101010101" charset="-122"/>
                <a:cs typeface="黑体" panose="02010609060101010101" charset="-122"/>
                <a:sym typeface="+mn-ea"/>
              </a:rPr>
              <a:t>软件的可维护性</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1331595" y="908685"/>
            <a:ext cx="6901815" cy="5342255"/>
          </a:xfrm>
          <a:prstGeom prst="rect">
            <a:avLst/>
          </a:prstGeom>
          <a:noFill/>
        </p:spPr>
        <p:txBody>
          <a:bodyPr wrap="square" rtlCol="0" anchor="t">
            <a:noAutofit/>
          </a:bodyPr>
          <a:p>
            <a:pPr fontAlgn="auto">
              <a:lnSpc>
                <a:spcPct val="130000"/>
              </a:lnSpc>
              <a:spcAft>
                <a:spcPts val="1000"/>
              </a:spcAft>
              <a:buClrTx/>
              <a:buSzTx/>
              <a:buNone/>
            </a:pPr>
            <a:r>
              <a:rPr lang="zh-CN" sz="2000" spc="150" noProof="1" dirty="0">
                <a:latin typeface="黑体" panose="02010609060101010101" charset="-122"/>
                <a:ea typeface="黑体" panose="02010609060101010101" charset="-122"/>
                <a:cs typeface="黑体" panose="02010609060101010101" charset="-122"/>
              </a:rPr>
              <a:t>■文档</a:t>
            </a:r>
            <a:r>
              <a:rPr lang="en-US" altLang="zh-CN" sz="2000" spc="150" noProof="1" dirty="0">
                <a:latin typeface="黑体" panose="02010609060101010101" charset="-122"/>
                <a:ea typeface="黑体" panose="02010609060101010101" charset="-122"/>
                <a:cs typeface="黑体" panose="02010609060101010101" charset="-122"/>
              </a:rPr>
              <a:t>	</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en-US" altLang="zh-CN" sz="2000" spc="150" noProof="1" dirty="0">
                <a:latin typeface="黑体" panose="02010609060101010101" charset="-122"/>
                <a:ea typeface="黑体" panose="02010609060101010101" charset="-122"/>
                <a:cs typeface="黑体" panose="02010609060101010101" charset="-122"/>
              </a:rPr>
              <a:t>文档可以分为</a:t>
            </a:r>
            <a:r>
              <a:rPr lang="en-US" altLang="zh-CN" sz="2000" i="1" u="sng" spc="150" noProof="1" dirty="0">
                <a:latin typeface="黑体" panose="02010609060101010101" charset="-122"/>
                <a:ea typeface="黑体" panose="02010609060101010101" charset="-122"/>
                <a:cs typeface="黑体" panose="02010609060101010101" charset="-122"/>
              </a:rPr>
              <a:t>用户文档</a:t>
            </a:r>
            <a:r>
              <a:rPr lang="en-US" altLang="zh-CN" sz="2000" spc="150" noProof="1" dirty="0">
                <a:latin typeface="黑体" panose="02010609060101010101" charset="-122"/>
                <a:ea typeface="黑体" panose="02010609060101010101" charset="-122"/>
                <a:cs typeface="黑体" panose="02010609060101010101" charset="-122"/>
              </a:rPr>
              <a:t>和</a:t>
            </a:r>
            <a:r>
              <a:rPr lang="en-US" altLang="zh-CN" sz="2000" i="1" u="sng" spc="150" noProof="1" dirty="0">
                <a:latin typeface="黑体" panose="02010609060101010101" charset="-122"/>
                <a:ea typeface="黑体" panose="02010609060101010101" charset="-122"/>
                <a:cs typeface="黑体" panose="02010609060101010101" charset="-122"/>
              </a:rPr>
              <a:t>系统文档</a:t>
            </a:r>
            <a:r>
              <a:rPr lang="en-US" altLang="zh-CN" sz="2000" spc="150" noProof="1" dirty="0">
                <a:latin typeface="黑体" panose="02010609060101010101" charset="-122"/>
                <a:ea typeface="黑体" panose="02010609060101010101" charset="-122"/>
                <a:cs typeface="黑体" panose="02010609060101010101" charset="-122"/>
              </a:rPr>
              <a:t>两类。   </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en-US" altLang="zh-CN" sz="2000" spc="150" noProof="1" dirty="0">
                <a:latin typeface="黑体" panose="02010609060101010101" charset="-122"/>
                <a:ea typeface="黑体" panose="02010609060101010101" charset="-122"/>
                <a:cs typeface="黑体" panose="02010609060101010101" charset="-122"/>
              </a:rPr>
              <a:t>1.用户文档      					 用户文档主要描述</a:t>
            </a:r>
            <a:r>
              <a:rPr lang="zh-CN" altLang="en-US" sz="2000" i="1" spc="150" noProof="1" dirty="0">
                <a:latin typeface="黑体" panose="02010609060101010101" charset="-122"/>
                <a:ea typeface="黑体" panose="02010609060101010101" charset="-122"/>
                <a:cs typeface="黑体" panose="02010609060101010101" charset="-122"/>
              </a:rPr>
              <a:t>系</a:t>
            </a:r>
            <a:r>
              <a:rPr lang="en-US" altLang="zh-CN" sz="2000" i="1" spc="150" noProof="1" dirty="0">
                <a:latin typeface="黑体" panose="02010609060101010101" charset="-122"/>
                <a:ea typeface="黑体" panose="02010609060101010101" charset="-122"/>
                <a:cs typeface="黑体" panose="02010609060101010101" charset="-122"/>
              </a:rPr>
              <a:t>统功能</a:t>
            </a:r>
            <a:r>
              <a:rPr lang="en-US" altLang="zh-CN" sz="2000" spc="150" noProof="1" dirty="0">
                <a:latin typeface="黑体" panose="02010609060101010101" charset="-122"/>
                <a:ea typeface="黑体" panose="02010609060101010101" charset="-122"/>
                <a:cs typeface="黑体" panose="02010609060101010101" charset="-122"/>
              </a:rPr>
              <a:t>和</a:t>
            </a:r>
            <a:r>
              <a:rPr lang="en-US" altLang="zh-CN" sz="2000" i="1" spc="150" noProof="1" dirty="0">
                <a:latin typeface="黑体" panose="02010609060101010101" charset="-122"/>
                <a:ea typeface="黑体" panose="02010609060101010101" charset="-122"/>
                <a:cs typeface="黑体" panose="02010609060101010101" charset="-122"/>
              </a:rPr>
              <a:t>使用方法</a:t>
            </a:r>
            <a:r>
              <a:rPr lang="en-US" altLang="zh-CN" sz="2000" spc="150" noProof="1" dirty="0">
                <a:latin typeface="黑体" panose="02010609060101010101" charset="-122"/>
                <a:ea typeface="黑体" panose="02010609060101010101" charset="-122"/>
                <a:cs typeface="黑体" panose="02010609060101010101" charset="-122"/>
              </a:rPr>
              <a:t>,并</a:t>
            </a:r>
            <a:r>
              <a:rPr lang="en-US" altLang="zh-CN" sz="2000" b="1" spc="150" noProof="1" dirty="0">
                <a:solidFill>
                  <a:srgbClr val="FF0000"/>
                </a:solidFill>
                <a:latin typeface="黑体" panose="02010609060101010101" charset="-122"/>
                <a:ea typeface="黑体" panose="02010609060101010101" charset="-122"/>
                <a:cs typeface="黑体" panose="02010609060101010101" charset="-122"/>
              </a:rPr>
              <a:t>不</a:t>
            </a:r>
            <a:r>
              <a:rPr lang="en-US" altLang="zh-CN" sz="2000" spc="150" noProof="1" dirty="0">
                <a:latin typeface="黑体" panose="02010609060101010101" charset="-122"/>
                <a:ea typeface="黑体" panose="02010609060101010101" charset="-122"/>
                <a:cs typeface="黑体" panose="02010609060101010101" charset="-122"/>
              </a:rPr>
              <a:t>关心这些功能是怎样买现的</a:t>
            </a:r>
            <a:r>
              <a:rPr lang="zh-CN" altLang="en-US" sz="2000" spc="150" noProof="1" dirty="0">
                <a:latin typeface="黑体" panose="02010609060101010101" charset="-122"/>
                <a:ea typeface="黑体" panose="02010609060101010101" charset="-122"/>
                <a:cs typeface="黑体" panose="02010609060101010101" charset="-122"/>
              </a:rPr>
              <a:t>。该文档</a:t>
            </a:r>
            <a:r>
              <a:rPr lang="en-US" altLang="zh-CN" sz="2000" spc="150" noProof="1" dirty="0">
                <a:latin typeface="黑体" panose="02010609060101010101" charset="-122"/>
                <a:ea typeface="黑体" panose="02010609060101010101" charset="-122"/>
                <a:cs typeface="黑体" panose="02010609060101010101" charset="-122"/>
              </a:rPr>
              <a:t>是用户了解系统的第一步，它应该能使用户获得对系统的准确的初步印象。</a:t>
            </a:r>
            <a:r>
              <a:rPr lang="zh-CN" altLang="en-US" sz="2000" spc="150" noProof="1" dirty="0">
                <a:latin typeface="黑体" panose="02010609060101010101" charset="-122"/>
                <a:ea typeface="黑体" panose="02010609060101010101" charset="-122"/>
                <a:cs typeface="黑体" panose="02010609060101010101" charset="-122"/>
              </a:rPr>
              <a:t>内容至少要包括：</a:t>
            </a:r>
            <a:r>
              <a:rPr lang="en-US" altLang="zh-CN" sz="2000" spc="150" noProof="1" dirty="0">
                <a:latin typeface="黑体" panose="02010609060101010101" charset="-122"/>
                <a:ea typeface="黑体" panose="02010609060101010101" charset="-122"/>
                <a:cs typeface="黑体" panose="02010609060101010101" charset="-122"/>
              </a:rPr>
              <a:t>(1) 功能描述 (2) 安装文档 (3) 使用手册 	 (4) 参考手册 (5) 操作员指南</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en-US" altLang="zh-CN" sz="2000" spc="150" noProof="1" dirty="0">
                <a:latin typeface="黑体" panose="02010609060101010101" charset="-122"/>
                <a:ea typeface="黑体" panose="02010609060101010101" charset="-122"/>
                <a:cs typeface="黑体" panose="02010609060101010101" charset="-122"/>
              </a:rPr>
              <a:t>2.系统文档      					 所谓系统文档指从问题定义、需求说明到验收测试计划这样一系列和</a:t>
            </a:r>
            <a:r>
              <a:rPr lang="en-US" altLang="zh-CN" sz="2000" b="1" spc="150" noProof="1" dirty="0">
                <a:latin typeface="华文楷体" panose="02010600040101010101" charset="-122"/>
                <a:ea typeface="华文楷体" panose="02010600040101010101" charset="-122"/>
                <a:cs typeface="黑体" panose="02010609060101010101" charset="-122"/>
              </a:rPr>
              <a:t>系统实现</a:t>
            </a:r>
            <a:r>
              <a:rPr lang="en-US" altLang="zh-CN" sz="2000" spc="150" noProof="1" dirty="0">
                <a:latin typeface="黑体" panose="02010609060101010101" charset="-122"/>
                <a:ea typeface="黑体" panose="02010609060101010101" charset="-122"/>
                <a:cs typeface="黑体" panose="02010609060101010101" charset="-122"/>
              </a:rPr>
              <a:t>有关的文档。</a:t>
            </a:r>
            <a:r>
              <a:rPr lang="zh-CN" altLang="en-US" sz="2000" spc="150" noProof="1" dirty="0">
                <a:latin typeface="黑体" panose="02010609060101010101" charset="-122"/>
                <a:ea typeface="黑体" panose="02010609060101010101" charset="-122"/>
                <a:cs typeface="黑体" panose="02010609060101010101" charset="-122"/>
              </a:rPr>
              <a:t>主要</a:t>
            </a:r>
            <a:r>
              <a:rPr lang="en-US" altLang="zh-CN" sz="2000" spc="150" noProof="1" dirty="0">
                <a:latin typeface="黑体" panose="02010609060101010101" charset="-122"/>
                <a:ea typeface="黑体" panose="02010609060101010101" charset="-122"/>
                <a:cs typeface="黑体" panose="02010609060101010101" charset="-122"/>
              </a:rPr>
              <a:t>描述</a:t>
            </a:r>
            <a:r>
              <a:rPr lang="en-US" altLang="zh-CN" sz="2000" i="1" spc="150" noProof="1" dirty="0">
                <a:latin typeface="黑体" panose="02010609060101010101" charset="-122"/>
                <a:ea typeface="黑体" panose="02010609060101010101" charset="-122"/>
                <a:cs typeface="黑体" panose="02010609060101010101" charset="-122"/>
              </a:rPr>
              <a:t>系统设计</a:t>
            </a:r>
            <a:r>
              <a:rPr lang="en-US" altLang="zh-CN" sz="2000" spc="150" noProof="1" dirty="0">
                <a:latin typeface="黑体" panose="02010609060101010101" charset="-122"/>
                <a:ea typeface="黑体" panose="02010609060101010101" charset="-122"/>
                <a:cs typeface="黑体" panose="02010609060101010101" charset="-122"/>
              </a:rPr>
              <a:t>、</a:t>
            </a:r>
            <a:r>
              <a:rPr lang="en-US" altLang="zh-CN" sz="2000" i="1" spc="150" noProof="1" dirty="0">
                <a:latin typeface="黑体" panose="02010609060101010101" charset="-122"/>
                <a:ea typeface="黑体" panose="02010609060101010101" charset="-122"/>
                <a:cs typeface="黑体" panose="02010609060101010101" charset="-122"/>
              </a:rPr>
              <a:t>实现</a:t>
            </a:r>
            <a:r>
              <a:rPr lang="en-US" altLang="zh-CN" sz="2000" spc="150" noProof="1" dirty="0">
                <a:latin typeface="黑体" panose="02010609060101010101" charset="-122"/>
                <a:ea typeface="黑体" panose="02010609060101010101" charset="-122"/>
                <a:cs typeface="黑体" panose="02010609060101010101" charset="-122"/>
              </a:rPr>
              <a:t>和</a:t>
            </a:r>
            <a:r>
              <a:rPr lang="en-US" altLang="zh-CN" sz="2000" i="1" spc="150" noProof="1" dirty="0">
                <a:latin typeface="黑体" panose="02010609060101010101" charset="-122"/>
                <a:ea typeface="黑体" panose="02010609060101010101" charset="-122"/>
                <a:cs typeface="黑体" panose="02010609060101010101" charset="-122"/>
              </a:rPr>
              <a:t>测试</a:t>
            </a:r>
            <a:r>
              <a:rPr lang="en-US" altLang="zh-CN" sz="2000" spc="150" noProof="1" dirty="0">
                <a:latin typeface="黑体" panose="02010609060101010101" charset="-122"/>
                <a:ea typeface="黑体" panose="02010609060101010101" charset="-122"/>
                <a:cs typeface="黑体" panose="02010609060101010101" charset="-122"/>
              </a:rPr>
              <a:t>等各方面的内容</a:t>
            </a:r>
            <a:r>
              <a:rPr lang="zh-CN" altLang="en-US" sz="2000" spc="150" noProof="1" dirty="0">
                <a:latin typeface="黑体" panose="02010609060101010101" charset="-122"/>
                <a:ea typeface="黑体" panose="02010609060101010101" charset="-122"/>
                <a:cs typeface="黑体" panose="02010609060101010101" charset="-122"/>
              </a:rPr>
              <a:t>。</a:t>
            </a:r>
            <a:endParaRPr lang="zh-CN" altLang="en-US" sz="20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2222" y="908685"/>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8.4</a:t>
            </a:r>
            <a:r>
              <a:rPr lang="zh-CN" altLang="en-US" sz="2800" dirty="0">
                <a:latin typeface="黑体" panose="02010609060101010101" charset="-122"/>
                <a:ea typeface="黑体" panose="02010609060101010101" charset="-122"/>
                <a:cs typeface="黑体" panose="02010609060101010101" charset="-122"/>
                <a:sym typeface="+mn-ea"/>
              </a:rPr>
              <a:t>软件的可维护性</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1331595" y="908685"/>
            <a:ext cx="6901815" cy="5342255"/>
          </a:xfrm>
          <a:prstGeom prst="rect">
            <a:avLst/>
          </a:prstGeom>
          <a:noFill/>
        </p:spPr>
        <p:txBody>
          <a:bodyPr wrap="square" rtlCol="0" anchor="t">
            <a:noAutofit/>
          </a:bodyPr>
          <a:p>
            <a:pPr fontAlgn="auto">
              <a:lnSpc>
                <a:spcPct val="130000"/>
              </a:lnSpc>
              <a:spcAft>
                <a:spcPts val="1000"/>
              </a:spcAft>
              <a:buClrTx/>
              <a:buSzTx/>
              <a:buNone/>
            </a:pPr>
            <a:r>
              <a:rPr lang="zh-CN" sz="2000" spc="150" noProof="1" dirty="0">
                <a:latin typeface="黑体" panose="02010609060101010101" charset="-122"/>
                <a:ea typeface="黑体" panose="02010609060101010101" charset="-122"/>
                <a:cs typeface="黑体" panose="02010609060101010101" charset="-122"/>
              </a:rPr>
              <a:t>■可维护性复审</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en-US" altLang="zh-CN" sz="2000" spc="150" noProof="1" dirty="0">
                <a:latin typeface="黑体" panose="02010609060101010101" charset="-122"/>
                <a:ea typeface="黑体" panose="02010609060101010101" charset="-122"/>
                <a:cs typeface="黑体" panose="02010609060101010101" charset="-122"/>
              </a:rPr>
              <a:t>可维护性是所有软件都努力追求的一个基本特征,在软件工程的每一个阶段都应考虑提高软件可维护性的可能,在每个阶段结束前的技术审査和管理复审中,应着重对维护性进行复审</a:t>
            </a:r>
            <a:r>
              <a:rPr lang="zh-CN" altLang="en-US" sz="2000" spc="150" noProof="1" dirty="0">
                <a:latin typeface="黑体" panose="02010609060101010101" charset="-122"/>
                <a:ea typeface="黑体" panose="02010609060101010101" charset="-122"/>
                <a:cs typeface="黑体" panose="02010609060101010101" charset="-122"/>
              </a:rPr>
              <a:t>；</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en-US" altLang="zh-CN" sz="2000" spc="150" noProof="1" dirty="0">
                <a:latin typeface="黑体" panose="02010609060101010101" charset="-122"/>
                <a:ea typeface="黑体" panose="02010609060101010101" charset="-122"/>
                <a:cs typeface="黑体" panose="02010609060101010101" charset="-122"/>
              </a:rPr>
              <a:t>在需求分析阶段的复审中,应对将来可能修改和可以改进的部分加以注释和说明,对软件的可移植性加以讨论并考虑可能影响软件维护的系统界面;</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en-US" altLang="zh-CN" sz="2000" spc="150" noProof="1" dirty="0">
                <a:latin typeface="黑体" panose="02010609060101010101" charset="-122"/>
                <a:ea typeface="黑体" panose="02010609060101010101" charset="-122"/>
                <a:cs typeface="黑体" panose="02010609060101010101" charset="-122"/>
              </a:rPr>
              <a:t>在设计阶段复审期间,应该从易于维护和提高设计总体质量的角度出发,全面评审</a:t>
            </a:r>
            <a:r>
              <a:rPr lang="en-US" altLang="zh-CN" sz="2000" b="1" i="1" spc="150" noProof="1" dirty="0">
                <a:latin typeface="黑体" panose="02010609060101010101" charset="-122"/>
                <a:ea typeface="黑体" panose="02010609060101010101" charset="-122"/>
                <a:cs typeface="黑体" panose="02010609060101010101" charset="-122"/>
              </a:rPr>
              <a:t>总体结构设计、数据结构设计、过程设计和人机界面设计</a:t>
            </a:r>
            <a:r>
              <a:rPr lang="en-US" altLang="zh-CN" sz="2000" spc="150" noProof="1" dirty="0">
                <a:latin typeface="黑体" panose="02010609060101010101" charset="-122"/>
                <a:ea typeface="黑体" panose="02010609060101010101" charset="-122"/>
                <a:cs typeface="黑体" panose="02010609060101010101" charset="-122"/>
              </a:rPr>
              <a:t>;</a:t>
            </a:r>
            <a:endParaRPr lang="en-US" alt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endParaRPr lang="en-US" altLang="zh-CN" sz="20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765"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8.5</a:t>
            </a:r>
            <a:r>
              <a:rPr lang="zh-CN" altLang="en-US" sz="2800" dirty="0">
                <a:latin typeface="黑体" panose="02010609060101010101" charset="-122"/>
                <a:ea typeface="黑体" panose="02010609060101010101" charset="-122"/>
                <a:cs typeface="黑体" panose="02010609060101010101" charset="-122"/>
                <a:sym typeface="+mn-ea"/>
              </a:rPr>
              <a:t>预防性维护</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395605" y="764540"/>
            <a:ext cx="8622665" cy="4204970"/>
          </a:xfrm>
          <a:prstGeom prst="rect">
            <a:avLst/>
          </a:prstGeom>
          <a:noFill/>
        </p:spPr>
        <p:txBody>
          <a:bodyPr wrap="square" rtlCol="0" anchor="t">
            <a:spAutoFit/>
          </a:bodyPr>
          <a:p>
            <a:pPr fontAlgn="auto">
              <a:lnSpc>
                <a:spcPct val="130000"/>
              </a:lnSpc>
              <a:spcAft>
                <a:spcPts val="1000"/>
              </a:spcAft>
              <a:buClrTx/>
              <a:buSzTx/>
              <a:buNone/>
            </a:pPr>
            <a:r>
              <a:rPr lang="zh-CN" sz="2000" spc="150" noProof="1" dirty="0">
                <a:latin typeface="黑体" panose="02010609060101010101" charset="-122"/>
                <a:ea typeface="黑体" panose="02010609060101010101" charset="-122"/>
                <a:cs typeface="黑体" panose="02010609060101010101" charset="-122"/>
              </a:rPr>
              <a:t>■</a:t>
            </a:r>
            <a:r>
              <a:rPr sz="2000" spc="150" noProof="1" dirty="0">
                <a:latin typeface="黑体" panose="02010609060101010101" charset="-122"/>
                <a:ea typeface="黑体" panose="02010609060101010101" charset="-122"/>
                <a:cs typeface="黑体" panose="02010609060101010101" charset="-122"/>
              </a:rPr>
              <a:t>预防性维护是为了</a:t>
            </a:r>
            <a:r>
              <a:rPr sz="2000" spc="150" noProof="1" dirty="0">
                <a:solidFill>
                  <a:srgbClr val="FF0000"/>
                </a:solidFill>
                <a:latin typeface="黑体" panose="02010609060101010101" charset="-122"/>
                <a:ea typeface="黑体" panose="02010609060101010101" charset="-122"/>
                <a:cs typeface="黑体" panose="02010609060101010101" charset="-122"/>
              </a:rPr>
              <a:t>提高软件的可维护性、可靠性</a:t>
            </a:r>
            <a:r>
              <a:rPr sz="2000" spc="150" noProof="1" dirty="0">
                <a:latin typeface="黑体" panose="02010609060101010101" charset="-122"/>
                <a:ea typeface="黑体" panose="02010609060101010101" charset="-122"/>
                <a:cs typeface="黑体" panose="02010609060101010101" charset="-122"/>
              </a:rPr>
              <a:t>等,为以后进一步改进软件打下良好基础</a:t>
            </a:r>
            <a:r>
              <a:rPr lang="zh-CN" sz="2000" spc="150" noProof="1" dirty="0">
                <a:latin typeface="黑体" panose="02010609060101010101" charset="-122"/>
                <a:ea typeface="黑体" panose="02010609060101010101" charset="-122"/>
                <a:cs typeface="黑体" panose="02010609060101010101" charset="-122"/>
              </a:rPr>
              <a:t>。</a:t>
            </a:r>
            <a:r>
              <a:rPr sz="2000" spc="150" dirty="0">
                <a:latin typeface="黑体" panose="02010609060101010101" charset="-122"/>
                <a:ea typeface="黑体" panose="02010609060101010101" charset="-122"/>
                <a:cs typeface="黑体" panose="02010609060101010101" charset="-122"/>
                <a:sym typeface="+mn-ea"/>
              </a:rPr>
              <a:t>这类维护活动包括</a:t>
            </a:r>
            <a:r>
              <a:rPr sz="2000" i="1" spc="150" dirty="0">
                <a:latin typeface="黑体" panose="02010609060101010101" charset="-122"/>
                <a:ea typeface="黑体" panose="02010609060101010101" charset="-122"/>
                <a:cs typeface="黑体" panose="02010609060101010101" charset="-122"/>
                <a:sym typeface="+mn-ea"/>
              </a:rPr>
              <a:t>逆向工程</a:t>
            </a:r>
            <a:r>
              <a:rPr sz="2000" spc="150" dirty="0">
                <a:latin typeface="黑体" panose="02010609060101010101" charset="-122"/>
                <a:ea typeface="黑体" panose="02010609060101010101" charset="-122"/>
                <a:cs typeface="黑体" panose="02010609060101010101" charset="-122"/>
                <a:sym typeface="+mn-ea"/>
              </a:rPr>
              <a:t>和</a:t>
            </a:r>
            <a:r>
              <a:rPr sz="2000" i="1" spc="150" dirty="0">
                <a:latin typeface="黑体" panose="02010609060101010101" charset="-122"/>
                <a:ea typeface="黑体" panose="02010609060101010101" charset="-122"/>
                <a:cs typeface="黑体" panose="02010609060101010101" charset="-122"/>
                <a:sym typeface="+mn-ea"/>
              </a:rPr>
              <a:t>重构工程</a:t>
            </a:r>
            <a:r>
              <a:rPr sz="2000" spc="150" dirty="0">
                <a:latin typeface="黑体" panose="02010609060101010101" charset="-122"/>
                <a:ea typeface="黑体" panose="02010609060101010101" charset="-122"/>
                <a:cs typeface="黑体" panose="02010609060101010101" charset="-122"/>
                <a:sym typeface="+mn-ea"/>
              </a:rPr>
              <a:t>。目前该类维护工作相对较少,占全部维护工作的大约4%左右。</a:t>
            </a:r>
            <a:endParaRPr sz="2000" spc="150" dirty="0">
              <a:latin typeface="黑体" panose="02010609060101010101" charset="-122"/>
              <a:ea typeface="黑体" panose="02010609060101010101" charset="-122"/>
              <a:cs typeface="黑体" panose="02010609060101010101" charset="-122"/>
              <a:sym typeface="+mn-ea"/>
            </a:endParaRPr>
          </a:p>
          <a:p>
            <a:pPr fontAlgn="auto">
              <a:lnSpc>
                <a:spcPct val="130000"/>
              </a:lnSpc>
              <a:spcAft>
                <a:spcPts val="1000"/>
              </a:spcAft>
              <a:buClrTx/>
              <a:buSzTx/>
              <a:buNone/>
            </a:pPr>
            <a:r>
              <a:rPr lang="zh-CN" sz="2000" spc="150" dirty="0">
                <a:latin typeface="黑体" panose="02010609060101010101" charset="-122"/>
                <a:ea typeface="黑体" panose="02010609060101010101" charset="-122"/>
                <a:cs typeface="黑体" panose="02010609060101010101" charset="-122"/>
                <a:sym typeface="+mn-ea"/>
              </a:rPr>
              <a:t>■</a:t>
            </a:r>
            <a:r>
              <a:rPr sz="2000" spc="150" noProof="1" dirty="0">
                <a:latin typeface="黑体" panose="02010609060101010101" charset="-122"/>
                <a:ea typeface="黑体" panose="02010609060101010101" charset="-122"/>
                <a:cs typeface="黑体" panose="02010609060101010101" charset="-122"/>
              </a:rPr>
              <a:t>预防性维护定义为:</a:t>
            </a:r>
            <a:r>
              <a:rPr sz="2000" spc="150" noProof="1" dirty="0">
                <a:solidFill>
                  <a:schemeClr val="accent1">
                    <a:lumMod val="50000"/>
                  </a:schemeClr>
                </a:solidFill>
                <a:latin typeface="黑体" panose="02010609060101010101" charset="-122"/>
                <a:ea typeface="黑体" panose="02010609060101010101" charset="-122"/>
                <a:cs typeface="黑体" panose="02010609060101010101" charset="-122"/>
              </a:rPr>
              <a:t>采用先进的软件工程方法对需要维护的软件或软件中的某一部分(重新)进行设计编制和测试。</a:t>
            </a:r>
            <a:endParaRPr sz="2000" spc="150" noProof="1" dirty="0">
              <a:solidFill>
                <a:schemeClr val="accent1">
                  <a:lumMod val="50000"/>
                </a:schemeClr>
              </a:solidFill>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dirty="0">
                <a:latin typeface="黑体" panose="02010609060101010101" charset="-122"/>
                <a:ea typeface="黑体" panose="02010609060101010101" charset="-122"/>
                <a:cs typeface="黑体" panose="02010609060101010101" charset="-122"/>
                <a:sym typeface="+mn-ea"/>
              </a:rPr>
              <a:t>■</a:t>
            </a:r>
            <a:r>
              <a:rPr sz="2000" spc="150" dirty="0">
                <a:latin typeface="黑体" panose="02010609060101010101" charset="-122"/>
                <a:ea typeface="黑体" panose="02010609060101010101" charset="-122"/>
                <a:cs typeface="黑体" panose="02010609060101010101" charset="-122"/>
                <a:sym typeface="+mn-ea"/>
              </a:rPr>
              <a:t>预防性维护</a:t>
            </a:r>
            <a:r>
              <a:rPr sz="2000" spc="150" noProof="1" dirty="0">
                <a:solidFill>
                  <a:schemeClr val="tx1"/>
                </a:solidFill>
                <a:latin typeface="黑体" panose="02010609060101010101" charset="-122"/>
                <a:ea typeface="黑体" panose="02010609060101010101" charset="-122"/>
                <a:cs typeface="黑体" panose="02010609060101010101" charset="-122"/>
              </a:rPr>
              <a:t>目的</a:t>
            </a:r>
            <a:r>
              <a:rPr lang="zh-CN" sz="2000" spc="150" noProof="1" dirty="0">
                <a:solidFill>
                  <a:schemeClr val="tx1"/>
                </a:solidFill>
                <a:latin typeface="黑体" panose="02010609060101010101" charset="-122"/>
                <a:ea typeface="黑体" panose="02010609060101010101" charset="-122"/>
                <a:cs typeface="黑体" panose="02010609060101010101" charset="-122"/>
              </a:rPr>
              <a:t>是</a:t>
            </a:r>
            <a:r>
              <a:rPr sz="2000" u="sng" spc="150" noProof="1" dirty="0">
                <a:solidFill>
                  <a:schemeClr val="tx1"/>
                </a:solidFill>
                <a:latin typeface="黑体" panose="02010609060101010101" charset="-122"/>
                <a:ea typeface="黑体" panose="02010609060101010101" charset="-122"/>
                <a:cs typeface="黑体" panose="02010609060101010101" charset="-122"/>
              </a:rPr>
              <a:t>获取软件结构,重新改善软件结构</a:t>
            </a:r>
            <a:r>
              <a:rPr lang="zh-CN" sz="2000" spc="150" noProof="1" dirty="0">
                <a:solidFill>
                  <a:schemeClr val="tx1"/>
                </a:solidFill>
                <a:latin typeface="黑体" panose="02010609060101010101" charset="-122"/>
                <a:ea typeface="黑体" panose="02010609060101010101" charset="-122"/>
                <a:cs typeface="黑体" panose="02010609060101010101" charset="-122"/>
              </a:rPr>
              <a:t>。</a:t>
            </a:r>
            <a:endParaRPr lang="zh-CN" sz="2000" spc="150" noProof="1" dirty="0">
              <a:solidFill>
                <a:schemeClr val="tx1"/>
              </a:solidFill>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noProof="1" dirty="0">
                <a:solidFill>
                  <a:schemeClr val="tx1"/>
                </a:solidFill>
                <a:latin typeface="黑体" panose="02010609060101010101" charset="-122"/>
                <a:ea typeface="黑体" panose="02010609060101010101" charset="-122"/>
                <a:cs typeface="黑体" panose="02010609060101010101" charset="-122"/>
              </a:rPr>
              <a:t>■</a:t>
            </a:r>
            <a:r>
              <a:rPr sz="2000" spc="150" dirty="0">
                <a:latin typeface="黑体" panose="02010609060101010101" charset="-122"/>
                <a:ea typeface="黑体" panose="02010609060101010101" charset="-122"/>
                <a:cs typeface="黑体" panose="02010609060101010101" charset="-122"/>
                <a:sym typeface="+mn-ea"/>
              </a:rPr>
              <a:t>预防性维护方法是由Miller提出来的，他把这种方法定义为：“把今天的方法学应用到昨天的系统上，以支持明天的需求。”</a:t>
            </a:r>
            <a:endParaRPr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endParaRPr lang="zh-CN" sz="2000" spc="150" noProof="1"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8.5</a:t>
            </a:r>
            <a:r>
              <a:rPr lang="zh-CN" altLang="en-US" sz="2800" dirty="0">
                <a:latin typeface="黑体" panose="02010609060101010101" charset="-122"/>
                <a:ea typeface="黑体" panose="02010609060101010101" charset="-122"/>
                <a:cs typeface="黑体" panose="02010609060101010101" charset="-122"/>
                <a:sym typeface="+mn-ea"/>
              </a:rPr>
              <a:t>预防性维护</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1115695" y="908685"/>
            <a:ext cx="7643495" cy="6062345"/>
          </a:xfrm>
          <a:prstGeom prst="rect">
            <a:avLst/>
          </a:prstGeom>
          <a:noFill/>
        </p:spPr>
        <p:txBody>
          <a:bodyPr wrap="square" rtlCol="0" anchor="t">
            <a:spAutoFit/>
          </a:bodyPr>
          <a:p>
            <a:pPr fontAlgn="auto">
              <a:lnSpc>
                <a:spcPct val="130000"/>
              </a:lnSpc>
              <a:spcAft>
                <a:spcPts val="1000"/>
              </a:spcAft>
              <a:buClrTx/>
              <a:buSzTx/>
              <a:buNone/>
            </a:pPr>
            <a:r>
              <a:rPr lang="en-US" altLang="zh-CN" sz="2000" spc="150" noProof="1" dirty="0">
                <a:latin typeface="黑体" panose="02010609060101010101" charset="-122"/>
                <a:ea typeface="黑体" panose="02010609060101010101" charset="-122"/>
                <a:cs typeface="黑体" panose="02010609060101010101" charset="-122"/>
              </a:rPr>
              <a:t>“</a:t>
            </a:r>
            <a:r>
              <a:rPr lang="zh-CN" sz="2000" spc="150" noProof="1" dirty="0">
                <a:latin typeface="黑体" panose="02010609060101010101" charset="-122"/>
                <a:ea typeface="黑体" panose="02010609060101010101" charset="-122"/>
                <a:cs typeface="黑体" panose="02010609060101010101" charset="-122"/>
              </a:rPr>
              <a:t>老程序”：程序的体系结构和数据结构都很差，文档不全甚至完全没有文档，对曾经做过的修改也没有完整的记录。</a:t>
            </a:r>
            <a:endParaRPr 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noProof="1" dirty="0">
                <a:latin typeface="黑体" panose="02010609060101010101" charset="-122"/>
                <a:ea typeface="黑体" panose="02010609060101010101" charset="-122"/>
                <a:cs typeface="黑体" panose="02010609060101010101" charset="-122"/>
              </a:rPr>
              <a:t>怎样满足用户对“老”程序的维护要求？</a:t>
            </a:r>
            <a:endParaRPr 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noProof="1" dirty="0">
                <a:latin typeface="黑体" panose="02010609060101010101" charset="-122"/>
                <a:ea typeface="黑体" panose="02010609060101010101" charset="-122"/>
                <a:cs typeface="黑体" panose="02010609060101010101" charset="-122"/>
              </a:rPr>
              <a:t>（1）</a:t>
            </a:r>
            <a:r>
              <a:rPr lang="en-US" altLang="zh-CN" sz="2000" spc="150" noProof="1" dirty="0">
                <a:latin typeface="黑体" panose="02010609060101010101" charset="-122"/>
                <a:ea typeface="黑体" panose="02010609060101010101" charset="-122"/>
                <a:cs typeface="黑体" panose="02010609060101010101" charset="-122"/>
              </a:rPr>
              <a:t> </a:t>
            </a:r>
            <a:r>
              <a:rPr lang="zh-CN" sz="2000" spc="150" noProof="1" dirty="0">
                <a:latin typeface="黑体" panose="02010609060101010101" charset="-122"/>
                <a:ea typeface="黑体" panose="02010609060101010101" charset="-122"/>
                <a:cs typeface="黑体" panose="02010609060101010101" charset="-122"/>
              </a:rPr>
              <a:t>反复多次地做修改程序的尝试， 与不可见的设计及源代码“顽强战斗”，以实现所要求的修改。</a:t>
            </a:r>
            <a:r>
              <a:rPr lang="zh-CN" sz="2000" b="1" i="1" spc="150" noProof="1" dirty="0">
                <a:latin typeface="黑体" panose="02010609060101010101" charset="-122"/>
                <a:ea typeface="黑体" panose="02010609060101010101" charset="-122"/>
                <a:cs typeface="黑体" panose="02010609060101010101" charset="-122"/>
              </a:rPr>
              <a:t>（最盲目做法）</a:t>
            </a:r>
            <a:r>
              <a:rPr lang="zh-CN" sz="2000" spc="150" noProof="1" dirty="0">
                <a:latin typeface="黑体" panose="02010609060101010101" charset="-122"/>
                <a:ea typeface="黑体" panose="02010609060101010101" charset="-122"/>
                <a:cs typeface="黑体" panose="02010609060101010101" charset="-122"/>
              </a:rPr>
              <a:t> </a:t>
            </a:r>
            <a:endParaRPr 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noProof="1" dirty="0">
                <a:latin typeface="黑体" panose="02010609060101010101" charset="-122"/>
                <a:ea typeface="黑体" panose="02010609060101010101" charset="-122"/>
                <a:cs typeface="黑体" panose="02010609060101010101" charset="-122"/>
              </a:rPr>
              <a:t>（2） 通过仔细分析程序尽可能多地掌握程序的内部工作细节，以便更有效地修改它。 </a:t>
            </a:r>
            <a:endParaRPr 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noProof="1" dirty="0">
                <a:latin typeface="黑体" panose="02010609060101010101" charset="-122"/>
                <a:ea typeface="黑体" panose="02010609060101010101" charset="-122"/>
                <a:cs typeface="黑体" panose="02010609060101010101" charset="-122"/>
              </a:rPr>
              <a:t>（3） 在深入理解原有设计的基础上，用软件工程方法重新设计、重新编码和测试那些</a:t>
            </a:r>
            <a:r>
              <a:rPr lang="zh-CN" sz="2000" b="1" spc="150" noProof="1" dirty="0">
                <a:latin typeface="黑体" panose="02010609060101010101" charset="-122"/>
                <a:ea typeface="黑体" panose="02010609060101010101" charset="-122"/>
                <a:cs typeface="黑体" panose="02010609060101010101" charset="-122"/>
              </a:rPr>
              <a:t>需要变更</a:t>
            </a:r>
            <a:r>
              <a:rPr lang="zh-CN" sz="2000" spc="150" noProof="1" dirty="0">
                <a:latin typeface="黑体" panose="02010609060101010101" charset="-122"/>
                <a:ea typeface="黑体" panose="02010609060101010101" charset="-122"/>
                <a:cs typeface="黑体" panose="02010609060101010101" charset="-122"/>
              </a:rPr>
              <a:t>的软件部分。</a:t>
            </a:r>
            <a:r>
              <a:rPr lang="zh-CN" sz="2000" b="1" i="1" spc="150" dirty="0">
                <a:latin typeface="黑体" panose="02010609060101010101" charset="-122"/>
                <a:ea typeface="黑体" panose="02010609060101010101" charset="-122"/>
                <a:cs typeface="黑体" panose="02010609060101010101" charset="-122"/>
                <a:sym typeface="+mn-ea"/>
              </a:rPr>
              <a:t>（</a:t>
            </a:r>
            <a:r>
              <a:rPr lang="zh-CN" sz="2000" b="1" i="1" spc="150" dirty="0">
                <a:latin typeface="黑体" panose="02010609060101010101" charset="-122"/>
                <a:ea typeface="黑体" panose="02010609060101010101" charset="-122"/>
                <a:cs typeface="黑体" panose="02010609060101010101" charset="-122"/>
                <a:sym typeface="+mn-ea"/>
              </a:rPr>
              <a:t>局部再工程）</a:t>
            </a:r>
            <a:r>
              <a:rPr lang="zh-CN" sz="2000" spc="150" noProof="1" dirty="0">
                <a:latin typeface="黑体" panose="02010609060101010101" charset="-122"/>
                <a:ea typeface="黑体" panose="02010609060101010101" charset="-122"/>
                <a:cs typeface="黑体" panose="02010609060101010101" charset="-122"/>
              </a:rPr>
              <a:t> </a:t>
            </a:r>
            <a:endParaRPr 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noProof="1" dirty="0">
                <a:latin typeface="黑体" panose="02010609060101010101" charset="-122"/>
                <a:ea typeface="黑体" panose="02010609060101010101" charset="-122"/>
                <a:cs typeface="黑体" panose="02010609060101010101" charset="-122"/>
              </a:rPr>
              <a:t>（4） 以软件工程方法学为指导，对程序全部重新设计、重新编码和测试，为此可以使用CASE工具（逆向工程和再工程工具）来帮助理解原有的设计。</a:t>
            </a:r>
            <a:r>
              <a:rPr lang="zh-CN" sz="2000" b="1" i="1" spc="150" dirty="0">
                <a:latin typeface="黑体" panose="02010609060101010101" charset="-122"/>
                <a:ea typeface="黑体" panose="02010609060101010101" charset="-122"/>
                <a:cs typeface="黑体" panose="02010609060101010101" charset="-122"/>
                <a:sym typeface="+mn-ea"/>
              </a:rPr>
              <a:t>（软件</a:t>
            </a:r>
            <a:r>
              <a:rPr lang="zh-CN" sz="2000" b="1" i="1" spc="150" dirty="0">
                <a:latin typeface="黑体" panose="02010609060101010101" charset="-122"/>
                <a:ea typeface="黑体" panose="02010609060101010101" charset="-122"/>
                <a:cs typeface="黑体" panose="02010609060101010101" charset="-122"/>
                <a:sym typeface="+mn-ea"/>
              </a:rPr>
              <a:t>再工程）</a:t>
            </a:r>
            <a:endParaRPr lang="zh-CN"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765"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8.5</a:t>
            </a:r>
            <a:r>
              <a:rPr lang="zh-CN" altLang="en-US" sz="2800" dirty="0">
                <a:latin typeface="黑体" panose="02010609060101010101" charset="-122"/>
                <a:ea typeface="黑体" panose="02010609060101010101" charset="-122"/>
                <a:cs typeface="黑体" panose="02010609060101010101" charset="-122"/>
                <a:sym typeface="+mn-ea"/>
              </a:rPr>
              <a:t>预防性维护</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1270" y="764540"/>
            <a:ext cx="9145270" cy="6318885"/>
          </a:xfrm>
          <a:prstGeom prst="rect">
            <a:avLst/>
          </a:prstGeom>
          <a:noFill/>
        </p:spPr>
        <p:txBody>
          <a:bodyPr wrap="square" rtlCol="0" anchor="t">
            <a:spAutoFit/>
          </a:bodyPr>
          <a:p>
            <a:pPr fontAlgn="auto">
              <a:lnSpc>
                <a:spcPct val="130000"/>
              </a:lnSpc>
              <a:spcAft>
                <a:spcPts val="1000"/>
              </a:spcAft>
              <a:buClrTx/>
              <a:buSzTx/>
              <a:buNone/>
            </a:pPr>
            <a:r>
              <a:rPr sz="2000" spc="150" noProof="1" dirty="0">
                <a:latin typeface="黑体" panose="02010609060101010101" charset="-122"/>
                <a:ea typeface="黑体" panose="02010609060101010101" charset="-122"/>
                <a:cs typeface="黑体" panose="02010609060101010101" charset="-122"/>
              </a:rPr>
              <a:t>粗看起来，在一个正在工作的程序版本已经存在的情况下重新开发一个大型程序，似乎是一种浪费。其实不然</a:t>
            </a:r>
            <a:r>
              <a:rPr lang="zh-CN" sz="2000" spc="150" noProof="1" dirty="0">
                <a:latin typeface="黑体" panose="02010609060101010101" charset="-122"/>
                <a:ea typeface="黑体" panose="02010609060101010101" charset="-122"/>
                <a:cs typeface="黑体" panose="02010609060101010101" charset="-122"/>
              </a:rPr>
              <a:t>，</a:t>
            </a:r>
            <a:r>
              <a:rPr sz="2000" spc="150" dirty="0">
                <a:latin typeface="黑体" panose="02010609060101010101" charset="-122"/>
                <a:ea typeface="黑体" panose="02010609060101010101" charset="-122"/>
                <a:cs typeface="黑体" panose="02010609060101010101" charset="-122"/>
                <a:sym typeface="+mn-ea"/>
              </a:rPr>
              <a:t>下述事实很能说明问题。</a:t>
            </a:r>
            <a:endParaRPr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dirty="0">
                <a:latin typeface="黑体" panose="02010609060101010101" charset="-122"/>
                <a:ea typeface="黑体" panose="02010609060101010101" charset="-122"/>
                <a:cs typeface="黑体" panose="02010609060101010101" charset="-122"/>
                <a:sym typeface="+mn-ea"/>
              </a:rPr>
              <a:t>■</a:t>
            </a:r>
            <a:r>
              <a:rPr sz="2000" spc="150" dirty="0">
                <a:latin typeface="黑体" panose="02010609060101010101" charset="-122"/>
                <a:ea typeface="黑体" panose="02010609060101010101" charset="-122"/>
                <a:cs typeface="黑体" panose="02010609060101010101" charset="-122"/>
                <a:sym typeface="+mn-ea"/>
              </a:rPr>
              <a:t>维护一行源代码的代价可能是最初开发该行源代码代价的</a:t>
            </a:r>
            <a:r>
              <a:rPr sz="2000" b="1" spc="150" dirty="0">
                <a:latin typeface="黑体" panose="02010609060101010101" charset="-122"/>
                <a:ea typeface="黑体" panose="02010609060101010101" charset="-122"/>
                <a:cs typeface="黑体" panose="02010609060101010101" charset="-122"/>
                <a:sym typeface="+mn-ea"/>
              </a:rPr>
              <a:t>14~40</a:t>
            </a:r>
            <a:r>
              <a:rPr sz="2000" spc="150" dirty="0">
                <a:latin typeface="黑体" panose="02010609060101010101" charset="-122"/>
                <a:ea typeface="黑体" panose="02010609060101010101" charset="-122"/>
                <a:cs typeface="黑体" panose="02010609060101010101" charset="-122"/>
                <a:sym typeface="+mn-ea"/>
              </a:rPr>
              <a:t>倍。</a:t>
            </a:r>
            <a:endParaRPr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dirty="0">
                <a:latin typeface="黑体" panose="02010609060101010101" charset="-122"/>
                <a:ea typeface="黑体" panose="02010609060101010101" charset="-122"/>
                <a:cs typeface="黑体" panose="02010609060101010101" charset="-122"/>
                <a:sym typeface="+mn-ea"/>
              </a:rPr>
              <a:t>■</a:t>
            </a:r>
            <a:r>
              <a:rPr sz="2000" spc="150" dirty="0">
                <a:latin typeface="黑体" panose="02010609060101010101" charset="-122"/>
                <a:ea typeface="黑体" panose="02010609060101010101" charset="-122"/>
                <a:cs typeface="黑体" panose="02010609060101010101" charset="-122"/>
                <a:sym typeface="+mn-ea"/>
              </a:rPr>
              <a:t>重新设计软件体系结构（程序及数据结构）时使用了现代设计概念，它对将来的维护可能有很大的帮助。</a:t>
            </a:r>
            <a:endParaRPr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dirty="0">
                <a:latin typeface="黑体" panose="02010609060101010101" charset="-122"/>
                <a:ea typeface="黑体" panose="02010609060101010101" charset="-122"/>
                <a:cs typeface="黑体" panose="02010609060101010101" charset="-122"/>
                <a:sym typeface="+mn-ea"/>
              </a:rPr>
              <a:t>■</a:t>
            </a:r>
            <a:r>
              <a:rPr sz="2000" spc="150" dirty="0">
                <a:latin typeface="黑体" panose="02010609060101010101" charset="-122"/>
                <a:ea typeface="黑体" panose="02010609060101010101" charset="-122"/>
                <a:cs typeface="黑体" panose="02010609060101010101" charset="-122"/>
                <a:sym typeface="+mn-ea"/>
              </a:rPr>
              <a:t>由于现有的程序版本可作为软件原型使用，开发生产率可大大高于平均水平。</a:t>
            </a:r>
            <a:endParaRPr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dirty="0">
                <a:latin typeface="黑体" panose="02010609060101010101" charset="-122"/>
                <a:ea typeface="黑体" panose="02010609060101010101" charset="-122"/>
                <a:cs typeface="黑体" panose="02010609060101010101" charset="-122"/>
                <a:sym typeface="+mn-ea"/>
              </a:rPr>
              <a:t>■</a:t>
            </a:r>
            <a:r>
              <a:rPr sz="2000" spc="150" dirty="0">
                <a:latin typeface="黑体" panose="02010609060101010101" charset="-122"/>
                <a:ea typeface="黑体" panose="02010609060101010101" charset="-122"/>
                <a:cs typeface="黑体" panose="02010609060101010101" charset="-122"/>
                <a:sym typeface="+mn-ea"/>
              </a:rPr>
              <a:t>用户具有较多使用该软件的经验，因此，能够很容易地搞清晰的变更需求和变更的范围。</a:t>
            </a:r>
            <a:endParaRPr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dirty="0">
                <a:latin typeface="黑体" panose="02010609060101010101" charset="-122"/>
                <a:ea typeface="黑体" panose="02010609060101010101" charset="-122"/>
                <a:cs typeface="黑体" panose="02010609060101010101" charset="-122"/>
                <a:sym typeface="+mn-ea"/>
              </a:rPr>
              <a:t>■</a:t>
            </a:r>
            <a:r>
              <a:rPr sz="2000" spc="150" dirty="0">
                <a:latin typeface="黑体" panose="02010609060101010101" charset="-122"/>
                <a:ea typeface="黑体" panose="02010609060101010101" charset="-122"/>
                <a:cs typeface="黑体" panose="02010609060101010101" charset="-122"/>
                <a:sym typeface="+mn-ea"/>
              </a:rPr>
              <a:t>利用逆向工程和再工程的工具，可以使一部分工作自动化。</a:t>
            </a:r>
            <a:endParaRPr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dirty="0">
                <a:latin typeface="黑体" panose="02010609060101010101" charset="-122"/>
                <a:ea typeface="黑体" panose="02010609060101010101" charset="-122"/>
                <a:cs typeface="黑体" panose="02010609060101010101" charset="-122"/>
                <a:sym typeface="+mn-ea"/>
              </a:rPr>
              <a:t>■</a:t>
            </a:r>
            <a:r>
              <a:rPr sz="2000" spc="150" dirty="0">
                <a:latin typeface="黑体" panose="02010609060101010101" charset="-122"/>
                <a:ea typeface="黑体" panose="02010609060101010101" charset="-122"/>
                <a:cs typeface="黑体" panose="02010609060101010101" charset="-122"/>
                <a:sym typeface="+mn-ea"/>
              </a:rPr>
              <a:t>在完成预防性维护的过程中可以建立起完整的软件配置。</a:t>
            </a:r>
            <a:endParaRPr sz="2000" spc="150" dirty="0">
              <a:latin typeface="黑体" panose="02010609060101010101" charset="-122"/>
              <a:ea typeface="黑体" panose="02010609060101010101" charset="-122"/>
              <a:cs typeface="黑体" panose="02010609060101010101" charset="-122"/>
              <a:sym typeface="+mn-ea"/>
            </a:endParaRPr>
          </a:p>
          <a:p>
            <a:pPr fontAlgn="auto">
              <a:lnSpc>
                <a:spcPct val="130000"/>
              </a:lnSpc>
              <a:spcAft>
                <a:spcPts val="1000"/>
              </a:spcAft>
              <a:buClrTx/>
              <a:buSzTx/>
              <a:buNone/>
            </a:pPr>
            <a:endParaRPr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endParaRPr sz="20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765"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8.5</a:t>
            </a:r>
            <a:r>
              <a:rPr lang="zh-CN" altLang="en-US" sz="2800" dirty="0">
                <a:latin typeface="黑体" panose="02010609060101010101" charset="-122"/>
                <a:ea typeface="黑体" panose="02010609060101010101" charset="-122"/>
                <a:cs typeface="黑体" panose="02010609060101010101" charset="-122"/>
                <a:sym typeface="+mn-ea"/>
              </a:rPr>
              <a:t>预防性维护</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1691640" y="1484630"/>
            <a:ext cx="5503545" cy="2748280"/>
          </a:xfrm>
          <a:prstGeom prst="rect">
            <a:avLst/>
          </a:prstGeom>
          <a:noFill/>
        </p:spPr>
        <p:txBody>
          <a:bodyPr wrap="square" rtlCol="0" anchor="t">
            <a:spAutoFit/>
          </a:bodyPr>
          <a:p>
            <a:pPr fontAlgn="auto">
              <a:lnSpc>
                <a:spcPct val="130000"/>
              </a:lnSpc>
              <a:spcAft>
                <a:spcPts val="1000"/>
              </a:spcAft>
              <a:buClrTx/>
              <a:buSzTx/>
              <a:buNone/>
            </a:pPr>
            <a:r>
              <a:rPr lang="zh-CN" sz="2000" spc="150" dirty="0">
                <a:latin typeface="黑体" panose="02010609060101010101" charset="-122"/>
                <a:ea typeface="黑体" panose="02010609060101010101" charset="-122"/>
                <a:cs typeface="黑体" panose="02010609060101010101" charset="-122"/>
                <a:sym typeface="+mn-ea"/>
              </a:rPr>
              <a:t>■</a:t>
            </a:r>
            <a:r>
              <a:rPr sz="2000" spc="150" dirty="0">
                <a:latin typeface="黑体" panose="02010609060101010101" charset="-122"/>
                <a:ea typeface="黑体" panose="02010609060101010101" charset="-122"/>
                <a:cs typeface="黑体" panose="02010609060101010101" charset="-122"/>
                <a:sym typeface="+mn-ea"/>
              </a:rPr>
              <a:t>虽然由于条件所限，目前预防性维护在全部维护活动中仅占很小比例</a:t>
            </a:r>
            <a:r>
              <a:rPr lang="zh-CN" sz="2000" spc="150" dirty="0">
                <a:latin typeface="黑体" panose="02010609060101010101" charset="-122"/>
                <a:ea typeface="黑体" panose="02010609060101010101" charset="-122"/>
                <a:cs typeface="黑体" panose="02010609060101010101" charset="-122"/>
                <a:sym typeface="+mn-ea"/>
              </a:rPr>
              <a:t>（</a:t>
            </a:r>
            <a:r>
              <a:rPr lang="en-US" altLang="zh-CN" sz="2000" spc="150" dirty="0">
                <a:latin typeface="黑体" panose="02010609060101010101" charset="-122"/>
                <a:ea typeface="黑体" panose="02010609060101010101" charset="-122"/>
                <a:cs typeface="黑体" panose="02010609060101010101" charset="-122"/>
                <a:sym typeface="+mn-ea"/>
              </a:rPr>
              <a:t>4%</a:t>
            </a:r>
            <a:r>
              <a:rPr lang="zh-CN" sz="2000" spc="150" dirty="0">
                <a:latin typeface="黑体" panose="02010609060101010101" charset="-122"/>
                <a:ea typeface="黑体" panose="02010609060101010101" charset="-122"/>
                <a:cs typeface="黑体" panose="02010609060101010101" charset="-122"/>
                <a:sym typeface="+mn-ea"/>
              </a:rPr>
              <a:t>）</a:t>
            </a:r>
            <a:r>
              <a:rPr sz="2000" spc="150" dirty="0">
                <a:latin typeface="黑体" panose="02010609060101010101" charset="-122"/>
                <a:ea typeface="黑体" panose="02010609060101010101" charset="-122"/>
                <a:cs typeface="黑体" panose="02010609060101010101" charset="-122"/>
                <a:sym typeface="+mn-ea"/>
              </a:rPr>
              <a:t>，但是，人们不应该忽视这类维护，在条件具备时应该主动地进行预防性维护。</a:t>
            </a:r>
            <a:endParaRPr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endParaRPr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endParaRPr sz="2000" spc="150" noProof="1" dirty="0">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200"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8.6</a:t>
            </a:r>
            <a:r>
              <a:rPr lang="zh-CN" altLang="en-US" sz="2800" dirty="0">
                <a:latin typeface="黑体" panose="02010609060101010101" charset="-122"/>
                <a:ea typeface="黑体" panose="02010609060101010101" charset="-122"/>
                <a:cs typeface="黑体" panose="02010609060101010101" charset="-122"/>
                <a:sym typeface="+mn-ea"/>
              </a:rPr>
              <a:t>软件再工程过程</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611188" y="1328738"/>
            <a:ext cx="7540625" cy="491490"/>
          </a:xfrm>
          <a:prstGeom prst="rect">
            <a:avLst/>
          </a:prstGeom>
          <a:noFill/>
        </p:spPr>
        <p:txBody>
          <a:bodyPr wrap="square" rtlCol="0" anchor="t">
            <a:spAutoFit/>
          </a:bodyPr>
          <a:p>
            <a:pPr fontAlgn="auto">
              <a:lnSpc>
                <a:spcPct val="130000"/>
              </a:lnSpc>
              <a:spcAft>
                <a:spcPts val="1000"/>
              </a:spcAft>
              <a:buClrTx/>
              <a:buSzTx/>
              <a:buNone/>
            </a:pPr>
            <a:endParaRPr lang="zh-CN" sz="2000" spc="150" noProof="1"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1259523" y="1051878"/>
            <a:ext cx="7540625" cy="1691640"/>
          </a:xfrm>
          <a:prstGeom prst="rect">
            <a:avLst/>
          </a:prstGeom>
          <a:noFill/>
        </p:spPr>
        <p:txBody>
          <a:bodyPr wrap="square" rtlCol="0" anchor="t">
            <a:spAutoFit/>
          </a:bodyPr>
          <a:p>
            <a:pPr fontAlgn="auto">
              <a:lnSpc>
                <a:spcPct val="130000"/>
              </a:lnSpc>
              <a:spcAft>
                <a:spcPts val="1000"/>
              </a:spcAft>
              <a:buClrTx/>
              <a:buSzTx/>
              <a:buNone/>
            </a:pPr>
            <a:r>
              <a:rPr lang="zh-CN" sz="2000" spc="150" noProof="1" dirty="0">
                <a:latin typeface="黑体" panose="02010609060101010101" charset="-122"/>
                <a:ea typeface="黑体" panose="02010609060101010101" charset="-122"/>
                <a:cs typeface="黑体" panose="02010609060101010101" charset="-122"/>
              </a:rPr>
              <a:t>典型的软件再工程过程模型如下图所示。在某些情况下这些活动以线性顺序发生，但也并非总是这样。例如，为了理解某个程序的内部工作原理，可能在文档重构开始之前必须先进行逆向工程。</a:t>
            </a:r>
            <a:endParaRPr lang="zh-CN" sz="2000" spc="150" noProof="1" dirty="0">
              <a:latin typeface="黑体" panose="02010609060101010101" charset="-122"/>
              <a:ea typeface="黑体" panose="02010609060101010101" charset="-122"/>
              <a:cs typeface="黑体" panose="02010609060101010101" charset="-122"/>
            </a:endParaRPr>
          </a:p>
        </p:txBody>
      </p:sp>
      <p:pic>
        <p:nvPicPr>
          <p:cNvPr id="4" name="图片 3"/>
          <p:cNvPicPr>
            <a:picLocks noChangeAspect="1"/>
          </p:cNvPicPr>
          <p:nvPr/>
        </p:nvPicPr>
        <p:blipFill>
          <a:blip r:embed="rId5"/>
          <a:stretch>
            <a:fillRect/>
          </a:stretch>
        </p:blipFill>
        <p:spPr>
          <a:xfrm>
            <a:off x="4643755" y="2636520"/>
            <a:ext cx="3895090" cy="3785235"/>
          </a:xfrm>
          <a:prstGeom prst="rect">
            <a:avLst/>
          </a:prstGeom>
        </p:spPr>
      </p:pic>
    </p:spTree>
    <p:custDataLst>
      <p:tags r:id="rId6"/>
    </p:custData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765" y="857250"/>
            <a:ext cx="5384800" cy="3452813"/>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099" name="文本框 13"/>
          <p:cNvSpPr txBox="1"/>
          <p:nvPr>
            <p:custDataLst>
              <p:tags r:id="rId3"/>
            </p:custDataLst>
          </p:nvPr>
        </p:nvSpPr>
        <p:spPr>
          <a:xfrm>
            <a:off x="107950" y="188913"/>
            <a:ext cx="3860800" cy="835025"/>
          </a:xfrm>
          <a:prstGeom prst="rect">
            <a:avLst/>
          </a:prstGeom>
          <a:noFill/>
          <a:ln w="9525">
            <a:noFill/>
          </a:ln>
        </p:spPr>
        <p:txBody>
          <a:bodyPr wrap="square" lIns="76200" tIns="0" rIns="61912" bIns="0" anchor="t" anchorCtr="0"/>
          <a:p>
            <a:pPr>
              <a:buFont typeface="Wingdings" panose="05000000000000000000" charset="0"/>
            </a:pPr>
            <a:r>
              <a:rPr lang="en-US" altLang="zh-CN" sz="2800" dirty="0">
                <a:latin typeface="黑体" panose="02010609060101010101" charset="-122"/>
                <a:ea typeface="黑体" panose="02010609060101010101" charset="-122"/>
                <a:cs typeface="黑体" panose="02010609060101010101" charset="-122"/>
                <a:sym typeface="+mn-ea"/>
              </a:rPr>
              <a:t>8.</a:t>
            </a:r>
            <a:r>
              <a:rPr lang="en-US" altLang="zh-CN" sz="2800" dirty="0">
                <a:latin typeface="黑体" panose="02010609060101010101" charset="-122"/>
                <a:ea typeface="黑体" panose="02010609060101010101" charset="-122"/>
                <a:cs typeface="黑体" panose="02010609060101010101" charset="-122"/>
                <a:sym typeface="+mn-ea"/>
              </a:rPr>
              <a:t>6</a:t>
            </a:r>
            <a:r>
              <a:rPr lang="zh-CN" altLang="en-US" sz="2800" dirty="0">
                <a:latin typeface="黑体" panose="02010609060101010101" charset="-122"/>
                <a:ea typeface="黑体" panose="02010609060101010101" charset="-122"/>
                <a:cs typeface="黑体" panose="02010609060101010101" charset="-122"/>
                <a:sym typeface="+mn-ea"/>
              </a:rPr>
              <a:t>软件再工程过程</a:t>
            </a:r>
            <a:endParaRPr lang="zh-CN" altLang="en-US" sz="2800" dirty="0">
              <a:latin typeface="黑体" panose="02010609060101010101" charset="-122"/>
              <a:ea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sp>
        <p:nvSpPr>
          <p:cNvPr id="2" name="文本框 1"/>
          <p:cNvSpPr txBox="1"/>
          <p:nvPr/>
        </p:nvSpPr>
        <p:spPr>
          <a:xfrm>
            <a:off x="1763395" y="1124585"/>
            <a:ext cx="8622665" cy="3661410"/>
          </a:xfrm>
          <a:prstGeom prst="rect">
            <a:avLst/>
          </a:prstGeom>
          <a:noFill/>
        </p:spPr>
        <p:txBody>
          <a:bodyPr wrap="square" rtlCol="0" anchor="t">
            <a:spAutoFit/>
          </a:bodyPr>
          <a:p>
            <a:pPr fontAlgn="auto">
              <a:lnSpc>
                <a:spcPct val="130000"/>
              </a:lnSpc>
              <a:spcAft>
                <a:spcPts val="1000"/>
              </a:spcAft>
              <a:buClrTx/>
              <a:buSzTx/>
              <a:buNone/>
            </a:pPr>
            <a:r>
              <a:rPr lang="zh-CN" sz="2000" spc="150" noProof="1" dirty="0">
                <a:latin typeface="黑体" panose="02010609060101010101" charset="-122"/>
                <a:ea typeface="黑体" panose="02010609060101010101" charset="-122"/>
                <a:cs typeface="黑体" panose="02010609060101010101" charset="-122"/>
              </a:rPr>
              <a:t>■</a:t>
            </a:r>
            <a:r>
              <a:rPr sz="2000" spc="150" noProof="1" dirty="0">
                <a:latin typeface="黑体" panose="02010609060101010101" charset="-122"/>
                <a:ea typeface="黑体" panose="02010609060101010101" charset="-122"/>
                <a:cs typeface="黑体" panose="02010609060101010101" charset="-122"/>
              </a:rPr>
              <a:t>库存目录分析</a:t>
            </a:r>
            <a:endParaRPr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dirty="0">
                <a:latin typeface="黑体" panose="02010609060101010101" charset="-122"/>
                <a:ea typeface="黑体" panose="02010609060101010101" charset="-122"/>
                <a:cs typeface="黑体" panose="02010609060101010101" charset="-122"/>
                <a:sym typeface="+mn-ea"/>
              </a:rPr>
              <a:t>■文档</a:t>
            </a:r>
            <a:r>
              <a:rPr lang="zh-CN" sz="2000" spc="150" dirty="0">
                <a:latin typeface="黑体" panose="02010609060101010101" charset="-122"/>
                <a:ea typeface="黑体" panose="02010609060101010101" charset="-122"/>
                <a:cs typeface="黑体" panose="02010609060101010101" charset="-122"/>
                <a:sym typeface="+mn-ea"/>
              </a:rPr>
              <a:t>重构</a:t>
            </a:r>
            <a:endParaRPr lang="zh-CN" sz="2000" spc="150" dirty="0">
              <a:latin typeface="黑体" panose="02010609060101010101" charset="-122"/>
              <a:ea typeface="黑体" panose="02010609060101010101" charset="-122"/>
              <a:cs typeface="黑体" panose="02010609060101010101" charset="-122"/>
              <a:sym typeface="+mn-ea"/>
            </a:endParaRPr>
          </a:p>
          <a:p>
            <a:pPr fontAlgn="auto">
              <a:lnSpc>
                <a:spcPct val="130000"/>
              </a:lnSpc>
              <a:spcAft>
                <a:spcPts val="1000"/>
              </a:spcAft>
              <a:buClrTx/>
              <a:buSzTx/>
              <a:buNone/>
            </a:pPr>
            <a:r>
              <a:rPr lang="zh-CN" sz="2000" spc="150" dirty="0">
                <a:latin typeface="黑体" panose="02010609060101010101" charset="-122"/>
                <a:ea typeface="黑体" panose="02010609060101010101" charset="-122"/>
                <a:cs typeface="黑体" panose="02010609060101010101" charset="-122"/>
                <a:sym typeface="+mn-ea"/>
              </a:rPr>
              <a:t>■</a:t>
            </a:r>
            <a:r>
              <a:rPr lang="zh-CN" sz="2000" spc="150" dirty="0">
                <a:latin typeface="黑体" panose="02010609060101010101" charset="-122"/>
                <a:ea typeface="黑体" panose="02010609060101010101" charset="-122"/>
                <a:cs typeface="黑体" panose="02010609060101010101" charset="-122"/>
                <a:sym typeface="+mn-ea"/>
              </a:rPr>
              <a:t>逆向工程</a:t>
            </a:r>
            <a:endParaRPr lang="zh-CN" sz="2000" spc="150" dirty="0">
              <a:latin typeface="黑体" panose="02010609060101010101" charset="-122"/>
              <a:ea typeface="黑体" panose="02010609060101010101" charset="-122"/>
              <a:cs typeface="黑体" panose="02010609060101010101" charset="-122"/>
              <a:sym typeface="+mn-ea"/>
            </a:endParaRPr>
          </a:p>
          <a:p>
            <a:pPr fontAlgn="auto">
              <a:lnSpc>
                <a:spcPct val="130000"/>
              </a:lnSpc>
              <a:spcAft>
                <a:spcPts val="1000"/>
              </a:spcAft>
              <a:buClrTx/>
              <a:buSzTx/>
              <a:buNone/>
            </a:pPr>
            <a:r>
              <a:rPr lang="zh-CN" sz="2000" spc="150" noProof="1" dirty="0">
                <a:solidFill>
                  <a:schemeClr val="tx1"/>
                </a:solidFill>
                <a:latin typeface="黑体" panose="02010609060101010101" charset="-122"/>
                <a:ea typeface="黑体" panose="02010609060101010101" charset="-122"/>
                <a:cs typeface="黑体" panose="02010609060101010101" charset="-122"/>
              </a:rPr>
              <a:t>■代码重构</a:t>
            </a:r>
            <a:endParaRPr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dirty="0">
                <a:latin typeface="黑体" panose="02010609060101010101" charset="-122"/>
                <a:ea typeface="黑体" panose="02010609060101010101" charset="-122"/>
                <a:cs typeface="黑体" panose="02010609060101010101" charset="-122"/>
                <a:sym typeface="+mn-ea"/>
              </a:rPr>
              <a:t>■</a:t>
            </a:r>
            <a:r>
              <a:rPr lang="zh-CN" sz="2000" spc="150" dirty="0">
                <a:latin typeface="黑体" panose="02010609060101010101" charset="-122"/>
                <a:ea typeface="黑体" panose="02010609060101010101" charset="-122"/>
                <a:cs typeface="黑体" panose="02010609060101010101" charset="-122"/>
                <a:sym typeface="+mn-ea"/>
              </a:rPr>
              <a:t>数据重构</a:t>
            </a:r>
            <a:endParaRPr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r>
              <a:rPr lang="zh-CN" sz="2000" spc="150" dirty="0">
                <a:latin typeface="黑体" panose="02010609060101010101" charset="-122"/>
                <a:ea typeface="黑体" panose="02010609060101010101" charset="-122"/>
                <a:cs typeface="黑体" panose="02010609060101010101" charset="-122"/>
                <a:sym typeface="+mn-ea"/>
              </a:rPr>
              <a:t>■正向工程</a:t>
            </a:r>
            <a:endParaRPr sz="2000" spc="150" noProof="1" dirty="0">
              <a:latin typeface="黑体" panose="02010609060101010101" charset="-122"/>
              <a:ea typeface="黑体" panose="02010609060101010101" charset="-122"/>
              <a:cs typeface="黑体" panose="02010609060101010101" charset="-122"/>
            </a:endParaRPr>
          </a:p>
          <a:p>
            <a:pPr fontAlgn="auto">
              <a:lnSpc>
                <a:spcPct val="130000"/>
              </a:lnSpc>
              <a:spcAft>
                <a:spcPts val="1000"/>
              </a:spcAft>
              <a:buClrTx/>
              <a:buSzTx/>
              <a:buNone/>
            </a:pPr>
            <a:endParaRPr lang="zh-CN" sz="2000" spc="150" noProof="1"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5"/>
    </p:custData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solidFill>
                  <a:schemeClr val="tx1"/>
                </a:solidFill>
                <a:latin typeface="黑体" panose="02010609060101010101" charset="-122"/>
                <a:ea typeface="黑体" panose="02010609060101010101" charset="-122"/>
                <a:cs typeface="黑体" panose="02010609060101010101" charset="-122"/>
              </a:rPr>
              <a:t>问题</a:t>
            </a:r>
            <a:r>
              <a:rPr lang="en-US" altLang="zh-CN" sz="2800" dirty="0">
                <a:solidFill>
                  <a:schemeClr val="tx1"/>
                </a:solidFill>
                <a:latin typeface="黑体" panose="02010609060101010101" charset="-122"/>
                <a:ea typeface="黑体" panose="02010609060101010101" charset="-122"/>
                <a:cs typeface="黑体" panose="02010609060101010101" charset="-122"/>
              </a:rPr>
              <a:t>1</a:t>
            </a:r>
            <a:endParaRPr lang="en-US" altLang="zh-CN"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3" name="文本框 2"/>
          <p:cNvSpPr txBox="1"/>
          <p:nvPr>
            <p:custDataLst>
              <p:tags r:id="rId7"/>
            </p:custDataLst>
          </p:nvPr>
        </p:nvSpPr>
        <p:spPr>
          <a:xfrm>
            <a:off x="323215" y="1484630"/>
            <a:ext cx="8768715" cy="249682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457200" indent="-457200">
              <a:buFont typeface="Wingdings" panose="05000000000000000000" charset="0"/>
              <a:buAutoNum type="arabicPeriod"/>
            </a:pPr>
            <a:r>
              <a:rPr lang="zh-CN" altLang="en-US" sz="2000" dirty="0">
                <a:solidFill>
                  <a:schemeClr val="tx1"/>
                </a:solidFill>
                <a:latin typeface="黑体" panose="02010609060101010101" charset="-122"/>
                <a:ea typeface="黑体" panose="02010609060101010101" charset="-122"/>
                <a:cs typeface="黑体" panose="02010609060101010101" charset="-122"/>
              </a:rPr>
              <a:t>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
        <p:nvSpPr>
          <p:cNvPr id="2" name="文本框 1"/>
          <p:cNvSpPr txBox="1"/>
          <p:nvPr>
            <p:custDataLst>
              <p:tags r:id="rId8"/>
            </p:custDataLst>
          </p:nvPr>
        </p:nvSpPr>
        <p:spPr>
          <a:xfrm>
            <a:off x="251460" y="4293235"/>
            <a:ext cx="8768715" cy="249682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答案：</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solidFill>
                  <a:schemeClr val="tx1"/>
                </a:solidFill>
                <a:latin typeface="黑体" panose="02010609060101010101" charset="-122"/>
                <a:ea typeface="黑体" panose="02010609060101010101" charset="-122"/>
                <a:cs typeface="黑体" panose="02010609060101010101" charset="-122"/>
              </a:rPr>
              <a:t>问题</a:t>
            </a:r>
            <a:r>
              <a:rPr lang="en-US" altLang="zh-CN" sz="2800" dirty="0">
                <a:solidFill>
                  <a:schemeClr val="tx1"/>
                </a:solidFill>
                <a:latin typeface="黑体" panose="02010609060101010101" charset="-122"/>
                <a:ea typeface="黑体" panose="02010609060101010101" charset="-122"/>
                <a:cs typeface="黑体" panose="02010609060101010101" charset="-122"/>
              </a:rPr>
              <a:t>2</a:t>
            </a:r>
            <a:endParaRPr lang="en-US" altLang="zh-CN"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3" name="文本框 2"/>
          <p:cNvSpPr txBox="1"/>
          <p:nvPr>
            <p:custDataLst>
              <p:tags r:id="rId7"/>
            </p:custDataLst>
          </p:nvPr>
        </p:nvSpPr>
        <p:spPr>
          <a:xfrm>
            <a:off x="323215" y="1484630"/>
            <a:ext cx="8768715"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457200" indent="-457200">
              <a:buFont typeface="Wingdings" panose="05000000000000000000" charset="0"/>
              <a:buAutoNum type="arabicPeriod"/>
            </a:pPr>
            <a:r>
              <a:rPr lang="zh-CN" altLang="en-US" sz="2000" dirty="0">
                <a:solidFill>
                  <a:schemeClr val="tx1"/>
                </a:solidFill>
                <a:latin typeface="黑体" panose="02010609060101010101" charset="-122"/>
                <a:ea typeface="黑体" panose="02010609060101010101" charset="-122"/>
                <a:cs typeface="黑体" panose="02010609060101010101" charset="-122"/>
              </a:rPr>
              <a:t>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
        <p:nvSpPr>
          <p:cNvPr id="2" name="文本框 1"/>
          <p:cNvSpPr txBox="1"/>
          <p:nvPr>
            <p:custDataLst>
              <p:tags r:id="rId8"/>
            </p:custDataLst>
          </p:nvPr>
        </p:nvSpPr>
        <p:spPr>
          <a:xfrm>
            <a:off x="251460" y="4293235"/>
            <a:ext cx="8768715" cy="249682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答案：</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solidFill>
                  <a:schemeClr val="tx1"/>
                </a:solidFill>
                <a:latin typeface="黑体" panose="02010609060101010101" charset="-122"/>
                <a:ea typeface="黑体" panose="02010609060101010101" charset="-122"/>
                <a:cs typeface="黑体" panose="02010609060101010101" charset="-122"/>
              </a:rPr>
              <a:t>问题</a:t>
            </a:r>
            <a:r>
              <a:rPr lang="en-US" altLang="zh-CN" sz="2800" dirty="0">
                <a:solidFill>
                  <a:schemeClr val="tx1"/>
                </a:solidFill>
                <a:latin typeface="黑体" panose="02010609060101010101" charset="-122"/>
                <a:ea typeface="黑体" panose="02010609060101010101" charset="-122"/>
                <a:cs typeface="黑体" panose="02010609060101010101" charset="-122"/>
              </a:rPr>
              <a:t>3</a:t>
            </a:r>
            <a:endParaRPr lang="en-US" altLang="zh-CN"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3" name="文本框 2"/>
          <p:cNvSpPr txBox="1"/>
          <p:nvPr>
            <p:custDataLst>
              <p:tags r:id="rId7"/>
            </p:custDataLst>
          </p:nvPr>
        </p:nvSpPr>
        <p:spPr>
          <a:xfrm>
            <a:off x="323215" y="1484630"/>
            <a:ext cx="8768715"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457200" indent="-457200">
              <a:buFont typeface="Wingdings" panose="05000000000000000000" charset="0"/>
              <a:buAutoNum type="arabicPeriod"/>
            </a:pPr>
            <a:r>
              <a:rPr lang="zh-CN" altLang="en-US" sz="2000" dirty="0">
                <a:solidFill>
                  <a:schemeClr val="tx1"/>
                </a:solidFill>
                <a:latin typeface="黑体" panose="02010609060101010101" charset="-122"/>
                <a:ea typeface="黑体" panose="02010609060101010101" charset="-122"/>
                <a:cs typeface="黑体" panose="02010609060101010101" charset="-122"/>
              </a:rPr>
              <a:t>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
        <p:nvSpPr>
          <p:cNvPr id="2" name="文本框 1"/>
          <p:cNvSpPr txBox="1"/>
          <p:nvPr>
            <p:custDataLst>
              <p:tags r:id="rId8"/>
            </p:custDataLst>
          </p:nvPr>
        </p:nvSpPr>
        <p:spPr>
          <a:xfrm>
            <a:off x="251460" y="4293235"/>
            <a:ext cx="8768715" cy="249682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答案：</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solidFill>
                  <a:schemeClr val="tx1"/>
                </a:solidFill>
                <a:latin typeface="黑体" panose="02010609060101010101" charset="-122"/>
                <a:ea typeface="黑体" panose="02010609060101010101" charset="-122"/>
                <a:cs typeface="黑体" panose="02010609060101010101" charset="-122"/>
              </a:rPr>
              <a:t>问题</a:t>
            </a:r>
            <a:r>
              <a:rPr lang="en-US" altLang="zh-CN" sz="2800" dirty="0">
                <a:solidFill>
                  <a:schemeClr val="tx1"/>
                </a:solidFill>
                <a:latin typeface="黑体" panose="02010609060101010101" charset="-122"/>
                <a:ea typeface="黑体" panose="02010609060101010101" charset="-122"/>
                <a:cs typeface="黑体" panose="02010609060101010101" charset="-122"/>
              </a:rPr>
              <a:t>4</a:t>
            </a:r>
            <a:endParaRPr lang="en-US" altLang="zh-CN"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3" name="文本框 2"/>
          <p:cNvSpPr txBox="1"/>
          <p:nvPr>
            <p:custDataLst>
              <p:tags r:id="rId7"/>
            </p:custDataLst>
          </p:nvPr>
        </p:nvSpPr>
        <p:spPr>
          <a:xfrm>
            <a:off x="323215" y="1484630"/>
            <a:ext cx="8768715"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457200" indent="-457200">
              <a:buFont typeface="Wingdings" panose="05000000000000000000" charset="0"/>
              <a:buAutoNum type="arabicPeriod"/>
            </a:pPr>
            <a:r>
              <a:rPr lang="zh-CN" altLang="en-US" sz="2000" dirty="0">
                <a:solidFill>
                  <a:schemeClr val="tx1"/>
                </a:solidFill>
                <a:latin typeface="黑体" panose="02010609060101010101" charset="-122"/>
                <a:ea typeface="黑体" panose="02010609060101010101" charset="-122"/>
                <a:cs typeface="黑体" panose="02010609060101010101" charset="-122"/>
              </a:rPr>
              <a:t>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
        <p:nvSpPr>
          <p:cNvPr id="2" name="文本框 1"/>
          <p:cNvSpPr txBox="1"/>
          <p:nvPr>
            <p:custDataLst>
              <p:tags r:id="rId8"/>
            </p:custDataLst>
          </p:nvPr>
        </p:nvSpPr>
        <p:spPr>
          <a:xfrm>
            <a:off x="251460" y="4293235"/>
            <a:ext cx="8768715" cy="249682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答案：</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solidFill>
                  <a:schemeClr val="tx1"/>
                </a:solidFill>
                <a:latin typeface="黑体" panose="02010609060101010101" charset="-122"/>
                <a:ea typeface="黑体" panose="02010609060101010101" charset="-122"/>
                <a:cs typeface="黑体" panose="02010609060101010101" charset="-122"/>
              </a:rPr>
              <a:t>问题</a:t>
            </a:r>
            <a:r>
              <a:rPr lang="en-US" altLang="zh-CN" sz="2800" dirty="0">
                <a:solidFill>
                  <a:schemeClr val="tx1"/>
                </a:solidFill>
                <a:latin typeface="黑体" panose="02010609060101010101" charset="-122"/>
                <a:ea typeface="黑体" panose="02010609060101010101" charset="-122"/>
                <a:cs typeface="黑体" panose="02010609060101010101" charset="-122"/>
              </a:rPr>
              <a:t>5</a:t>
            </a:r>
            <a:endParaRPr lang="en-US" altLang="zh-CN"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3" name="文本框 2"/>
          <p:cNvSpPr txBox="1"/>
          <p:nvPr>
            <p:custDataLst>
              <p:tags r:id="rId7"/>
            </p:custDataLst>
          </p:nvPr>
        </p:nvSpPr>
        <p:spPr>
          <a:xfrm>
            <a:off x="323215" y="1484630"/>
            <a:ext cx="8768715"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457200" indent="-457200">
              <a:buFont typeface="Wingdings" panose="05000000000000000000" charset="0"/>
              <a:buAutoNum type="arabicPeriod"/>
            </a:pPr>
            <a:r>
              <a:rPr lang="zh-CN" altLang="en-US" sz="2000" dirty="0">
                <a:solidFill>
                  <a:schemeClr val="tx1"/>
                </a:solidFill>
                <a:latin typeface="黑体" panose="02010609060101010101" charset="-122"/>
                <a:ea typeface="黑体" panose="02010609060101010101" charset="-122"/>
                <a:cs typeface="黑体" panose="02010609060101010101" charset="-122"/>
              </a:rPr>
              <a:t>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
        <p:nvSpPr>
          <p:cNvPr id="2" name="文本框 1"/>
          <p:cNvSpPr txBox="1"/>
          <p:nvPr>
            <p:custDataLst>
              <p:tags r:id="rId8"/>
            </p:custDataLst>
          </p:nvPr>
        </p:nvSpPr>
        <p:spPr>
          <a:xfrm>
            <a:off x="251460" y="4293235"/>
            <a:ext cx="8768715" cy="249682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答案：</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6977" name="组合 43"/>
          <p:cNvGrpSpPr/>
          <p:nvPr/>
        </p:nvGrpSpPr>
        <p:grpSpPr>
          <a:xfrm>
            <a:off x="492125" y="461963"/>
            <a:ext cx="923925" cy="711200"/>
            <a:chOff x="842086" y="1969574"/>
            <a:chExt cx="1233302" cy="949325"/>
          </a:xfrm>
        </p:grpSpPr>
        <p:sp>
          <p:nvSpPr>
            <p:cNvPr id="42" name="任意多边形: 形状 41"/>
            <p:cNvSpPr/>
            <p:nvPr>
              <p:custDataLst>
                <p:tags r:id="rId1"/>
              </p:custDataLst>
            </p:nvPr>
          </p:nvSpPr>
          <p:spPr>
            <a:xfrm>
              <a:off x="842086" y="1969574"/>
              <a:ext cx="572902" cy="949325"/>
            </a:xfrm>
            <a:custGeom>
              <a:avLst/>
              <a:gdLst>
                <a:gd name="connsiteX0" fmla="*/ 244627 w 572902"/>
                <a:gd name="connsiteY0" fmla="*/ 0 h 949325"/>
                <a:gd name="connsiteX1" fmla="*/ 245845 w 572902"/>
                <a:gd name="connsiteY1" fmla="*/ 0 h 949325"/>
                <a:gd name="connsiteX2" fmla="*/ 368642 w 572902"/>
                <a:gd name="connsiteY2" fmla="*/ 0 h 949325"/>
                <a:gd name="connsiteX3" fmla="*/ 368642 w 572902"/>
                <a:gd name="connsiteY3" fmla="*/ 2865 h 949325"/>
                <a:gd name="connsiteX4" fmla="*/ 371437 w 572902"/>
                <a:gd name="connsiteY4" fmla="*/ 0 h 949325"/>
                <a:gd name="connsiteX5" fmla="*/ 371437 w 572902"/>
                <a:gd name="connsiteY5" fmla="*/ 376423 h 949325"/>
                <a:gd name="connsiteX6" fmla="*/ 572902 w 572902"/>
                <a:gd name="connsiteY6" fmla="*/ 376423 h 949325"/>
                <a:gd name="connsiteX7" fmla="*/ 572902 w 572902"/>
                <a:gd name="connsiteY7" fmla="*/ 949325 h 949325"/>
                <a:gd name="connsiteX8" fmla="*/ 0 w 572902"/>
                <a:gd name="connsiteY8" fmla="*/ 949325 h 949325"/>
                <a:gd name="connsiteX9" fmla="*/ 0 w 572902"/>
                <a:gd name="connsiteY9" fmla="*/ 376423 h 949325"/>
                <a:gd name="connsiteX10" fmla="*/ 1461 w 572902"/>
                <a:gd name="connsiteY10" fmla="*/ 376423 h 949325"/>
                <a:gd name="connsiteX11" fmla="*/ 244627 w 572902"/>
                <a:gd name="connsiteY11" fmla="*/ 1876 h 94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2902" h="949325">
                  <a:moveTo>
                    <a:pt x="244627" y="0"/>
                  </a:moveTo>
                  <a:lnTo>
                    <a:pt x="245845" y="0"/>
                  </a:lnTo>
                  <a:lnTo>
                    <a:pt x="368642" y="0"/>
                  </a:lnTo>
                  <a:lnTo>
                    <a:pt x="368642" y="2865"/>
                  </a:lnTo>
                  <a:lnTo>
                    <a:pt x="371437" y="0"/>
                  </a:lnTo>
                  <a:lnTo>
                    <a:pt x="371437" y="376423"/>
                  </a:lnTo>
                  <a:lnTo>
                    <a:pt x="572902" y="376423"/>
                  </a:lnTo>
                  <a:lnTo>
                    <a:pt x="572902" y="949325"/>
                  </a:lnTo>
                  <a:lnTo>
                    <a:pt x="0" y="949325"/>
                  </a:lnTo>
                  <a:lnTo>
                    <a:pt x="0" y="376423"/>
                  </a:lnTo>
                  <a:lnTo>
                    <a:pt x="1461" y="376423"/>
                  </a:lnTo>
                  <a:lnTo>
                    <a:pt x="244627" y="1876"/>
                  </a:lnTo>
                  <a:close/>
                </a:path>
              </a:pathLst>
            </a:custGeom>
            <a:solidFill>
              <a:sysClr val="window" lastClr="FFFFFF">
                <a:lumMod val="9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fontAlgn="base"/>
              <a:endParaRPr lang="zh-CN" altLang="en-US" sz="1350" strike="noStrike" noProof="1">
                <a:latin typeface="Arial" panose="020B0604020202020204" pitchFamily="34" charset="0"/>
                <a:ea typeface="微软雅黑" panose="020B0503020204020204" charset="-122"/>
              </a:endParaRPr>
            </a:p>
          </p:txBody>
        </p:sp>
        <p:sp>
          <p:nvSpPr>
            <p:cNvPr id="43" name="任意多边形: 形状 42"/>
            <p:cNvSpPr/>
            <p:nvPr>
              <p:custDataLst>
                <p:tags r:id="rId2"/>
              </p:custDataLst>
            </p:nvPr>
          </p:nvSpPr>
          <p:spPr>
            <a:xfrm>
              <a:off x="1502486" y="1969574"/>
              <a:ext cx="572902" cy="949325"/>
            </a:xfrm>
            <a:custGeom>
              <a:avLst/>
              <a:gdLst>
                <a:gd name="connsiteX0" fmla="*/ 244627 w 572902"/>
                <a:gd name="connsiteY0" fmla="*/ 0 h 949325"/>
                <a:gd name="connsiteX1" fmla="*/ 245845 w 572902"/>
                <a:gd name="connsiteY1" fmla="*/ 0 h 949325"/>
                <a:gd name="connsiteX2" fmla="*/ 368642 w 572902"/>
                <a:gd name="connsiteY2" fmla="*/ 0 h 949325"/>
                <a:gd name="connsiteX3" fmla="*/ 368642 w 572902"/>
                <a:gd name="connsiteY3" fmla="*/ 2865 h 949325"/>
                <a:gd name="connsiteX4" fmla="*/ 371437 w 572902"/>
                <a:gd name="connsiteY4" fmla="*/ 0 h 949325"/>
                <a:gd name="connsiteX5" fmla="*/ 371437 w 572902"/>
                <a:gd name="connsiteY5" fmla="*/ 376423 h 949325"/>
                <a:gd name="connsiteX6" fmla="*/ 572902 w 572902"/>
                <a:gd name="connsiteY6" fmla="*/ 376423 h 949325"/>
                <a:gd name="connsiteX7" fmla="*/ 572902 w 572902"/>
                <a:gd name="connsiteY7" fmla="*/ 949325 h 949325"/>
                <a:gd name="connsiteX8" fmla="*/ 0 w 572902"/>
                <a:gd name="connsiteY8" fmla="*/ 949325 h 949325"/>
                <a:gd name="connsiteX9" fmla="*/ 0 w 572902"/>
                <a:gd name="connsiteY9" fmla="*/ 376423 h 949325"/>
                <a:gd name="connsiteX10" fmla="*/ 1461 w 572902"/>
                <a:gd name="connsiteY10" fmla="*/ 376423 h 949325"/>
                <a:gd name="connsiteX11" fmla="*/ 244627 w 572902"/>
                <a:gd name="connsiteY11" fmla="*/ 1876 h 94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2902" h="949325">
                  <a:moveTo>
                    <a:pt x="244627" y="0"/>
                  </a:moveTo>
                  <a:lnTo>
                    <a:pt x="245845" y="0"/>
                  </a:lnTo>
                  <a:lnTo>
                    <a:pt x="368642" y="0"/>
                  </a:lnTo>
                  <a:lnTo>
                    <a:pt x="368642" y="2865"/>
                  </a:lnTo>
                  <a:lnTo>
                    <a:pt x="371437" y="0"/>
                  </a:lnTo>
                  <a:lnTo>
                    <a:pt x="371437" y="376423"/>
                  </a:lnTo>
                  <a:lnTo>
                    <a:pt x="572902" y="376423"/>
                  </a:lnTo>
                  <a:lnTo>
                    <a:pt x="572902" y="949325"/>
                  </a:lnTo>
                  <a:lnTo>
                    <a:pt x="0" y="949325"/>
                  </a:lnTo>
                  <a:lnTo>
                    <a:pt x="0" y="376423"/>
                  </a:lnTo>
                  <a:lnTo>
                    <a:pt x="1461" y="376423"/>
                  </a:lnTo>
                  <a:lnTo>
                    <a:pt x="244627" y="1876"/>
                  </a:lnTo>
                  <a:close/>
                </a:path>
              </a:pathLst>
            </a:custGeom>
            <a:solidFill>
              <a:sysClr val="window" lastClr="FFFFFF">
                <a:lumMod val="9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fontAlgn="base"/>
              <a:endParaRPr lang="zh-CN" altLang="en-US" sz="1350" strike="noStrike" noProof="1">
                <a:ea typeface="微软雅黑" panose="020B0503020204020204" charset="-122"/>
              </a:endParaRPr>
            </a:p>
          </p:txBody>
        </p:sp>
      </p:grpSp>
      <p:sp>
        <p:nvSpPr>
          <p:cNvPr id="126980" name="文本框 6"/>
          <p:cNvSpPr txBox="1"/>
          <p:nvPr>
            <p:custDataLst>
              <p:tags r:id="rId3"/>
            </p:custDataLst>
          </p:nvPr>
        </p:nvSpPr>
        <p:spPr>
          <a:xfrm>
            <a:off x="1416050" y="1419225"/>
            <a:ext cx="3960813" cy="588963"/>
          </a:xfrm>
          <a:prstGeom prst="rect">
            <a:avLst/>
          </a:prstGeom>
          <a:noFill/>
          <a:ln w="9525">
            <a:noFill/>
          </a:ln>
        </p:spPr>
        <p:txBody>
          <a:bodyPr wrap="square" anchor="ctr" anchorCtr="0">
            <a:spAutoFit/>
          </a:bodyPr>
          <a:p>
            <a:pPr>
              <a:lnSpc>
                <a:spcPct val="120000"/>
              </a:lnSpc>
            </a:pPr>
            <a:r>
              <a:rPr lang="zh-CN" altLang="en-US" sz="2700" b="1" dirty="0">
                <a:solidFill>
                  <a:srgbClr val="404040"/>
                </a:solidFill>
                <a:latin typeface="Arial" panose="020B0604020202020204" pitchFamily="34" charset="0"/>
                <a:ea typeface="微软雅黑" panose="020B0503020204020204" charset="-122"/>
              </a:rPr>
              <a:t>当前里程碑评价：</a:t>
            </a:r>
            <a:endParaRPr lang="zh-CN" altLang="en-US" sz="2700" b="1" dirty="0">
              <a:solidFill>
                <a:srgbClr val="404040"/>
              </a:solidFill>
              <a:latin typeface="Arial" panose="020B0604020202020204" pitchFamily="34" charset="0"/>
              <a:ea typeface="微软雅黑" panose="020B0503020204020204" charset="-122"/>
            </a:endParaRPr>
          </a:p>
        </p:txBody>
      </p:sp>
      <p:cxnSp>
        <p:nvCxnSpPr>
          <p:cNvPr id="9" name="直接连接符 8"/>
          <p:cNvCxnSpPr/>
          <p:nvPr>
            <p:custDataLst>
              <p:tags r:id="rId4"/>
            </p:custDataLst>
          </p:nvPr>
        </p:nvCxnSpPr>
        <p:spPr>
          <a:xfrm>
            <a:off x="1135063" y="1308100"/>
            <a:ext cx="0" cy="811213"/>
          </a:xfrm>
          <a:prstGeom prst="line">
            <a:avLst/>
          </a:prstGeom>
          <a:ln>
            <a:solidFill>
              <a:sysClr val="windowText" lastClr="000000"/>
            </a:solidFill>
          </a:ln>
        </p:spPr>
        <p:style>
          <a:lnRef idx="1">
            <a:srgbClr val="4472C4"/>
          </a:lnRef>
          <a:fillRef idx="0">
            <a:srgbClr val="4472C4"/>
          </a:fillRef>
          <a:effectRef idx="0">
            <a:srgbClr val="4472C4"/>
          </a:effectRef>
          <a:fontRef idx="minor">
            <a:sysClr val="windowText" lastClr="000000"/>
          </a:fontRef>
        </p:style>
      </p:cxnSp>
      <p:grpSp>
        <p:nvGrpSpPr>
          <p:cNvPr id="126982" name="组合 44"/>
          <p:cNvGrpSpPr/>
          <p:nvPr/>
        </p:nvGrpSpPr>
        <p:grpSpPr>
          <a:xfrm rot="10800000">
            <a:off x="7562850" y="1173163"/>
            <a:ext cx="923925" cy="711200"/>
            <a:chOff x="842086" y="1969574"/>
            <a:chExt cx="1233302" cy="949325"/>
          </a:xfrm>
        </p:grpSpPr>
        <p:sp>
          <p:nvSpPr>
            <p:cNvPr id="46" name="任意多边形: 形状 45"/>
            <p:cNvSpPr/>
            <p:nvPr>
              <p:custDataLst>
                <p:tags r:id="rId5"/>
              </p:custDataLst>
            </p:nvPr>
          </p:nvSpPr>
          <p:spPr>
            <a:xfrm>
              <a:off x="842086" y="1969574"/>
              <a:ext cx="572902" cy="949325"/>
            </a:xfrm>
            <a:custGeom>
              <a:avLst/>
              <a:gdLst>
                <a:gd name="connsiteX0" fmla="*/ 244627 w 572902"/>
                <a:gd name="connsiteY0" fmla="*/ 0 h 949325"/>
                <a:gd name="connsiteX1" fmla="*/ 245845 w 572902"/>
                <a:gd name="connsiteY1" fmla="*/ 0 h 949325"/>
                <a:gd name="connsiteX2" fmla="*/ 368642 w 572902"/>
                <a:gd name="connsiteY2" fmla="*/ 0 h 949325"/>
                <a:gd name="connsiteX3" fmla="*/ 368642 w 572902"/>
                <a:gd name="connsiteY3" fmla="*/ 2865 h 949325"/>
                <a:gd name="connsiteX4" fmla="*/ 371437 w 572902"/>
                <a:gd name="connsiteY4" fmla="*/ 0 h 949325"/>
                <a:gd name="connsiteX5" fmla="*/ 371437 w 572902"/>
                <a:gd name="connsiteY5" fmla="*/ 376423 h 949325"/>
                <a:gd name="connsiteX6" fmla="*/ 572902 w 572902"/>
                <a:gd name="connsiteY6" fmla="*/ 376423 h 949325"/>
                <a:gd name="connsiteX7" fmla="*/ 572902 w 572902"/>
                <a:gd name="connsiteY7" fmla="*/ 949325 h 949325"/>
                <a:gd name="connsiteX8" fmla="*/ 0 w 572902"/>
                <a:gd name="connsiteY8" fmla="*/ 949325 h 949325"/>
                <a:gd name="connsiteX9" fmla="*/ 0 w 572902"/>
                <a:gd name="connsiteY9" fmla="*/ 376423 h 949325"/>
                <a:gd name="connsiteX10" fmla="*/ 1461 w 572902"/>
                <a:gd name="connsiteY10" fmla="*/ 376423 h 949325"/>
                <a:gd name="connsiteX11" fmla="*/ 244627 w 572902"/>
                <a:gd name="connsiteY11" fmla="*/ 1876 h 94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2902" h="949325">
                  <a:moveTo>
                    <a:pt x="244627" y="0"/>
                  </a:moveTo>
                  <a:lnTo>
                    <a:pt x="245845" y="0"/>
                  </a:lnTo>
                  <a:lnTo>
                    <a:pt x="368642" y="0"/>
                  </a:lnTo>
                  <a:lnTo>
                    <a:pt x="368642" y="2865"/>
                  </a:lnTo>
                  <a:lnTo>
                    <a:pt x="371437" y="0"/>
                  </a:lnTo>
                  <a:lnTo>
                    <a:pt x="371437" y="376423"/>
                  </a:lnTo>
                  <a:lnTo>
                    <a:pt x="572902" y="376423"/>
                  </a:lnTo>
                  <a:lnTo>
                    <a:pt x="572902" y="949325"/>
                  </a:lnTo>
                  <a:lnTo>
                    <a:pt x="0" y="949325"/>
                  </a:lnTo>
                  <a:lnTo>
                    <a:pt x="0" y="376423"/>
                  </a:lnTo>
                  <a:lnTo>
                    <a:pt x="1461" y="376423"/>
                  </a:lnTo>
                  <a:lnTo>
                    <a:pt x="244627" y="1876"/>
                  </a:lnTo>
                  <a:close/>
                </a:path>
              </a:pathLst>
            </a:custGeom>
            <a:solidFill>
              <a:sysClr val="window" lastClr="FFFFFF">
                <a:lumMod val="9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fontAlgn="base"/>
              <a:endParaRPr lang="zh-CN" altLang="en-US" sz="1350" strike="noStrike" noProof="1">
                <a:ea typeface="微软雅黑" panose="020B0503020204020204" charset="-122"/>
              </a:endParaRPr>
            </a:p>
          </p:txBody>
        </p:sp>
        <p:sp>
          <p:nvSpPr>
            <p:cNvPr id="47" name="任意多边形: 形状 46"/>
            <p:cNvSpPr/>
            <p:nvPr>
              <p:custDataLst>
                <p:tags r:id="rId6"/>
              </p:custDataLst>
            </p:nvPr>
          </p:nvSpPr>
          <p:spPr>
            <a:xfrm>
              <a:off x="1502486" y="1969574"/>
              <a:ext cx="572902" cy="949325"/>
            </a:xfrm>
            <a:custGeom>
              <a:avLst/>
              <a:gdLst>
                <a:gd name="connsiteX0" fmla="*/ 244627 w 572902"/>
                <a:gd name="connsiteY0" fmla="*/ 0 h 949325"/>
                <a:gd name="connsiteX1" fmla="*/ 245845 w 572902"/>
                <a:gd name="connsiteY1" fmla="*/ 0 h 949325"/>
                <a:gd name="connsiteX2" fmla="*/ 368642 w 572902"/>
                <a:gd name="connsiteY2" fmla="*/ 0 h 949325"/>
                <a:gd name="connsiteX3" fmla="*/ 368642 w 572902"/>
                <a:gd name="connsiteY3" fmla="*/ 2865 h 949325"/>
                <a:gd name="connsiteX4" fmla="*/ 371437 w 572902"/>
                <a:gd name="connsiteY4" fmla="*/ 0 h 949325"/>
                <a:gd name="connsiteX5" fmla="*/ 371437 w 572902"/>
                <a:gd name="connsiteY5" fmla="*/ 376423 h 949325"/>
                <a:gd name="connsiteX6" fmla="*/ 572902 w 572902"/>
                <a:gd name="connsiteY6" fmla="*/ 376423 h 949325"/>
                <a:gd name="connsiteX7" fmla="*/ 572902 w 572902"/>
                <a:gd name="connsiteY7" fmla="*/ 949325 h 949325"/>
                <a:gd name="connsiteX8" fmla="*/ 0 w 572902"/>
                <a:gd name="connsiteY8" fmla="*/ 949325 h 949325"/>
                <a:gd name="connsiteX9" fmla="*/ 0 w 572902"/>
                <a:gd name="connsiteY9" fmla="*/ 376423 h 949325"/>
                <a:gd name="connsiteX10" fmla="*/ 1461 w 572902"/>
                <a:gd name="connsiteY10" fmla="*/ 376423 h 949325"/>
                <a:gd name="connsiteX11" fmla="*/ 244627 w 572902"/>
                <a:gd name="connsiteY11" fmla="*/ 1876 h 94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2902" h="949325">
                  <a:moveTo>
                    <a:pt x="244627" y="0"/>
                  </a:moveTo>
                  <a:lnTo>
                    <a:pt x="245845" y="0"/>
                  </a:lnTo>
                  <a:lnTo>
                    <a:pt x="368642" y="0"/>
                  </a:lnTo>
                  <a:lnTo>
                    <a:pt x="368642" y="2865"/>
                  </a:lnTo>
                  <a:lnTo>
                    <a:pt x="371437" y="0"/>
                  </a:lnTo>
                  <a:lnTo>
                    <a:pt x="371437" y="376423"/>
                  </a:lnTo>
                  <a:lnTo>
                    <a:pt x="572902" y="376423"/>
                  </a:lnTo>
                  <a:lnTo>
                    <a:pt x="572902" y="949325"/>
                  </a:lnTo>
                  <a:lnTo>
                    <a:pt x="0" y="949325"/>
                  </a:lnTo>
                  <a:lnTo>
                    <a:pt x="0" y="376423"/>
                  </a:lnTo>
                  <a:lnTo>
                    <a:pt x="1461" y="376423"/>
                  </a:lnTo>
                  <a:lnTo>
                    <a:pt x="244627" y="1876"/>
                  </a:lnTo>
                  <a:close/>
                </a:path>
              </a:pathLst>
            </a:custGeom>
            <a:solidFill>
              <a:sysClr val="window" lastClr="FFFFFF">
                <a:lumMod val="9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fontAlgn="base"/>
              <a:endParaRPr lang="zh-CN" altLang="en-US" sz="1350" strike="noStrike" noProof="1">
                <a:ea typeface="微软雅黑" panose="020B0503020204020204" charset="-122"/>
              </a:endParaRPr>
            </a:p>
          </p:txBody>
        </p:sp>
      </p:grpSp>
      <p:sp>
        <p:nvSpPr>
          <p:cNvPr id="126985" name="文本框 1"/>
          <p:cNvSpPr txBox="1"/>
          <p:nvPr/>
        </p:nvSpPr>
        <p:spPr>
          <a:xfrm>
            <a:off x="1475105" y="2132965"/>
            <a:ext cx="6602095" cy="1198880"/>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郎竑健：</a:t>
            </a:r>
            <a:r>
              <a:rPr lang="en-US" altLang="zh-CN">
                <a:latin typeface="Arial" panose="020B0604020202020204" pitchFamily="34" charset="0"/>
                <a:ea typeface="宋体" panose="02010600030101010101" pitchFamily="2" charset="-122"/>
              </a:rPr>
              <a:t>8.1</a:t>
            </a:r>
            <a:r>
              <a:rPr lang="en-US" altLang="zh-CN">
                <a:latin typeface="Arial" panose="020B0604020202020204" pitchFamily="34" charset="0"/>
                <a:ea typeface="宋体" panose="02010600030101010101" pitchFamily="2" charset="-122"/>
              </a:rPr>
              <a:t>-8.3(</a:t>
            </a:r>
            <a:r>
              <a:rPr lang="en-US" altLang="zh-CN">
                <a:sym typeface="+mn-ea"/>
              </a:rPr>
              <a:t>8</a:t>
            </a:r>
            <a:r>
              <a:rPr lang="en-US" altLang="zh-CN">
                <a:sym typeface="+mn-ea"/>
              </a:rPr>
              <a:t>8</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 </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sym typeface="微软雅黑" panose="020B0503020204020204" charset="-122"/>
              </a:rPr>
              <a:t>俞伟鸿：</a:t>
            </a:r>
            <a:r>
              <a:rPr lang="en-US">
                <a:latin typeface="Arial" panose="020B0604020202020204" pitchFamily="34" charset="0"/>
                <a:ea typeface="宋体" panose="02010600030101010101" pitchFamily="2" charset="-122"/>
                <a:sym typeface="微软雅黑" panose="020B0503020204020204" charset="-122"/>
              </a:rPr>
              <a:t>7.7-7.9</a:t>
            </a:r>
            <a:r>
              <a:rPr lang="en-US" altLang="zh-CN">
                <a:latin typeface="Arial" panose="020B0604020202020204" pitchFamily="34" charset="0"/>
                <a:ea typeface="宋体" panose="02010600030101010101" pitchFamily="2" charset="-122"/>
              </a:rPr>
              <a:t>(89)</a:t>
            </a:r>
            <a:endParaRPr lang="en-US" altLang="zh-CN">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徐志浩：</a:t>
            </a:r>
            <a:r>
              <a:rPr lang="en-US">
                <a:sym typeface="+mn-ea"/>
              </a:rPr>
              <a:t>8.4</a:t>
            </a:r>
            <a:r>
              <a:rPr lang="en-US">
                <a:sym typeface="+mn-ea"/>
              </a:rPr>
              <a:t>-8.6</a:t>
            </a:r>
            <a:r>
              <a:rPr lang="en-US" altLang="zh-CN">
                <a:latin typeface="Arial" panose="020B0604020202020204" pitchFamily="34" charset="0"/>
                <a:ea typeface="宋体" panose="02010600030101010101" pitchFamily="2" charset="-122"/>
              </a:rPr>
              <a:t>(</a:t>
            </a:r>
            <a:r>
              <a:rPr lang="en-US" altLang="zh-CN">
                <a:sym typeface="+mn-ea"/>
              </a:rPr>
              <a:t>90</a:t>
            </a:r>
            <a:r>
              <a:rPr lang="en-US" altLang="zh-CN">
                <a:latin typeface="Arial" panose="020B0604020202020204" pitchFamily="34" charset="0"/>
                <a:ea typeface="宋体" panose="02010600030101010101" pitchFamily="2" charset="-122"/>
              </a:rPr>
              <a:t>)</a:t>
            </a:r>
            <a:endParaRPr lang="zh-CN" altLang="en-US">
              <a:latin typeface="Arial" panose="020B0604020202020204" pitchFamily="34" charset="0"/>
              <a:ea typeface="宋体" panose="02010600030101010101" pitchFamily="2" charset="-122"/>
            </a:endParaRPr>
          </a:p>
          <a:p>
            <a:endParaRPr lang="zh-CN" altLang="en-US">
              <a:latin typeface="Arial" panose="020B0604020202020204" pitchFamily="34" charset="0"/>
              <a:ea typeface="宋体" panose="02010600030101010101" pitchFamily="2" charset="-122"/>
            </a:endParaRPr>
          </a:p>
        </p:txBody>
      </p:sp>
      <p:sp>
        <p:nvSpPr>
          <p:cNvPr id="2" name="文本框 1"/>
          <p:cNvSpPr txBox="1"/>
          <p:nvPr/>
        </p:nvSpPr>
        <p:spPr>
          <a:xfrm>
            <a:off x="1402080" y="3933190"/>
            <a:ext cx="4572000" cy="589280"/>
          </a:xfrm>
          <a:prstGeom prst="rect">
            <a:avLst/>
          </a:prstGeom>
          <a:noFill/>
        </p:spPr>
        <p:txBody>
          <a:bodyPr wrap="square" rtlCol="0" anchor="t">
            <a:spAutoFit/>
          </a:bodyPr>
          <a:p>
            <a:pPr>
              <a:lnSpc>
                <a:spcPct val="120000"/>
              </a:lnSpc>
            </a:pPr>
            <a:r>
              <a:rPr lang="zh-CN" altLang="en-US" sz="2700" b="1" dirty="0">
                <a:solidFill>
                  <a:srgbClr val="404040"/>
                </a:solidFill>
                <a:ea typeface="微软雅黑" panose="020B0503020204020204" charset="-122"/>
                <a:sym typeface="+mn-ea"/>
              </a:rPr>
              <a:t>参考</a:t>
            </a:r>
            <a:r>
              <a:rPr lang="zh-CN" altLang="en-US" sz="2700" b="1" dirty="0">
                <a:solidFill>
                  <a:srgbClr val="404040"/>
                </a:solidFill>
                <a:ea typeface="微软雅黑" panose="020B0503020204020204" charset="-122"/>
                <a:sym typeface="+mn-ea"/>
              </a:rPr>
              <a:t>资料</a:t>
            </a:r>
            <a:endParaRPr lang="zh-CN" altLang="en-US" sz="2700" b="1" dirty="0">
              <a:solidFill>
                <a:srgbClr val="404040"/>
              </a:solidFill>
              <a:ea typeface="微软雅黑" panose="020B0503020204020204" charset="-122"/>
              <a:sym typeface="+mn-ea"/>
            </a:endParaRPr>
          </a:p>
        </p:txBody>
      </p:sp>
      <p:sp>
        <p:nvSpPr>
          <p:cNvPr id="3" name="文本框 1"/>
          <p:cNvSpPr txBox="1"/>
          <p:nvPr/>
        </p:nvSpPr>
        <p:spPr>
          <a:xfrm>
            <a:off x="1494155" y="4580890"/>
            <a:ext cx="6602095" cy="368300"/>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软件工程导论（第</a:t>
            </a:r>
            <a:r>
              <a:rPr lang="en-US" altLang="zh-CN">
                <a:latin typeface="Arial" panose="020B0604020202020204" pitchFamily="34" charset="0"/>
                <a:ea typeface="宋体" panose="02010600030101010101" pitchFamily="2" charset="-122"/>
              </a:rPr>
              <a:t>6</a:t>
            </a:r>
            <a:r>
              <a:rPr lang="zh-CN" altLang="en-US">
                <a:latin typeface="Arial" panose="020B0604020202020204" pitchFamily="34" charset="0"/>
                <a:ea typeface="宋体" panose="02010600030101010101" pitchFamily="2" charset="-122"/>
              </a:rPr>
              <a:t>版）</a:t>
            </a:r>
            <a:r>
              <a:rPr lang="en-US" altLang="zh-CN">
                <a:sym typeface="+mn-ea"/>
              </a:rPr>
              <a:t>P170~P200</a:t>
            </a:r>
            <a:endParaRPr lang="en-US" altLang="zh-CN">
              <a:latin typeface="Arial" panose="020B0604020202020204" pitchFamily="34" charset="0"/>
              <a:ea typeface="宋体" panose="02010600030101010101" pitchFamily="2" charset="-122"/>
              <a:sym typeface="+mn-ea"/>
            </a:endParaRPr>
          </a:p>
        </p:txBody>
      </p:sp>
    </p:spTree>
    <p:custDataLst>
      <p:tags r:id="rId7"/>
    </p:custData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1073" name="组合 25"/>
          <p:cNvGrpSpPr/>
          <p:nvPr/>
        </p:nvGrpSpPr>
        <p:grpSpPr>
          <a:xfrm>
            <a:off x="684213" y="825500"/>
            <a:ext cx="7775575" cy="5207000"/>
            <a:chOff x="975533" y="0"/>
            <a:chExt cx="10240934" cy="6858000"/>
          </a:xfrm>
        </p:grpSpPr>
        <p:sp>
          <p:nvSpPr>
            <p:cNvPr id="23" name="任意多边形: 形状 22"/>
            <p:cNvSpPr/>
            <p:nvPr>
              <p:custDataLst>
                <p:tags r:id="rId1"/>
              </p:custDataLst>
            </p:nvPr>
          </p:nvSpPr>
          <p:spPr>
            <a:xfrm>
              <a:off x="2412733" y="0"/>
              <a:ext cx="7366534" cy="6858000"/>
            </a:xfrm>
            <a:custGeom>
              <a:avLst/>
              <a:gdLst>
                <a:gd name="connsiteX0" fmla="*/ 2338804 w 7366534"/>
                <a:gd name="connsiteY0" fmla="*/ 0 h 6858000"/>
                <a:gd name="connsiteX1" fmla="*/ 5027730 w 7366534"/>
                <a:gd name="connsiteY1" fmla="*/ 0 h 6858000"/>
                <a:gd name="connsiteX2" fmla="*/ 5116961 w 7366534"/>
                <a:gd name="connsiteY2" fmla="*/ 35183 h 6858000"/>
                <a:gd name="connsiteX3" fmla="*/ 7366534 w 7366534"/>
                <a:gd name="connsiteY3" fmla="*/ 3429000 h 6858000"/>
                <a:gd name="connsiteX4" fmla="*/ 5116961 w 7366534"/>
                <a:gd name="connsiteY4" fmla="*/ 6822818 h 6858000"/>
                <a:gd name="connsiteX5" fmla="*/ 5027731 w 7366534"/>
                <a:gd name="connsiteY5" fmla="*/ 6858000 h 6858000"/>
                <a:gd name="connsiteX6" fmla="*/ 2338804 w 7366534"/>
                <a:gd name="connsiteY6" fmla="*/ 6858000 h 6858000"/>
                <a:gd name="connsiteX7" fmla="*/ 2249574 w 7366534"/>
                <a:gd name="connsiteY7" fmla="*/ 6822818 h 6858000"/>
                <a:gd name="connsiteX8" fmla="*/ 0 w 7366534"/>
                <a:gd name="connsiteY8" fmla="*/ 3429000 h 6858000"/>
                <a:gd name="connsiteX9" fmla="*/ 2249574 w 7366534"/>
                <a:gd name="connsiteY9" fmla="*/ 351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66534" h="6858000">
                  <a:moveTo>
                    <a:pt x="2338804" y="0"/>
                  </a:moveTo>
                  <a:lnTo>
                    <a:pt x="5027730" y="0"/>
                  </a:lnTo>
                  <a:lnTo>
                    <a:pt x="5116961" y="35183"/>
                  </a:lnTo>
                  <a:cubicBezTo>
                    <a:pt x="6438941" y="594333"/>
                    <a:pt x="7366534" y="1903341"/>
                    <a:pt x="7366534" y="3429000"/>
                  </a:cubicBezTo>
                  <a:cubicBezTo>
                    <a:pt x="7366534" y="4954659"/>
                    <a:pt x="6438941" y="6263667"/>
                    <a:pt x="5116961" y="6822818"/>
                  </a:cubicBezTo>
                  <a:lnTo>
                    <a:pt x="5027731" y="6858000"/>
                  </a:lnTo>
                  <a:lnTo>
                    <a:pt x="2338804" y="6858000"/>
                  </a:lnTo>
                  <a:lnTo>
                    <a:pt x="2249574" y="6822818"/>
                  </a:lnTo>
                  <a:cubicBezTo>
                    <a:pt x="927594" y="6263667"/>
                    <a:pt x="0" y="4954659"/>
                    <a:pt x="0" y="3429000"/>
                  </a:cubicBezTo>
                  <a:cubicBezTo>
                    <a:pt x="0" y="1903341"/>
                    <a:pt x="927594" y="594333"/>
                    <a:pt x="2249574" y="35183"/>
                  </a:cubicBezTo>
                  <a:close/>
                </a:path>
              </a:pathLst>
            </a:custGeom>
            <a:noFill/>
            <a:ln>
              <a:solidFill>
                <a:sysClr val="window" lastClr="FFFFFF">
                  <a:lumMod val="95000"/>
                </a:sysClr>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normAutofit/>
            </a:bodyPr>
            <a:p>
              <a:pPr algn="just" fontAlgn="base">
                <a:lnSpc>
                  <a:spcPct val="120000"/>
                </a:lnSpc>
              </a:pPr>
              <a:endParaRPr lang="zh-CN" altLang="en-US" sz="1350" strike="noStrike" noProof="1" dirty="0">
                <a:latin typeface="微软雅黑" panose="020B0503020204020204" charset="-122"/>
                <a:ea typeface="微软雅黑" panose="020B0503020204020204" charset="-122"/>
              </a:endParaRPr>
            </a:p>
          </p:txBody>
        </p:sp>
        <p:sp>
          <p:nvSpPr>
            <p:cNvPr id="25" name="任意多边形: 形状 24"/>
            <p:cNvSpPr/>
            <p:nvPr>
              <p:custDataLst>
                <p:tags r:id="rId2"/>
              </p:custDataLst>
            </p:nvPr>
          </p:nvSpPr>
          <p:spPr>
            <a:xfrm>
              <a:off x="975533" y="0"/>
              <a:ext cx="10240934" cy="6858000"/>
            </a:xfrm>
            <a:custGeom>
              <a:avLst/>
              <a:gdLst>
                <a:gd name="connsiteX0" fmla="*/ 1318176 w 10240934"/>
                <a:gd name="connsiteY0" fmla="*/ 0 h 6858000"/>
                <a:gd name="connsiteX1" fmla="*/ 8922758 w 10240934"/>
                <a:gd name="connsiteY1" fmla="*/ 0 h 6858000"/>
                <a:gd name="connsiteX2" fmla="*/ 9071668 w 10240934"/>
                <a:gd name="connsiteY2" fmla="*/ 171908 h 6858000"/>
                <a:gd name="connsiteX3" fmla="*/ 10240934 w 10240934"/>
                <a:gd name="connsiteY3" fmla="*/ 3429000 h 6858000"/>
                <a:gd name="connsiteX4" fmla="*/ 9071668 w 10240934"/>
                <a:gd name="connsiteY4" fmla="*/ 6686093 h 6858000"/>
                <a:gd name="connsiteX5" fmla="*/ 8922758 w 10240934"/>
                <a:gd name="connsiteY5" fmla="*/ 6858000 h 6858000"/>
                <a:gd name="connsiteX6" fmla="*/ 1318176 w 10240934"/>
                <a:gd name="connsiteY6" fmla="*/ 6858000 h 6858000"/>
                <a:gd name="connsiteX7" fmla="*/ 1169266 w 10240934"/>
                <a:gd name="connsiteY7" fmla="*/ 6686093 h 6858000"/>
                <a:gd name="connsiteX8" fmla="*/ 0 w 10240934"/>
                <a:gd name="connsiteY8" fmla="*/ 3429000 h 6858000"/>
                <a:gd name="connsiteX9" fmla="*/ 1169266 w 10240934"/>
                <a:gd name="connsiteY9" fmla="*/ 171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40934" h="6858000">
                  <a:moveTo>
                    <a:pt x="1318176" y="0"/>
                  </a:moveTo>
                  <a:lnTo>
                    <a:pt x="8922758" y="0"/>
                  </a:lnTo>
                  <a:lnTo>
                    <a:pt x="9071668" y="171908"/>
                  </a:lnTo>
                  <a:cubicBezTo>
                    <a:pt x="9802133" y="1057026"/>
                    <a:pt x="10240934" y="2191769"/>
                    <a:pt x="10240934" y="3429000"/>
                  </a:cubicBezTo>
                  <a:cubicBezTo>
                    <a:pt x="10240934" y="4666231"/>
                    <a:pt x="9802133" y="5800974"/>
                    <a:pt x="9071668" y="6686093"/>
                  </a:cubicBezTo>
                  <a:lnTo>
                    <a:pt x="8922758" y="6858000"/>
                  </a:lnTo>
                  <a:lnTo>
                    <a:pt x="1318176" y="6858000"/>
                  </a:lnTo>
                  <a:lnTo>
                    <a:pt x="1169266" y="6686093"/>
                  </a:lnTo>
                  <a:cubicBezTo>
                    <a:pt x="438801" y="5800974"/>
                    <a:pt x="0" y="4666231"/>
                    <a:pt x="0" y="3429000"/>
                  </a:cubicBezTo>
                  <a:cubicBezTo>
                    <a:pt x="0" y="2191769"/>
                    <a:pt x="438801" y="1057026"/>
                    <a:pt x="1169266" y="171908"/>
                  </a:cubicBezTo>
                  <a:close/>
                </a:path>
              </a:pathLst>
            </a:custGeom>
            <a:noFill/>
            <a:ln>
              <a:solidFill>
                <a:sysClr val="window" lastClr="FFFFFF">
                  <a:lumMod val="95000"/>
                </a:sysClr>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normAutofit/>
            </a:bodyPr>
            <a:p>
              <a:pPr algn="just" fontAlgn="base">
                <a:lnSpc>
                  <a:spcPct val="120000"/>
                </a:lnSpc>
              </a:pPr>
              <a:endParaRPr lang="zh-CN" altLang="en-US" sz="1350" strike="noStrike" noProof="1" dirty="0">
                <a:latin typeface="微软雅黑" panose="020B0503020204020204" charset="-122"/>
                <a:ea typeface="微软雅黑" panose="020B0503020204020204" charset="-122"/>
              </a:endParaRPr>
            </a:p>
          </p:txBody>
        </p:sp>
      </p:grpSp>
      <p:sp>
        <p:nvSpPr>
          <p:cNvPr id="5" name="椭圆 4"/>
          <p:cNvSpPr/>
          <p:nvPr>
            <p:custDataLst>
              <p:tags r:id="rId3"/>
            </p:custDataLst>
          </p:nvPr>
        </p:nvSpPr>
        <p:spPr>
          <a:xfrm>
            <a:off x="2809875" y="1666875"/>
            <a:ext cx="3524250" cy="3524250"/>
          </a:xfrm>
          <a:prstGeom prst="ellipse">
            <a:avLst/>
          </a:prstGeom>
          <a:noFill/>
          <a:ln>
            <a:solidFill>
              <a:sysClr val="window" lastClr="FFFFFF">
                <a:lumMod val="95000"/>
              </a:sysClr>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normAutofit/>
          </a:bodyPr>
          <a:p>
            <a:pPr algn="ctr" fontAlgn="base">
              <a:lnSpc>
                <a:spcPct val="120000"/>
              </a:lnSpc>
            </a:pPr>
            <a:endParaRPr lang="zh-CN" altLang="en-US" sz="1350" strike="noStrike" noProof="1">
              <a:latin typeface="微软雅黑" panose="020B0503020204020204" charset="-122"/>
              <a:ea typeface="微软雅黑" panose="020B0503020204020204" charset="-122"/>
            </a:endParaRPr>
          </a:p>
        </p:txBody>
      </p:sp>
      <p:sp>
        <p:nvSpPr>
          <p:cNvPr id="2" name="文本框 1"/>
          <p:cNvSpPr txBox="1"/>
          <p:nvPr/>
        </p:nvSpPr>
        <p:spPr>
          <a:xfrm>
            <a:off x="3779838" y="2997200"/>
            <a:ext cx="2476500" cy="830263"/>
          </a:xfrm>
          <a:prstGeom prst="rect">
            <a:avLst/>
          </a:prstGeom>
          <a:noFill/>
        </p:spPr>
        <p:txBody>
          <a:bodyPr wrap="square" rtlCol="0" anchor="t">
            <a:spAutoFit/>
          </a:bodyPr>
          <a:p>
            <a:pPr>
              <a:spcAft>
                <a:spcPts val="800"/>
              </a:spcAft>
            </a:pPr>
            <a:r>
              <a:rPr lang="zh-CN" altLang="en-US" sz="4800" spc="300" noProof="1" dirty="0">
                <a:solidFill>
                  <a:schemeClr val="tx1">
                    <a:lumMod val="85000"/>
                    <a:lumOff val="15000"/>
                  </a:schemeClr>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谢谢</a:t>
            </a:r>
            <a:endParaRPr lang="zh-CN" altLang="en-US" sz="4800" spc="300" noProof="1" dirty="0">
              <a:solidFill>
                <a:schemeClr val="tx1">
                  <a:lumMod val="85000"/>
                  <a:lumOff val="15000"/>
                </a:schemeClr>
              </a:solidFill>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Tree>
    <p:custDataLst>
      <p:tags r:id="rId4"/>
    </p:custDataLst>
  </p:cSld>
  <p:clrMapOvr>
    <a:masterClrMapping/>
  </p:clrMapOvr>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4"/>
  <p:tag name="KSO_WM_UNIT_ID" val="diagram20194877_1*i*4"/>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5.xml><?xml version="1.0" encoding="utf-8"?>
<p:tagLst xmlns:p="http://schemas.openxmlformats.org/presentationml/2006/main">
  <p:tag name="KSO_WM_UNIT_ISCONTENTSTITLE" val="0"/>
  <p:tag name="KSO_WM_UNIT_PRESET_TEXT" val="单击此处&#13;添加大标题内容"/>
  <p:tag name="KSO_WM_UNIT_TEXT_PART_ID" val="5-X"/>
  <p:tag name="KSO_WM_UNIT_TEXT_PART_SIZE" val="92.4*403"/>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4877_1*a*1"/>
  <p:tag name="KSO_WM_TEMPLATE_CATEGORY" val="diagram"/>
  <p:tag name="KSO_WM_TEMPLATE_INDEX" val="20194877"/>
  <p:tag name="KSO_WM_UNIT_LAYERLEVEL" val="1"/>
  <p:tag name="KSO_WM_TAG_VERSION" val="1.0"/>
  <p:tag name="KSO_WM_BEAUTIFY_FLAG" val="#wm#"/>
  <p:tag name="KSO_WM_UNIT_NOCLEAR" val="0"/>
  <p:tag name="KSO_WM_DIAGRAM_GROUP_CODE" val="ζ1-1"/>
  <p:tag name="KSO_WM_UNIT_TEXT_PART_ID_V2" val="a-2-1"/>
  <p:tag name="KSO_WM_UNIT_TEXT_FILL_FORE_SCHEMECOLOR_INDEX" val="13"/>
  <p:tag name="KSO_WM_UNIT_TEXT_FILL_TYPE" val="1"/>
  <p:tag name="KSO_WM_UNIT_USESOURCEFORMAT_APPLY"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7.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0.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5.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8.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2.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30.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31.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3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38.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39.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42.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4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47.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50.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5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55.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56.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59.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63.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64.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68.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69.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70.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7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75.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76.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80.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8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82.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85.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87.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88.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9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9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9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98.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0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0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0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08.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1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1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1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18.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2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2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2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28.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3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3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3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38.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4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4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4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48.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5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5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5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58.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6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6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6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68.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7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7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7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78.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8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8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8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88.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9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9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9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98.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0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05.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0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07.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10.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1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15.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16.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19.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23.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2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25.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28.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32.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33.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34.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37.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4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42.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4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1551_1*i*3"/>
  <p:tag name="KSO_WM_TEMPLATE_CATEGORY" val="diagram"/>
  <p:tag name="KSO_WM_TEMPLATE_INDEX" val="20201551"/>
  <p:tag name="KSO_WM_UNIT_LAYERLEVEL" val="1"/>
  <p:tag name="KSO_WM_TAG_VERSION" val="1.0"/>
  <p:tag name="KSO_WM_BEAUTIFY_FLAG" val="#wm#"/>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1551_1*i*4"/>
  <p:tag name="KSO_WM_TEMPLATE_CATEGORY" val="diagram"/>
  <p:tag name="KSO_WM_TEMPLATE_INDEX" val="20201551"/>
  <p:tag name="KSO_WM_UNIT_LAYERLEVEL" val="1"/>
  <p:tag name="KSO_WM_TAG_VERSION" val="1.0"/>
  <p:tag name="KSO_WM_BEAUTIFY_FLAG" val="#wm#"/>
</p:tagLst>
</file>

<file path=ppt/tags/tag246.xml><?xml version="1.0" encoding="utf-8"?>
<p:tagLst xmlns:p="http://schemas.openxmlformats.org/presentationml/2006/main">
  <p:tag name="KSO_WM_UNIT_ISCONTENTSTITLE" val="0"/>
  <p:tag name="KSO_WM_UNIT_PRESET_TEXT" val="点击&#13;输入大标题"/>
  <p:tag name="KSO_WM_UNIT_NOCLEAR" val="0"/>
  <p:tag name="KSO_WM_UNIT_SHOW_EDIT_AREA_INDICATION" val="1"/>
  <p:tag name="KSO_WM_UNIT_VALUE" val="24"/>
  <p:tag name="KSO_WM_UNIT_HIGHLIGHT" val="0"/>
  <p:tag name="KSO_WM_UNIT_COMPATIBLE" val="0"/>
  <p:tag name="KSO_WM_UNIT_DIAGRAM_ISNUMVISUAL" val="0"/>
  <p:tag name="KSO_WM_UNIT_DIAGRAM_ISREFERUNIT" val="0"/>
  <p:tag name="KSO_WM_UNIT_TYPE" val="a"/>
  <p:tag name="KSO_WM_UNIT_INDEX" val="1"/>
  <p:tag name="KSO_WM_UNIT_ID" val="diagram20201551_1*a*1"/>
  <p:tag name="KSO_WM_TEMPLATE_CATEGORY" val="diagram"/>
  <p:tag name="KSO_WM_TEMPLATE_INDEX" val="20201551"/>
  <p:tag name="KSO_WM_UNIT_LAYERLEVEL" val="1"/>
  <p:tag name="KSO_WM_TAG_VERSION" val="1.0"/>
  <p:tag name="KSO_WM_BEAUTIFY_FLAG" val="#wm#"/>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1551_1*i*5"/>
  <p:tag name="KSO_WM_TEMPLATE_CATEGORY" val="diagram"/>
  <p:tag name="KSO_WM_TEMPLATE_INDEX" val="20201551"/>
  <p:tag name="KSO_WM_UNIT_LAYERLEVEL" val="1"/>
  <p:tag name="KSO_WM_TAG_VERSION" val="1.0"/>
  <p:tag name="KSO_WM_BEAUTIFY_FLAG" val="#wm#"/>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201551_1*i*9"/>
  <p:tag name="KSO_WM_TEMPLATE_CATEGORY" val="diagram"/>
  <p:tag name="KSO_WM_TEMPLATE_INDEX" val="20201551"/>
  <p:tag name="KSO_WM_UNIT_LAYERLEVEL" val="1"/>
  <p:tag name="KSO_WM_TAG_VERSION" val="1.0"/>
  <p:tag name="KSO_WM_BEAUTIFY_FLAG" val="#wm#"/>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1551_1*i*2"/>
  <p:tag name="KSO_WM_TEMPLATE_CATEGORY" val="diagram"/>
  <p:tag name="KSO_WM_TEMPLATE_INDEX" val="20201551"/>
  <p:tag name="KSO_WM_UNIT_LAYERLEVEL" val="1"/>
  <p:tag name="KSO_WM_TAG_VERSION" val="1.0"/>
  <p:tag name="KSO_WM_BEAUTIFY_FLAG" val="#wm#"/>
</p:tagLst>
</file>

<file path=ppt/tags/tag250.xml><?xml version="1.0" encoding="utf-8"?>
<p:tagLst xmlns:p="http://schemas.openxmlformats.org/presentationml/2006/main">
  <p:tag name="KSO_WM_SLIDE_ID" val="diagram20201551_1"/>
  <p:tag name="KSO_WM_TEMPLATE_SUBCATEGORY" val="0"/>
  <p:tag name="KSO_WM_SLIDE_ITEM_CNT" val="0"/>
  <p:tag name="KSO_WM_SLIDE_INDEX" val="1"/>
  <p:tag name="KSO_WM_UNIT_SHOW_EDIT_AREA_INDICATION" val="1"/>
  <p:tag name="KSO_WM_TAG_VERSION" val="1.0"/>
  <p:tag name="KSO_WM_BEAUTIFY_FLAG" val="#wm#"/>
  <p:tag name="KSO_WM_TEMPLATE_CATEGORY" val="diagram"/>
  <p:tag name="KSO_WM_TEMPLATE_INDEX" val="20201551"/>
  <p:tag name="KSO_WM_SLIDE_LAYOUT" val="a_d_h"/>
  <p:tag name="KSO_WM_SLIDE_LAYOUT_CNT" val="1_1_1"/>
  <p:tag name="KSO_WM_SLIDE_TYPE" val="text"/>
  <p:tag name="KSO_WM_SLIDE_SUBTYPE" val="picTxt"/>
  <p:tag name="KSO_WM_SLIDE_SIZE" val="143.7*26.55"/>
  <p:tag name="KSO_WM_SLIDE_POSITION" val="260.4*271.2"/>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613_1*i*3"/>
  <p:tag name="KSO_WM_TEMPLATE_CATEGORY" val="diagram"/>
  <p:tag name="KSO_WM_TEMPLATE_INDEX" val="20201613"/>
  <p:tag name="KSO_WM_UNIT_LAYERLEVEL" val="1"/>
  <p:tag name="KSO_WM_TAG_VERSION" val="1.0"/>
  <p:tag name="KSO_WM_BEAUTIFY_FLAG" val="#wm#"/>
  <p:tag name="KSO_WM_UNIT_TYPE" val="i"/>
  <p:tag name="KSO_WM_UNIT_INDEX" val="3"/>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613_1*i*4"/>
  <p:tag name="KSO_WM_TEMPLATE_CATEGORY" val="diagram"/>
  <p:tag name="KSO_WM_TEMPLATE_INDEX" val="20201613"/>
  <p:tag name="KSO_WM_UNIT_LAYERLEVEL" val="1"/>
  <p:tag name="KSO_WM_TAG_VERSION" val="1.0"/>
  <p:tag name="KSO_WM_BEAUTIFY_FLAG" val="#wm#"/>
  <p:tag name="KSO_WM_UNIT_TYPE" val="i"/>
  <p:tag name="KSO_WM_UNIT_INDEX" val="4"/>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613_1*i*5"/>
  <p:tag name="KSO_WM_TEMPLATE_CATEGORY" val="diagram"/>
  <p:tag name="KSO_WM_TEMPLATE_INDEX" val="20201613"/>
  <p:tag name="KSO_WM_UNIT_LAYERLEVEL" val="1"/>
  <p:tag name="KSO_WM_TAG_VERSION" val="1.0"/>
  <p:tag name="KSO_WM_BEAUTIFY_FLAG" val="#wm#"/>
  <p:tag name="KSO_WM_UNIT_TYPE" val="i"/>
  <p:tag name="KSO_WM_UNIT_INDEX" val="5"/>
</p:tagLst>
</file>

<file path=ppt/tags/tag254.xml><?xml version="1.0" encoding="utf-8"?>
<p:tagLst xmlns:p="http://schemas.openxmlformats.org/presentationml/2006/main">
  <p:tag name="KSO_WM_SLIDE_ID" val="diagram20201613_1"/>
  <p:tag name="KSO_WM_TEMPLATE_SUBCATEGORY" val="0"/>
  <p:tag name="KSO_WM_SLIDE_TYPE" val="text"/>
  <p:tag name="KSO_WM_SLIDE_SUBTYPE" val="diag"/>
  <p:tag name="KSO_WM_SLIDE_ITEM_CNT" val="0"/>
  <p:tag name="KSO_WM_SLIDE_INDEX" val="1"/>
  <p:tag name="KSO_WM_SLIDE_SIZE" val="854*546"/>
  <p:tag name="KSO_WM_SLIDE_POSITION" val="71*-3"/>
  <p:tag name="KSO_WM_TAG_VERSION" val="1.0"/>
  <p:tag name="KSO_WM_BEAUTIFY_FLAG" val="#wm#"/>
  <p:tag name="KSO_WM_TEMPLATE_CATEGORY" val="diagram"/>
  <p:tag name="KSO_WM_TEMPLATE_INDEX" val="20201613"/>
  <p:tag name="KSO_WM_SLIDE_LAYOUT" val="a_d_f"/>
  <p:tag name="KSO_WM_SLIDE_LAYOUT_CNT" val="1_1_2"/>
</p:tagLst>
</file>

<file path=ppt/tags/tag255.xml><?xml version="1.0" encoding="utf-8"?>
<p:tagLst xmlns:p="http://schemas.openxmlformats.org/presentationml/2006/main">
  <p:tag name="COMMONDATA" val="eyJoZGlkIjoiNmVjZjQxZDYwYmE2OGZlNGVlZjE2N2NhNWU1MjczMTcifQ=="/>
  <p:tag name="KSO_WPP_MARK_KEY" val="c2a9c131-d783-4698-8b70-4756e70de055"/>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5845</Words>
  <Application>WPS 演示</Application>
  <PresentationFormat/>
  <Paragraphs>356</Paragraphs>
  <Slides>41</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41</vt:i4>
      </vt:variant>
    </vt:vector>
  </HeadingPairs>
  <TitlesOfParts>
    <vt:vector size="60" baseType="lpstr">
      <vt:lpstr>Arial</vt:lpstr>
      <vt:lpstr>宋体</vt:lpstr>
      <vt:lpstr>Wingdings</vt:lpstr>
      <vt:lpstr>微软雅黑</vt:lpstr>
      <vt:lpstr>黑体</vt:lpstr>
      <vt:lpstr>Wingdings</vt:lpstr>
      <vt:lpstr>Arial Unicode MS</vt:lpstr>
      <vt:lpstr>Calibri</vt:lpstr>
      <vt:lpstr>幼圆</vt:lpstr>
      <vt:lpstr>等线 Light</vt:lpstr>
      <vt:lpstr>华文仿宋</vt:lpstr>
      <vt:lpstr>华文中宋</vt:lpstr>
      <vt:lpstr>华文宋体</vt:lpstr>
      <vt:lpstr>华文新魏</vt:lpstr>
      <vt:lpstr>华文琥珀</vt:lpstr>
      <vt:lpstr>华文楷体</vt:lpstr>
      <vt:lpstr>隶书</vt:lpstr>
      <vt:lpstr>Arial</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jjddn</dc:creator>
  <cp:lastModifiedBy>leeout</cp:lastModifiedBy>
  <cp:revision>33</cp:revision>
  <dcterms:created xsi:type="dcterms:W3CDTF">2022-10-30T13:20:00Z</dcterms:created>
  <dcterms:modified xsi:type="dcterms:W3CDTF">2022-12-04T13:13:27Z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4DC3AED9A2454AD09C81CB048738E86D</vt:lpwstr>
  </property>
</Properties>
</file>