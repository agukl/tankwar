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7" r:id="rId3"/>
    <p:sldId id="263" r:id="rId4"/>
    <p:sldId id="293" r:id="rId5"/>
    <p:sldId id="339" r:id="rId6"/>
    <p:sldId id="340" r:id="rId7"/>
    <p:sldId id="310" r:id="rId8"/>
    <p:sldId id="341" r:id="rId9"/>
    <p:sldId id="342" r:id="rId10"/>
    <p:sldId id="343" r:id="rId11"/>
    <p:sldId id="311" r:id="rId12"/>
    <p:sldId id="345" r:id="rId13"/>
    <p:sldId id="346" r:id="rId14"/>
    <p:sldId id="349" r:id="rId15"/>
    <p:sldId id="350" r:id="rId16"/>
    <p:sldId id="351" r:id="rId17"/>
    <p:sldId id="352" r:id="rId18"/>
    <p:sldId id="353" r:id="rId19"/>
    <p:sldId id="316" r:id="rId20"/>
    <p:sldId id="312" r:id="rId21"/>
    <p:sldId id="354" r:id="rId22"/>
    <p:sldId id="355" r:id="rId23"/>
    <p:sldId id="357" r:id="rId24"/>
    <p:sldId id="344" r:id="rId25"/>
    <p:sldId id="264" r:id="rId26"/>
    <p:sldId id="309" r:id="rId27"/>
    <p:sldId id="265" r:id="rId28"/>
  </p:sldIdLst>
  <p:sldSz cx="9144000" cy="6858000" type="screen4x3"/>
  <p:notesSz cx="6858000" cy="9144000"/>
  <p:custDataLst>
    <p:tags r:id="rId2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llo" initials="n" lastIdx="2" clrIdx="0"/>
  <p:cmAuthor id="2" name="作者" initials="作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660"/>
  </p:normalViewPr>
  <p:slideViewPr>
    <p:cSldViewPr showGuides="1">
      <p:cViewPr varScale="1">
        <p:scale>
          <a:sx n="93" d="100"/>
          <a:sy n="93" d="100"/>
        </p:scale>
        <p:origin x="882" y="84"/>
      </p:cViewPr>
      <p:guideLst>
        <p:guide orient="horz" pos="2128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10" Type="http://schemas.openxmlformats.org/officeDocument/2006/relationships/image" Target="../media/image3.png"/><Relationship Id="rId4" Type="http://schemas.openxmlformats.org/officeDocument/2006/relationships/tags" Target="../tags/tag20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3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45.xml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9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76.xml"/><Relationship Id="rId9" Type="http://schemas.openxmlformats.org/officeDocument/2006/relationships/tags" Target="../tags/tag8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85.xml"/><Relationship Id="rId9" Type="http://schemas.openxmlformats.org/officeDocument/2006/relationships/tags" Target="../tags/tag9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94.xml"/><Relationship Id="rId9" Type="http://schemas.openxmlformats.org/officeDocument/2006/relationships/tags" Target="../tags/tag9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03.xml"/><Relationship Id="rId9" Type="http://schemas.openxmlformats.org/officeDocument/2006/relationships/tags" Target="../tags/tag10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9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9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3" Type="http://schemas.openxmlformats.org/officeDocument/2006/relationships/tags" Target="../tags/tag127.xml"/><Relationship Id="rId7" Type="http://schemas.openxmlformats.org/officeDocument/2006/relationships/tags" Target="../tags/tag131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9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9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43.xml"/><Relationship Id="rId7" Type="http://schemas.openxmlformats.org/officeDocument/2006/relationships/tags" Target="../tags/tag147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9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9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64.xml"/><Relationship Id="rId7" Type="http://schemas.openxmlformats.org/officeDocument/2006/relationships/tags" Target="../tags/tag168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9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9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tags" Target="../tags/tag185.xml"/><Relationship Id="rId7" Type="http://schemas.openxmlformats.org/officeDocument/2006/relationships/tags" Target="../tags/tag189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tags" Target="../tags/tag192.xml"/><Relationship Id="rId7" Type="http://schemas.openxmlformats.org/officeDocument/2006/relationships/tags" Target="../tags/tag196.xml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2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587" y="857250"/>
            <a:ext cx="9145588" cy="3452813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 fontAlgn="base"/>
            <a:endParaRPr kumimoji="1" lang="zh-CN" altLang="en-US" sz="1200" b="1" strike="noStrike" noProof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4499610" y="857250"/>
            <a:ext cx="4628515" cy="3453130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 fontAlgn="base"/>
            <a:endParaRPr kumimoji="1" lang="zh-CN" altLang="en-US" sz="1200" b="1" strike="noStrike" noProof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0" y="4310063"/>
            <a:ext cx="9145588" cy="1690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 fontAlgn="base"/>
            <a:endParaRPr kumimoji="1" lang="zh-CN" altLang="en-US" sz="1200" b="1" strike="noStrike" noProof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429260" y="5288060"/>
            <a:ext cx="8140700" cy="712788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组长：</a:t>
            </a:r>
            <a:r>
              <a:rPr lang="en-US" altLang="zh-CN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郎竑健 </a:t>
            </a:r>
            <a:endParaRPr kumimoji="0" lang="en-US" altLang="zh-CN" sz="1200" b="0" i="0" u="none" strike="noStrike" kern="1200" cap="none" spc="150" normalizeH="0" baseline="0" noProof="1">
              <a:solidFill>
                <a:srgbClr val="404040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组员：</a:t>
            </a:r>
            <a:r>
              <a:rPr lang="en-US" altLang="zh-CN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徐志浩 俞伟鸿 </a:t>
            </a:r>
            <a:endParaRPr lang="zh-CN" altLang="en-US" sz="1200" strike="noStrike" noProof="1">
              <a:solidFill>
                <a:srgbClr val="000000">
                  <a:lumMod val="50000"/>
                  <a:lumOff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3132138" y="1525588"/>
            <a:ext cx="4192588" cy="1060450"/>
          </a:xfrm>
          <a:prstGeom prst="rect">
            <a:avLst/>
          </a:prstGeom>
          <a:noFill/>
        </p:spPr>
        <p:txBody>
          <a:bodyPr wrap="square" lIns="76200" tIns="28575" rIns="47625" bIns="28575" rtlCol="0" anchor="b" anchorCtr="0">
            <a:noAutofit/>
          </a:bodyPr>
          <a:lstStyle/>
          <a:p>
            <a:pPr fontAlgn="auto"/>
            <a:r>
              <a:rPr lang="zh-CN" altLang="en-US" sz="4400" b="1" spc="300" noProof="1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测试报告</a:t>
            </a:r>
          </a:p>
          <a:p>
            <a:pPr algn="r" fontAlgn="auto"/>
            <a:endParaRPr lang="en-US" altLang="zh-CN" sz="2700" b="1" spc="300" noProof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/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 fontAlgn="base"/>
              <a:endParaRPr lang="zh-CN" altLang="en-US" sz="1350" strike="noStrike" noProof="1"/>
            </a:p>
          </p:txBody>
        </p:sp>
        <p:sp>
          <p:nvSpPr>
            <p:cNvPr id="20" name="任意多边形: 形状 19"/>
            <p:cNvSpPr>
              <a:spLocks noChangeAspect="1"/>
            </p:cNvSpPr>
            <p:nvPr/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 fontAlgn="base"/>
              <a:endParaRPr lang="zh-CN" altLang="en-US" sz="1350" strike="noStrike" noProof="1"/>
            </a:p>
          </p:txBody>
        </p:sp>
      </p:grpSp>
      <p:pic>
        <p:nvPicPr>
          <p:cNvPr id="3079" name="图片 -21474826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9475" y="2205038"/>
            <a:ext cx="2095500" cy="928687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79705" y="189230"/>
            <a:ext cx="1392555" cy="62293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1043940" y="857250"/>
            <a:ext cx="3598545" cy="333819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程序清单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代码规范</a:t>
            </a: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单元测试用例及工具</a:t>
            </a:r>
            <a:endParaRPr lang="zh-CN" altLang="en-US" sz="1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详细设计修订内容</a:t>
            </a: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版本控制服务器</a:t>
            </a: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测试计划</a:t>
            </a: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测试结果</a:t>
            </a: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集成测试</a:t>
            </a:r>
          </a:p>
          <a:p>
            <a:pPr>
              <a:lnSpc>
                <a:spcPct val="100000"/>
              </a:lnSpc>
              <a:buFont typeface="Wingdings" panose="05000000000000000000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endParaRPr lang="zh-CN"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72698" y="853437"/>
            <a:ext cx="4572000" cy="342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000" spc="150" dirty="0">
                <a:latin typeface="黑体" panose="02010609060101010101" charset="-122"/>
                <a:ea typeface="黑体" panose="02010609060101010101" charset="-122"/>
                <a:sym typeface="+mn-ea"/>
              </a:rPr>
              <a:t>系统测试</a:t>
            </a:r>
            <a:endParaRPr lang="zh-CN" altLang="en-US" sz="2000" spc="15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000" spc="150" dirty="0">
                <a:latin typeface="黑体" panose="02010609060101010101" charset="-122"/>
                <a:ea typeface="黑体" panose="02010609060101010101" charset="-122"/>
                <a:sym typeface="+mn-ea"/>
              </a:rPr>
              <a:t>实际测试</a:t>
            </a:r>
            <a:endParaRPr lang="zh-CN" altLang="en-US" sz="2000" spc="15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000" spc="150" dirty="0">
                <a:latin typeface="黑体" panose="02010609060101010101" charset="-122"/>
                <a:ea typeface="黑体" panose="02010609060101010101" charset="-122"/>
                <a:sym typeface="+mn-ea"/>
              </a:rPr>
              <a:t>用户测试</a:t>
            </a:r>
          </a:p>
          <a:p>
            <a:pPr marL="285750" indent="-285750" algn="l" fontAlgn="auto">
              <a:spcAft>
                <a:spcPts val="100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000" spc="150" dirty="0">
                <a:latin typeface="黑体" panose="02010609060101010101" charset="-122"/>
                <a:ea typeface="黑体" panose="02010609060101010101" charset="-122"/>
                <a:sym typeface="+mn-ea"/>
              </a:rPr>
              <a:t>项目计划修订</a:t>
            </a:r>
            <a:endParaRPr lang="zh-CN" altLang="en-US" sz="2000" spc="15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 algn="l" fontAlgn="auto">
              <a:spcAft>
                <a:spcPts val="100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000" spc="150" dirty="0">
                <a:latin typeface="黑体" panose="02010609060101010101" charset="-122"/>
                <a:ea typeface="黑体" panose="02010609060101010101" charset="-122"/>
                <a:sym typeface="+mn-ea"/>
              </a:rPr>
              <a:t>项目成果运行</a:t>
            </a:r>
          </a:p>
          <a:p>
            <a:pPr marL="285750" indent="-285750" algn="l" fontAlgn="auto">
              <a:spcAft>
                <a:spcPts val="100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000" spc="15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项目总结</a:t>
            </a:r>
          </a:p>
          <a:p>
            <a:pPr marL="285750" indent="-285750" algn="l" fontAlgn="auto">
              <a:spcAft>
                <a:spcPts val="100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000" spc="15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其他</a:t>
            </a: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程序清单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4621" y="549275"/>
            <a:ext cx="2007948" cy="53251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605" y="1196975"/>
            <a:ext cx="6134735" cy="42475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代码规范</a:t>
            </a: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971550" y="112522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>
              <a:lnSpc>
                <a:spcPct val="150000"/>
              </a:lnSpc>
            </a:pPr>
            <a:r>
              <a:rPr lang="zh-CN" altLang="en-US" sz="1600" b="1" dirty="0">
                <a:ea typeface="宋体" panose="02010600030101010101" pitchFamily="2" charset="-122"/>
              </a:rPr>
              <a:t>1.命名统一</a:t>
            </a:r>
            <a:r>
              <a:rPr lang="zh-CN" altLang="en-US" sz="1400" dirty="0">
                <a:ea typeface="宋体" panose="02010600030101010101" pitchFamily="2" charset="-122"/>
              </a:rPr>
              <a:t>：对于同一个概念，在程序中用同一种表示方法</a:t>
            </a:r>
          </a:p>
          <a:p>
            <a:pPr marL="266700" indent="-266700">
              <a:lnSpc>
                <a:spcPct val="150000"/>
              </a:lnSpc>
            </a:pPr>
            <a:r>
              <a:rPr lang="zh-CN" altLang="en-US" sz="1600" b="1" dirty="0">
                <a:ea typeface="宋体" panose="02010600030101010101" pitchFamily="2" charset="-122"/>
              </a:rPr>
              <a:t>2.标识达意</a:t>
            </a:r>
            <a:r>
              <a:rPr lang="zh-CN" altLang="en-US" sz="1400" dirty="0">
                <a:ea typeface="宋体" panose="02010600030101010101" pitchFamily="2" charset="-122"/>
              </a:rPr>
              <a:t>：标识符能准确的表达出它所代表的意义</a:t>
            </a:r>
          </a:p>
          <a:p>
            <a:pPr marL="266700" indent="-266700">
              <a:lnSpc>
                <a:spcPct val="150000"/>
              </a:lnSpc>
            </a:pPr>
            <a:r>
              <a:rPr lang="zh-CN" altLang="en-US" sz="1600" b="1" dirty="0">
                <a:ea typeface="宋体" panose="02010600030101010101" pitchFamily="2" charset="-122"/>
              </a:rPr>
              <a:t>3.变量简洁</a:t>
            </a:r>
            <a:r>
              <a:rPr lang="zh-CN" altLang="en-US" sz="1400" dirty="0">
                <a:ea typeface="宋体" panose="02010600030101010101" pitchFamily="2" charset="-122"/>
              </a:rPr>
              <a:t>：在统一和达意的前提下，用尽量少的标识符</a:t>
            </a:r>
          </a:p>
          <a:p>
            <a:pPr marL="266700" indent="-266700">
              <a:lnSpc>
                <a:spcPct val="150000"/>
              </a:lnSpc>
            </a:pPr>
            <a:r>
              <a:rPr lang="zh-CN" altLang="en-US" sz="1600" b="1" dirty="0">
                <a:ea typeface="宋体" panose="02010600030101010101" pitchFamily="2" charset="-122"/>
              </a:rPr>
              <a:t>4.骆驼法则</a:t>
            </a:r>
            <a:r>
              <a:rPr lang="zh-CN" altLang="en-US" sz="1400" dirty="0">
                <a:ea typeface="宋体" panose="02010600030101010101" pitchFamily="2" charset="-122"/>
              </a:rPr>
              <a:t>：除了包名，静态常量等特殊情况，大部分情况下标识符使用骆驼法则</a:t>
            </a:r>
          </a:p>
          <a:p>
            <a:pPr marL="266700" indent="-266700">
              <a:lnSpc>
                <a:spcPct val="150000"/>
              </a:lnSpc>
            </a:pPr>
            <a:r>
              <a:rPr lang="zh-CN" altLang="en-US" sz="1600" b="1" dirty="0">
                <a:ea typeface="宋体" panose="02010600030101010101" pitchFamily="2" charset="-122"/>
              </a:rPr>
              <a:t>5.语言使用</a:t>
            </a:r>
            <a:r>
              <a:rPr lang="zh-CN" altLang="en-US" sz="1400" dirty="0">
                <a:ea typeface="宋体" panose="02010600030101010101" pitchFamily="2" charset="-122"/>
              </a:rPr>
              <a:t>：首选通俗易懂的英文单词，再则使用汉语拼音，避免在一个类中混用</a:t>
            </a:r>
          </a:p>
          <a:p>
            <a:pPr marL="266700" indent="-266700">
              <a:lnSpc>
                <a:spcPct val="150000"/>
              </a:lnSpc>
            </a:pPr>
            <a:r>
              <a:rPr lang="zh-CN" altLang="en-US" sz="1600" b="1" dirty="0">
                <a:ea typeface="宋体" panose="02010600030101010101" pitchFamily="2" charset="-122"/>
              </a:rPr>
              <a:t>6.包名规范</a:t>
            </a:r>
            <a:r>
              <a:rPr lang="zh-CN" altLang="en-US" sz="1400" dirty="0">
                <a:ea typeface="宋体" panose="02010600030101010101" pitchFamily="2" charset="-122"/>
              </a:rPr>
              <a:t>：使用字母，不要出现其他字符和符号</a:t>
            </a:r>
          </a:p>
          <a:p>
            <a:pPr marL="266700" indent="-266700">
              <a:lnSpc>
                <a:spcPct val="150000"/>
              </a:lnSpc>
            </a:pPr>
            <a:r>
              <a:rPr lang="zh-CN" altLang="en-US" sz="1600" b="1" dirty="0">
                <a:ea typeface="宋体" panose="02010600030101010101" pitchFamily="2" charset="-122"/>
              </a:rPr>
              <a:t>7.排版风格</a:t>
            </a:r>
            <a:r>
              <a:rPr lang="zh-CN" altLang="en-US" sz="1400" dirty="0">
                <a:ea typeface="宋体" panose="02010600030101010101" pitchFamily="2" charset="-122"/>
              </a:rPr>
              <a:t>：程序块采用缩进编写，缩进为4个空格位。排版不混合使用空格和TAB键</a:t>
            </a:r>
          </a:p>
          <a:p>
            <a:pPr marL="266700" indent="-266700">
              <a:lnSpc>
                <a:spcPct val="150000"/>
              </a:lnSpc>
            </a:pPr>
            <a:r>
              <a:rPr lang="zh-CN" altLang="en-US" sz="1600" b="1" dirty="0">
                <a:ea typeface="宋体" panose="02010600030101010101" pitchFamily="2" charset="-122"/>
              </a:rPr>
              <a:t>8.注释规则</a:t>
            </a:r>
            <a:r>
              <a:rPr lang="zh-CN" altLang="en-US" sz="1400" dirty="0">
                <a:ea typeface="宋体" panose="02010600030101010101" pitchFamily="2" charset="-122"/>
              </a:rPr>
              <a:t>：功能级蓝字，方法级绿字</a:t>
            </a:r>
          </a:p>
          <a:p>
            <a:pPr marL="266700" indent="-266700">
              <a:lnSpc>
                <a:spcPct val="150000"/>
              </a:lnSpc>
            </a:pPr>
            <a:r>
              <a:rPr lang="zh-CN" altLang="en-US" sz="1600" b="1" dirty="0">
                <a:ea typeface="宋体" panose="02010600030101010101" pitchFamily="2" charset="-122"/>
              </a:rPr>
              <a:t>9.方法名命名规范</a:t>
            </a:r>
            <a:r>
              <a:rPr lang="zh-CN" altLang="en-US" sz="1400" dirty="0">
                <a:ea typeface="宋体" panose="02010600030101010101" pitchFamily="2" charset="-122"/>
              </a:rPr>
              <a:t>:</a:t>
            </a:r>
          </a:p>
          <a:p>
            <a:pPr marL="266700" indent="-266700" algn="ctr"/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96235" y="4149090"/>
            <a:ext cx="56984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 algn="l"/>
            <a:r>
              <a:rPr lang="zh-CN" altLang="en-US" sz="1000" dirty="0">
                <a:sym typeface="+mn-ea"/>
              </a:rPr>
              <a:t>Create 创建 create_Tank()</a:t>
            </a:r>
            <a:r>
              <a:rPr lang="en-US" altLang="zh-CN" sz="1000" dirty="0">
                <a:sym typeface="+mn-ea"/>
              </a:rPr>
              <a:t>	</a:t>
            </a:r>
            <a:r>
              <a:rPr lang="zh-CN" altLang="en-US" sz="1000" dirty="0">
                <a:sym typeface="+mn-ea"/>
              </a:rPr>
              <a:t>Delete 删除 delete_User()</a:t>
            </a:r>
            <a:endParaRPr lang="zh-CN" altLang="en-US" sz="1000" dirty="0">
              <a:ea typeface="宋体" panose="02010600030101010101" pitchFamily="2" charset="-122"/>
            </a:endParaRPr>
          </a:p>
          <a:p>
            <a:pPr marL="266700" indent="-266700" algn="l"/>
            <a:r>
              <a:rPr lang="zh-CN" altLang="en-US" sz="1000" dirty="0">
                <a:sym typeface="+mn-ea"/>
              </a:rPr>
              <a:t>Add 创建 add_Paid_Order()</a:t>
            </a:r>
            <a:r>
              <a:rPr lang="en-US" altLang="zh-CN" sz="1000" dirty="0">
                <a:sym typeface="+mn-ea"/>
              </a:rPr>
              <a:t>	</a:t>
            </a:r>
            <a:r>
              <a:rPr lang="zh-CN" altLang="en-US" sz="1000" dirty="0">
                <a:sym typeface="+mn-ea"/>
              </a:rPr>
              <a:t>Remove 删除 remove_Order()</a:t>
            </a:r>
            <a:endParaRPr lang="zh-CN" altLang="en-US" sz="1000" dirty="0">
              <a:ea typeface="宋体" panose="02010600030101010101" pitchFamily="2" charset="-122"/>
            </a:endParaRPr>
          </a:p>
          <a:p>
            <a:pPr marL="266700" indent="-266700" algn="l"/>
            <a:r>
              <a:rPr lang="zh-CN" altLang="en-US" sz="1000" dirty="0">
                <a:sym typeface="+mn-ea"/>
              </a:rPr>
              <a:t>Read 读取 read_User_Name()</a:t>
            </a:r>
            <a:r>
              <a:rPr lang="en-US" altLang="zh-CN" sz="1000" dirty="0">
                <a:sym typeface="+mn-ea"/>
              </a:rPr>
              <a:t>	</a:t>
            </a:r>
            <a:r>
              <a:rPr lang="zh-CN" altLang="en-US" sz="1000" dirty="0">
                <a:sym typeface="+mn-ea"/>
              </a:rPr>
              <a:t>Write 写入 write_User_Name()</a:t>
            </a:r>
            <a:endParaRPr lang="zh-CN" altLang="en-US" sz="1000" dirty="0">
              <a:ea typeface="宋体" panose="02010600030101010101" pitchFamily="2" charset="-122"/>
            </a:endParaRPr>
          </a:p>
          <a:p>
            <a:pPr marL="266700" indent="-266700" algn="l"/>
            <a:r>
              <a:rPr lang="zh-CN" altLang="en-US" sz="1000" dirty="0">
                <a:sym typeface="+mn-ea"/>
              </a:rPr>
              <a:t>Get 获得 get_Name()</a:t>
            </a:r>
            <a:r>
              <a:rPr lang="en-US" altLang="zh-CN" sz="1000" dirty="0">
                <a:sym typeface="+mn-ea"/>
              </a:rPr>
              <a:t>	</a:t>
            </a:r>
            <a:r>
              <a:rPr lang="zh-CN" altLang="en-US" sz="1000" dirty="0">
                <a:sym typeface="+mn-ea"/>
              </a:rPr>
              <a:t>Set 设置 set_Name()</a:t>
            </a:r>
            <a:endParaRPr lang="zh-CN" altLang="en-US" sz="1000" dirty="0">
              <a:ea typeface="宋体" panose="02010600030101010101" pitchFamily="2" charset="-122"/>
            </a:endParaRPr>
          </a:p>
          <a:p>
            <a:pPr marL="266700" indent="-266700" algn="l"/>
            <a:r>
              <a:rPr lang="zh-CN" altLang="en-US" sz="1000" dirty="0">
                <a:sym typeface="+mn-ea"/>
              </a:rPr>
              <a:t>Modify 修改 modify_Actual_Total_Amount()</a:t>
            </a:r>
            <a:r>
              <a:rPr lang="en-US" altLang="zh-CN" sz="1000" dirty="0">
                <a:sym typeface="+mn-ea"/>
              </a:rPr>
              <a:t>         </a:t>
            </a:r>
            <a:r>
              <a:rPr lang="zh-CN" altLang="en-US" sz="1000" dirty="0">
                <a:sym typeface="+mn-ea"/>
              </a:rPr>
              <a:t>Do 执行某个过程或流do_Order_Cancel_Job()</a:t>
            </a:r>
            <a:endParaRPr lang="zh-CN" altLang="en-US" sz="1000" dirty="0">
              <a:ea typeface="宋体" panose="02010600030101010101" pitchFamily="2" charset="-122"/>
            </a:endParaRPr>
          </a:p>
          <a:p>
            <a:pPr marL="266700" indent="-266700" algn="l"/>
            <a:r>
              <a:rPr lang="zh-CN" altLang="en-US" sz="1000" dirty="0">
                <a:sym typeface="+mn-ea"/>
              </a:rPr>
              <a:t>Start 开始 start_Order_Processing()</a:t>
            </a:r>
            <a:r>
              <a:rPr lang="en-US" altLang="zh-CN" sz="1000" dirty="0">
                <a:sym typeface="+mn-ea"/>
              </a:rPr>
              <a:t>	</a:t>
            </a:r>
            <a:r>
              <a:rPr lang="zh-CN" altLang="en-US" sz="1000" dirty="0">
                <a:sym typeface="+mn-ea"/>
              </a:rPr>
              <a:t>Stop 结束 stop_Order_Processing()</a:t>
            </a:r>
            <a:endParaRPr lang="zh-CN" altLang="en-US" sz="1000" dirty="0">
              <a:ea typeface="宋体" panose="02010600030101010101" pitchFamily="2" charset="-122"/>
            </a:endParaRPr>
          </a:p>
          <a:p>
            <a:pPr marL="266700" indent="-266700" algn="l"/>
            <a:r>
              <a:rPr lang="zh-CN" altLang="en-US" sz="1000" dirty="0">
                <a:sym typeface="+mn-ea"/>
              </a:rPr>
              <a:t>Find 查找对象 find_New_Supplier()</a:t>
            </a:r>
            <a:r>
              <a:rPr lang="en-US" altLang="zh-CN" sz="1000" dirty="0">
                <a:sym typeface="+mn-ea"/>
              </a:rPr>
              <a:t>	</a:t>
            </a:r>
            <a:r>
              <a:rPr lang="zh-CN" altLang="en-US" sz="1000" dirty="0">
                <a:sym typeface="+mn-ea"/>
              </a:rPr>
              <a:t>Update 更新对象 update_Commission()</a:t>
            </a:r>
            <a:endParaRPr lang="zh-CN" altLang="en-US" sz="1000" dirty="0">
              <a:ea typeface="宋体" panose="02010600030101010101" pitchFamily="2" charset="-122"/>
            </a:endParaRPr>
          </a:p>
          <a:p>
            <a:pPr marL="266700" indent="-266700" algn="l"/>
            <a:endParaRPr lang="zh-CN" altLang="en-US" sz="1000" dirty="0"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单元测试用例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683895" y="155702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206375" y="1024255"/>
          <a:ext cx="5527040" cy="15335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6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3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用例标识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Example01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项目名称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坦克大战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开发人员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G22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模块名称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登录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用例作者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G22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参考信息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总体设计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单元测试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设计日期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endParaRPr lang="en-US" altLang="en-US" sz="1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测试人员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俞伟鸿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测试方法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白盒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测试日期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2022-12-4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用例描述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使用默认账号admin，输入正确密码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前置条件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默认用户admin密码admin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206375" y="2853055"/>
          <a:ext cx="5527675" cy="15335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6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2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2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用例标识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Example02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项目名称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坦克大战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开发人员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G22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模块名称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登录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用例作者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G22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参考信息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总体设计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单元测试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设计日期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endParaRPr lang="en-US" altLang="en-US" sz="1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测试人员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俞伟鸿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测试方法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白盒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测试日期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2022-12-4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用例描述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使用默认账号admin，输入错误密码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前置条件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默认用户admin密码admin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251460" y="4725670"/>
          <a:ext cx="5527675" cy="15335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6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2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2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用例标识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Example03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项目名称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坦克大战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开发人员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G22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模块名称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登录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用例作者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G22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参考信息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总体设计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单元测试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设计日期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endParaRPr lang="en-US" altLang="en-US" sz="1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测试人员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俞伟鸿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测试方法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白盒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测试日期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2022-12-4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用例描述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进入注册模块，进行同名用户注册，查看反馈，进行异名用户注册，查看注册是否成功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前置条件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默认用户admin密码admin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131820" y="360680"/>
            <a:ext cx="21170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截取为部分</a:t>
            </a:r>
            <a:r>
              <a:rPr lang="zh-CN" altLang="en-US" sz="1600">
                <a:sym typeface="+mn-ea"/>
              </a:rPr>
              <a:t>内容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单元测试用例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206375" y="1024255"/>
          <a:ext cx="5527040" cy="15335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6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3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用例标识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Example12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项目名称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坦克大战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开发人员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G22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模块名称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游戏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用例作者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G22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参考信息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总体设计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单元测试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设计日期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endParaRPr lang="en-US" altLang="en-US" sz="1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测试人员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俞伟鸿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测试方法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白盒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测试日期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2022-12-13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用例描述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己方坦克被敌方坦克攻击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前置条件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正确进入游戏界面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206375" y="2853055"/>
          <a:ext cx="5527675" cy="15335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6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2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2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用例标识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Example13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项目名称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坦克大战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开发人员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G22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模块名称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游戏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用例作者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G22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参考信息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总体设计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单元测试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设计日期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endParaRPr lang="en-US" altLang="en-US" sz="1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测试人员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俞伟鸿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测试方法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白盒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测试日期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2022-12-13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用例描述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己方坦克血量为零或基地被攻击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前置条件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正确进入游戏界面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251460" y="4578985"/>
          <a:ext cx="5527675" cy="16802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6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2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2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用例标识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Example14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项目名称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坦克大战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开发人员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G22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模块名称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游戏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用例作者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G22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参考信息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总体设计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单元测试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设计日期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endParaRPr lang="en-US" altLang="en-US" sz="1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测试人员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俞伟鸿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测试方法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白盒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测试日期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2022-12-13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用例描述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敌方坦克被清零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前置条件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正确进入游戏界面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3131820" y="360680"/>
            <a:ext cx="21170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截取为部分</a:t>
            </a:r>
            <a:r>
              <a:rPr lang="zh-CN" altLang="en-US" sz="1600">
                <a:sym typeface="+mn-ea"/>
              </a:rPr>
              <a:t>内容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详细设计修订</a:t>
            </a: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版本控制服务器</a:t>
            </a: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测试计划</a:t>
            </a: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7125" y="909320"/>
            <a:ext cx="7317105" cy="603440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sz="1800" b="1">
                <a:ea typeface="宋体" panose="02010600030101010101" pitchFamily="2" charset="-122"/>
              </a:rPr>
              <a:t>测试计划描述</a:t>
            </a:r>
            <a:endParaRPr lang="zh-CN" sz="105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sz="1400">
                <a:ea typeface="宋体" panose="02010600030101010101" pitchFamily="2" charset="-122"/>
              </a:rPr>
              <a:t>本测试报告按照xxxxx系统使用手册介绍系统的功能，测试系统的能力是否满足《xxxx项目需求规格说明书》的功能和性能需求。测试分为功能测试和系统测试两部分。</a:t>
            </a:r>
          </a:p>
          <a:p>
            <a:pPr>
              <a:lnSpc>
                <a:spcPct val="150000"/>
              </a:lnSpc>
            </a:pPr>
            <a:r>
              <a:rPr lang="zh-CN" sz="1400">
                <a:ea typeface="宋体" panose="02010600030101010101" pitchFamily="2" charset="-122"/>
              </a:rPr>
              <a:t>功能测试覆盖各子系统中的功能模块，本测试针对在现有产品功能模块以及实施结果分别进行测试，测试整个系统是否达到需求规格说明书中要求实现的功能，以及测试系统的易用性、用户界面的友好性。</a:t>
            </a:r>
          </a:p>
          <a:p>
            <a:pPr>
              <a:lnSpc>
                <a:spcPct val="150000"/>
              </a:lnSpc>
            </a:pPr>
            <a:r>
              <a:rPr lang="zh-CN" sz="1400">
                <a:ea typeface="宋体" panose="02010600030101010101" pitchFamily="2" charset="-122"/>
              </a:rPr>
              <a:t>系统测试包括系统的易用性、可靠性、安全性、可维护性进行测试，整个系统集成后提供服务的能力，还包括系统服务性能测试、疲劳测试（不间断运行）。</a:t>
            </a:r>
            <a:endParaRPr lang="zh-CN" sz="1050">
              <a:ea typeface="宋体" panose="02010600030101010101" pitchFamily="2" charset="-122"/>
            </a:endParaRPr>
          </a:p>
          <a:p>
            <a:endParaRPr lang="en-US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sz="1800" b="1">
                <a:ea typeface="宋体" panose="02010600030101010101" pitchFamily="2" charset="-122"/>
              </a:rPr>
              <a:t>测试环境</a:t>
            </a:r>
            <a:endParaRPr lang="zh-CN" sz="1800" b="1"/>
          </a:p>
        </p:txBody>
      </p:sp>
      <p:graphicFrame>
        <p:nvGraphicFramePr>
          <p:cNvPr id="3" name="表格 2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638206706"/>
              </p:ext>
            </p:extLst>
          </p:nvPr>
        </p:nvGraphicFramePr>
        <p:xfrm>
          <a:off x="1835785" y="4725670"/>
          <a:ext cx="6557645" cy="148463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序号</a:t>
                      </a:r>
                      <a:endParaRPr lang="en-US" altLang="en-US" sz="1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用途</a:t>
                      </a:r>
                      <a:endParaRPr lang="en-US" altLang="en-US" sz="1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硬件环境</a:t>
                      </a:r>
                      <a:endParaRPr lang="en-US" altLang="en-US" sz="1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软件环境</a:t>
                      </a:r>
                      <a:endParaRPr lang="en-US" altLang="en-US" sz="1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1</a:t>
                      </a:r>
                      <a:endParaRPr lang="en-US" altLang="en-US" sz="10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服务器</a:t>
                      </a:r>
                      <a:endParaRPr lang="en-US" altLang="en-US" sz="10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CPU：2.3GHz core*2内存：2G硬盘：40G</a:t>
                      </a:r>
                      <a:endParaRPr lang="en-US" altLang="en-US" sz="10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操作系统：CENTOS 7      </a:t>
                      </a:r>
                      <a:r>
                        <a:rPr lang="en-US" sz="1000" dirty="0" err="1"/>
                        <a:t>应用软件：无</a:t>
                      </a:r>
                      <a:r>
                        <a:rPr lang="en-US" sz="1000" dirty="0"/>
                        <a:t>        数据库软件：MySQL8.0</a:t>
                      </a:r>
                      <a:endParaRPr lang="en-US" altLang="en-US" sz="10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  <a:endParaRPr lang="en-US" altLang="en-US" sz="10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客户机</a:t>
                      </a:r>
                      <a:endParaRPr lang="en-US" altLang="en-US" sz="10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内存：2G      磁盘：60G</a:t>
                      </a:r>
                      <a:endParaRPr lang="en-US" altLang="en-US" sz="10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操作系统：win10       </a:t>
                      </a:r>
                      <a:r>
                        <a:rPr lang="en-US" sz="1000" dirty="0" err="1"/>
                        <a:t>浏览器：无</a:t>
                      </a:r>
                      <a:endParaRPr lang="en-US" altLang="en-US" sz="10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3</a:t>
                      </a:r>
                      <a:endParaRPr lang="en-US" altLang="en-US" sz="10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网络要求</a:t>
                      </a:r>
                      <a:endParaRPr lang="en-US" altLang="en-US" sz="1000"/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256kbps带宽</a:t>
                      </a:r>
                      <a:endParaRPr lang="en-US" altLang="en-US" sz="1000" dirty="0"/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79705" y="189230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单元测试</a:t>
            </a:r>
            <a:endParaRPr 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35785" y="90932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28600" indent="-228600"/>
            <a:r>
              <a:rPr lang="zh-CN" sz="1800" b="1">
                <a:ea typeface="宋体" panose="02010600030101010101" pitchFamily="2" charset="-122"/>
              </a:rPr>
              <a:t>登录模块</a:t>
            </a:r>
            <a:endParaRPr lang="zh-CN" altLang="en-US" sz="1800" b="1"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577435485"/>
              </p:ext>
            </p:extLst>
          </p:nvPr>
        </p:nvGraphicFramePr>
        <p:xfrm>
          <a:off x="1835785" y="1277620"/>
          <a:ext cx="5554663" cy="284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 试 用 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 期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 测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测试状态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 grid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测试单元： 登录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输入已有用户名与密码并登录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跳转主界面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空白输入并登录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弹窗提醒内容不能为空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输入错误用户名与密码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弹窗提醒用户名或密码错误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输入用户名空白输入密码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弹窗提醒内容不能为空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输入密码空白输入用户名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弹窗提醒内容不能为空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 grid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测试单元：注册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单击注册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实现跳转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835785" y="429323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28600" indent="-228600"/>
            <a:r>
              <a:rPr lang="zh-CN" sz="1800" b="1">
                <a:ea typeface="宋体" panose="02010600030101010101" pitchFamily="2" charset="-122"/>
              </a:rPr>
              <a:t>注册模块</a:t>
            </a:r>
            <a:endParaRPr lang="zh-CN" altLang="en-US" sz="1800" b="1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578298885"/>
              </p:ext>
            </p:extLst>
          </p:nvPr>
        </p:nvGraphicFramePr>
        <p:xfrm>
          <a:off x="1835785" y="4661535"/>
          <a:ext cx="5554663" cy="1892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 试 用 例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 期 结 果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 测 结 果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测试状态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错误类型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 gridSpan="6"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测试单元：注册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输入已有用户名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提示已存在该用户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输入未有用户名，密码为空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提示密码不能为空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正确输入用户名密码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提示注册成功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单击退出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退出注册模块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79705" y="189230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单元测试</a:t>
            </a:r>
            <a:endParaRPr 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35785" y="90932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28600" indent="-228600"/>
            <a:r>
              <a:rPr lang="zh-CN" sz="1800" b="1">
                <a:ea typeface="宋体" panose="02010600030101010101" pitchFamily="2" charset="-122"/>
              </a:rPr>
              <a:t>主界面模块</a:t>
            </a:r>
            <a:endParaRPr lang="zh-CN" altLang="en-US" sz="1800" b="1"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751459978"/>
              </p:ext>
            </p:extLst>
          </p:nvPr>
        </p:nvGraphicFramePr>
        <p:xfrm>
          <a:off x="1835785" y="1277620"/>
          <a:ext cx="5554663" cy="1892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 试 用 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 期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 测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测试状态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 grid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测试单元： 开始游戏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单击开始游戏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跳转游戏画面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单击玩法设置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跳转玩法设置画面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单击排行榜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跳转排行榜画面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单击用户信息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跳转用户信息界面，并正确显示用户信息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835785" y="335724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28600" indent="-228600"/>
            <a:r>
              <a:rPr lang="zh-CN" sz="1800" b="1">
                <a:ea typeface="宋体" panose="02010600030101010101" pitchFamily="2" charset="-122"/>
              </a:rPr>
              <a:t>玩法设置模块</a:t>
            </a:r>
            <a:endParaRPr lang="zh-CN" altLang="en-US" sz="1800" b="1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887061693"/>
              </p:ext>
            </p:extLst>
          </p:nvPr>
        </p:nvGraphicFramePr>
        <p:xfrm>
          <a:off x="1835785" y="3861435"/>
          <a:ext cx="5554663" cy="1892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 试 用 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 期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 测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测试状态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 grid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测试单元：玩法设置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可选择模式和地图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可选择模式和地图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按选择结果确定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保存数据并提示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单击返回返回主界面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返回主界面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单击坦克属性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跳转坦克属性界面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79705" y="189230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单元测试</a:t>
            </a:r>
            <a:endParaRPr 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35785" y="90932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28600" indent="-228600"/>
            <a:r>
              <a:rPr lang="zh-CN" sz="1800" b="1">
                <a:ea typeface="宋体" panose="02010600030101010101" pitchFamily="2" charset="-122"/>
              </a:rPr>
              <a:t>排行榜模块</a:t>
            </a:r>
            <a:endParaRPr lang="zh-CN" altLang="en-US" sz="1800" b="1"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781206578"/>
              </p:ext>
            </p:extLst>
          </p:nvPr>
        </p:nvGraphicFramePr>
        <p:xfrm>
          <a:off x="1835785" y="1379220"/>
          <a:ext cx="5554663" cy="939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 试 用 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 期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 测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测试状态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 grid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测试单元：排行榜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打开排行榜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正确显示排行榜内容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835785" y="242125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28600" indent="-228600"/>
            <a:r>
              <a:rPr lang="zh-CN" sz="1800" b="1">
                <a:ea typeface="宋体" panose="02010600030101010101" pitchFamily="2" charset="-122"/>
              </a:rPr>
              <a:t>用户信息模块</a:t>
            </a:r>
            <a:endParaRPr lang="zh-CN" altLang="en-US" sz="1800" b="1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83419814"/>
              </p:ext>
            </p:extLst>
          </p:nvPr>
        </p:nvGraphicFramePr>
        <p:xfrm>
          <a:off x="1835785" y="2925445"/>
          <a:ext cx="5554663" cy="2527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 试 用 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 期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 测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测试状态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 grid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测试单元：注销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单击注销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返回登录界面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 grid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测试单元：修改密码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输入正确用户名、原密码、新密码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提示修改成功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输入空白用户名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提示账号不存在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输入错误原密码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提示原始密码错误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输入相同新旧密码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提示新旧密码相同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79705" y="189230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单元测试</a:t>
            </a:r>
            <a:endParaRPr 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35785" y="90932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28600" indent="-228600"/>
            <a:r>
              <a:rPr lang="zh-CN" sz="1800" b="1">
                <a:ea typeface="宋体" panose="02010600030101010101" pitchFamily="2" charset="-122"/>
              </a:rPr>
              <a:t>坦克属性模块</a:t>
            </a:r>
            <a:endParaRPr lang="zh-CN" altLang="en-US" sz="1800" b="1"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139466091"/>
              </p:ext>
            </p:extLst>
          </p:nvPr>
        </p:nvGraphicFramePr>
        <p:xfrm>
          <a:off x="1835785" y="1277620"/>
          <a:ext cx="5554663" cy="157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 试 用 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 期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 测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测试状态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 grid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测试单元：坦克属性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能正确输入坦克属性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能正确输入坦克属性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单击确认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保存数据并返回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功能未实现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 试 用 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 期 结 果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 测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测试状态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错误类型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835785" y="328549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28600" indent="-228600"/>
            <a:r>
              <a:rPr lang="zh-CN" sz="1800" b="1">
                <a:ea typeface="宋体" panose="02010600030101010101" pitchFamily="2" charset="-122"/>
              </a:rPr>
              <a:t>结算模块</a:t>
            </a:r>
            <a:endParaRPr lang="zh-CN" altLang="en-US" sz="1800" b="1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175570125"/>
              </p:ext>
            </p:extLst>
          </p:nvPr>
        </p:nvGraphicFramePr>
        <p:xfrm>
          <a:off x="1903730" y="3717290"/>
          <a:ext cx="5554663" cy="2209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 试 用 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 期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 测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测试状态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 grid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测试单元： 显示分数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打开模块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显示获得分数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功能未实现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 grid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测试单元：按钮跳转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单击再来一把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跳转游戏界面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功能未实现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单击排行榜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跳转排行榜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单击返回主界面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返回主界面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79705" y="189230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单元测试</a:t>
            </a:r>
            <a:endParaRPr 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13823413"/>
              </p:ext>
            </p:extLst>
          </p:nvPr>
        </p:nvGraphicFramePr>
        <p:xfrm>
          <a:off x="839157" y="762605"/>
          <a:ext cx="7477260" cy="51359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3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8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4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54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 试 用 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 期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 测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测试状态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70">
                <a:tc grid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测试单元</a:t>
                      </a:r>
                      <a:r>
                        <a:rPr lang="en-US" sz="10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：</a:t>
                      </a:r>
                      <a:r>
                        <a:rPr lang="zh-CN" altLang="en-US" sz="10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坦克属性模块</a:t>
                      </a: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短按WASD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坦克短距离移动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正常WASD控制坦克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坦克正常移动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Space坦克攻击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坦克正常攻击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与敌方坦克碰撞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移动停止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与墙体碰撞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移动停止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与窗体边界碰撞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移动停止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子弹碰撞基地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游戏失败并退出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子弹碰撞敌人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敌人爆炸消失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自己被敌方子弹击中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游戏失败并退出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子弹击杀敌人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增加积分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功能未实现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子弹击杀敌人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产生爆炸效果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自己或基地被攻击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游戏结束结算积分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功能未实现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敌方正常坦克生成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敌方正常坦克生成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敌方正常坦克移动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敌方正常坦克移动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敌方正常坦克攻击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敌方正常坦克攻击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敌方坦克碰撞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移动停止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功能未实现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子弹碰撞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抵消消失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功能未实现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4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敌方坦克子弹不造成伤害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敌方坦克子弹不造成伤害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功能未实现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79705" y="189230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集成测试</a:t>
            </a:r>
            <a:endParaRPr 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548600702"/>
              </p:ext>
            </p:extLst>
          </p:nvPr>
        </p:nvGraphicFramePr>
        <p:xfrm>
          <a:off x="427674" y="1124745"/>
          <a:ext cx="8032756" cy="42724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1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1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9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 试 用 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 期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 测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测试状态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打开登录系统单击注册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跳转注册界面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注册界面完成确定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提示注册成功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进入登录系统正确输入用户名密码单击登录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跳转主界面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进入主界面系统单击开始游戏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跳转游戏界面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进入主界面系统单击玩法设置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跳转玩法设置界面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进入主界面系统单击排行榜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跳转排行榜界面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进入主界面系统单击用户信息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跳转用户信息界面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进入玩法设置系统单击坦克属性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跳转坦克属性界面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进入玩法设置正确设置地图模式单击确定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提示修改成功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进入用户信息系统单击注销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跳转登录界面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进入用户信息系统单击修改密码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跳转修改密码界面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进入修改密码系统正确修改密码后单击修改密码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提示修改成功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进入游戏界面游戏成功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录入排行榜返回主界面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进入游戏界面游戏失败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返回主界面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79705" y="189230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系统测试</a:t>
            </a:r>
            <a:endParaRPr 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323815170"/>
              </p:ext>
            </p:extLst>
          </p:nvPr>
        </p:nvGraphicFramePr>
        <p:xfrm>
          <a:off x="234345" y="1272618"/>
          <a:ext cx="8673404" cy="35100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2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4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9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8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 试 用 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 期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 测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测试状态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0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开登录系统单击注册，进程用户注册，返回登录界面，使用注册账号登录，进入主界面，进入玩法设置，调整地图为“1”，游戏模式为单人，点击确认，进入坦克属性设置，设置坦克属性，攻击间隔为“2000”，血量为“3”，点击确定，返回主界面，点击开始游戏，击杀敌方玩家获取分数游戏成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游戏成功跳转主界面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开登录系统单击注册，进程用户注册，返回登录界面，使用注册账号登录，进入主界面，进入玩法设置，调整地图为“2”，游戏模式为双人，点击确认，进入坦克属性设置，设置坦克属性，攻击间隔为“1000”，血量为“2”，点击确定，返回主界面，点击开始游戏，击杀敌方玩家获取分数游戏成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游戏成功跳转主界面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打开登录系统单击注册，进程用户注册，返回登录界面，使用注册账号登录，进入主界面，进入玩法设置，调整地图为“1”，游戏模式为单人，点击确认，返回主界面，点击开始游戏，被敌方玩家击杀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提示游戏失败跳转主界面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79705" y="189230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系统测试</a:t>
            </a:r>
            <a:endParaRPr 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910038333"/>
              </p:ext>
            </p:extLst>
          </p:nvPr>
        </p:nvGraphicFramePr>
        <p:xfrm>
          <a:off x="343216" y="1532890"/>
          <a:ext cx="8045208" cy="24001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7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1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 试 用 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 期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 测 结 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测试状态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错误类型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打开登录系统使用现有用户登录进入主界面，修改密码，查看排行榜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跳转排行榜界面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打开登录系统使用现有用户登录进入主界面，修改密码，查看排行榜，点击开始游戏，被敌方玩家击杀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提示游戏失败跳转主界面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打开登录系统使用现有用户登录进入主界面，修改密码，查看排行榜，点击开始游戏，击杀敌方玩家获取分数游戏成功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游戏成功跳转主界面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与预期结果一致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系统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测试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性能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87111" y="1452168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0B8938-DECF-89AF-9BFA-98FA0AEF411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87" t="2207" r="-487" b="1"/>
          <a:stretch/>
        </p:blipFill>
        <p:spPr>
          <a:xfrm>
            <a:off x="894902" y="908720"/>
            <a:ext cx="7230484" cy="55989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实际测试</a:t>
            </a:r>
            <a:endParaRPr 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CC7E35E-54A1-400A-90D8-68170006EC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58" y="651002"/>
            <a:ext cx="7661987" cy="53497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用户测试</a:t>
            </a:r>
            <a:endParaRPr 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800" dirty="0">
                <a:latin typeface="黑体" panose="02010609060101010101" charset="-122"/>
                <a:ea typeface="黑体" panose="02010609060101010101" charset="-122"/>
              </a:rPr>
              <a:t>项目计划修订</a:t>
            </a: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1E966C-433A-A6C7-70A8-859B0BAFC5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608" y="2420888"/>
            <a:ext cx="8130685" cy="157434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用户手册</a:t>
            </a:r>
            <a:endParaRPr 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F13325-A5EE-ED31-058D-946913F285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361" y="1446608"/>
            <a:ext cx="7521737" cy="38783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759197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3635058" y="213233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734377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测试结果</a:t>
            </a: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551815" y="1532890"/>
            <a:ext cx="8259445" cy="3966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/>
            <a:endParaRPr lang="zh-CN" altLang="en-US" sz="2800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7125" y="909320"/>
            <a:ext cx="7317105" cy="603440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sz="2400" b="1" dirty="0"/>
              <a:t>测试结果分析</a:t>
            </a:r>
          </a:p>
          <a:p>
            <a:pPr>
              <a:lnSpc>
                <a:spcPct val="150000"/>
              </a:lnSpc>
            </a:pPr>
            <a:r>
              <a:rPr lang="zh-CN" sz="1600" dirty="0"/>
              <a:t>经过对测试结果进行分析，项目的设计和实施达到了软件基本需求所要求的能力。特别在基本功能的实现部分，软件已具备相对完整的玩法体系以及基本样式的菜单界面，并且在各个测试环境下可以正常运行。经过评估，已经可以进入项目的下一阶段。</a:t>
            </a:r>
          </a:p>
          <a:p>
            <a:pPr>
              <a:lnSpc>
                <a:spcPct val="150000"/>
              </a:lnSpc>
            </a:pPr>
            <a:r>
              <a:rPr lang="zh-CN" sz="1600" dirty="0"/>
              <a:t>部分模块功能在测试下表现未能达到预期，考虑对需求和代码部分作进一步更新。</a:t>
            </a:r>
          </a:p>
          <a:p>
            <a:pPr>
              <a:lnSpc>
                <a:spcPct val="150000"/>
              </a:lnSpc>
            </a:pPr>
            <a:r>
              <a:rPr lang="zh-CN" sz="2400" b="1" dirty="0"/>
              <a:t>建议</a:t>
            </a:r>
          </a:p>
          <a:p>
            <a:pPr>
              <a:lnSpc>
                <a:spcPct val="150000"/>
              </a:lnSpc>
            </a:pPr>
            <a:r>
              <a:rPr lang="zh-CN" sz="1600" dirty="0"/>
              <a:t>项目的开发和实施虽然满足了当前业务的功能和性能要求，并实施了相应的系统安全、备份等方案，随着系统的运行和后期工程的投入生产，在现有系统软件硬件条件下，可能会给系统带来一定的压力，所以在后期工程的开发过程中，随时要兼顾一期工程的可能存在的性能优化和功能调整，以及系统在安全、备份方面加大资源投入力度，保证系统达到稳定、可靠运行的要求。</a:t>
            </a:r>
          </a:p>
          <a:p>
            <a:pPr>
              <a:lnSpc>
                <a:spcPct val="150000"/>
              </a:lnSpc>
            </a:pPr>
            <a:r>
              <a:rPr lang="zh-CN" sz="1600" dirty="0"/>
              <a:t>由于软件项目工程目前处在初步阶段，代码部分尚待完善，部分进阶功能尚未完全实现，因而导致测试结果总体未达成该项目完整版预期。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977" name="组合 43"/>
          <p:cNvGrpSpPr/>
          <p:nvPr/>
        </p:nvGrpSpPr>
        <p:grpSpPr>
          <a:xfrm>
            <a:off x="492125" y="461963"/>
            <a:ext cx="923925" cy="711200"/>
            <a:chOff x="842086" y="1969574"/>
            <a:chExt cx="1233302" cy="949325"/>
          </a:xfrm>
        </p:grpSpPr>
        <p:sp>
          <p:nvSpPr>
            <p:cNvPr id="42" name="任意多边形: 形状 41"/>
            <p:cNvSpPr/>
            <p:nvPr>
              <p:custDataLst>
                <p:tags r:id="rId6"/>
              </p:custDataLst>
            </p:nvPr>
          </p:nvSpPr>
          <p:spPr>
            <a:xfrm>
              <a:off x="8420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 fontAlgn="base"/>
              <a:endParaRPr lang="zh-CN" altLang="en-US" sz="1350" strike="noStrike" noProof="1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3" name="任意多边形: 形状 42"/>
            <p:cNvSpPr/>
            <p:nvPr>
              <p:custDataLst>
                <p:tags r:id="rId7"/>
              </p:custDataLst>
            </p:nvPr>
          </p:nvSpPr>
          <p:spPr>
            <a:xfrm>
              <a:off x="15024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</p:grpSp>
      <p:sp>
        <p:nvSpPr>
          <p:cNvPr id="126980" name="文本框 6"/>
          <p:cNvSpPr txBox="1"/>
          <p:nvPr>
            <p:custDataLst>
              <p:tags r:id="rId2"/>
            </p:custDataLst>
          </p:nvPr>
        </p:nvSpPr>
        <p:spPr>
          <a:xfrm>
            <a:off x="1416050" y="1419225"/>
            <a:ext cx="3960813" cy="58896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700" b="1" dirty="0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charset="-122"/>
              </a:rPr>
              <a:t>当前里程碑评价：</a:t>
            </a:r>
          </a:p>
        </p:txBody>
      </p:sp>
      <p:cxnSp>
        <p:nvCxnSpPr>
          <p:cNvPr id="9" name="直接连接符 8"/>
          <p:cNvCxnSpPr/>
          <p:nvPr>
            <p:custDataLst>
              <p:tags r:id="rId3"/>
            </p:custDataLst>
          </p:nvPr>
        </p:nvCxnSpPr>
        <p:spPr>
          <a:xfrm>
            <a:off x="1135063" y="1308100"/>
            <a:ext cx="0" cy="811213"/>
          </a:xfrm>
          <a:prstGeom prst="line">
            <a:avLst/>
          </a:prstGeom>
          <a:ln>
            <a:solidFill>
              <a:sysClr val="windowText" lastClr="000000"/>
            </a:solidFill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grpSp>
        <p:nvGrpSpPr>
          <p:cNvPr id="126982" name="组合 44"/>
          <p:cNvGrpSpPr/>
          <p:nvPr/>
        </p:nvGrpSpPr>
        <p:grpSpPr>
          <a:xfrm rot="10800000">
            <a:off x="7562850" y="1173163"/>
            <a:ext cx="923925" cy="711200"/>
            <a:chOff x="842086" y="1969574"/>
            <a:chExt cx="1233302" cy="949325"/>
          </a:xfrm>
        </p:grpSpPr>
        <p:sp>
          <p:nvSpPr>
            <p:cNvPr id="46" name="任意多边形: 形状 45"/>
            <p:cNvSpPr/>
            <p:nvPr>
              <p:custDataLst>
                <p:tags r:id="rId4"/>
              </p:custDataLst>
            </p:nvPr>
          </p:nvSpPr>
          <p:spPr>
            <a:xfrm>
              <a:off x="8420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  <p:sp>
          <p:nvSpPr>
            <p:cNvPr id="47" name="任意多边形: 形状 46"/>
            <p:cNvSpPr/>
            <p:nvPr>
              <p:custDataLst>
                <p:tags r:id="rId5"/>
              </p:custDataLst>
            </p:nvPr>
          </p:nvSpPr>
          <p:spPr>
            <a:xfrm>
              <a:off x="15024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</p:grpSp>
      <p:sp>
        <p:nvSpPr>
          <p:cNvPr id="126985" name="文本框 1"/>
          <p:cNvSpPr txBox="1"/>
          <p:nvPr/>
        </p:nvSpPr>
        <p:spPr>
          <a:xfrm>
            <a:off x="1416050" y="2251075"/>
            <a:ext cx="6602095" cy="120032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郎竑健：</a:t>
            </a:r>
            <a:r>
              <a:rPr lang="zh-CN" altLang="en-US" dirty="0"/>
              <a:t>系统测试、代码清单修改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(90)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微软雅黑" panose="020B0503020204020204" charset="-122"/>
              </a:rPr>
              <a:t>俞伟鸿：单元、集成测试，测试用例修改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(89)</a:t>
            </a: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徐志浩：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用户手册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PPT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制作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(88)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977" name="组合 43"/>
          <p:cNvGrpSpPr/>
          <p:nvPr/>
        </p:nvGrpSpPr>
        <p:grpSpPr>
          <a:xfrm>
            <a:off x="492125" y="461963"/>
            <a:ext cx="923925" cy="711200"/>
            <a:chOff x="842086" y="1969574"/>
            <a:chExt cx="1233302" cy="949325"/>
          </a:xfrm>
        </p:grpSpPr>
        <p:sp>
          <p:nvSpPr>
            <p:cNvPr id="42" name="任意多边形: 形状 41"/>
            <p:cNvSpPr/>
            <p:nvPr>
              <p:custDataLst>
                <p:tags r:id="rId6"/>
              </p:custDataLst>
            </p:nvPr>
          </p:nvSpPr>
          <p:spPr>
            <a:xfrm>
              <a:off x="8420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 fontAlgn="base"/>
              <a:endParaRPr lang="zh-CN" altLang="en-US" sz="1350" strike="noStrike" noProof="1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3" name="任意多边形: 形状 42"/>
            <p:cNvSpPr/>
            <p:nvPr>
              <p:custDataLst>
                <p:tags r:id="rId7"/>
              </p:custDataLst>
            </p:nvPr>
          </p:nvSpPr>
          <p:spPr>
            <a:xfrm>
              <a:off x="15024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</p:grpSp>
      <p:sp>
        <p:nvSpPr>
          <p:cNvPr id="126980" name="文本框 6"/>
          <p:cNvSpPr txBox="1"/>
          <p:nvPr>
            <p:custDataLst>
              <p:tags r:id="rId2"/>
            </p:custDataLst>
          </p:nvPr>
        </p:nvSpPr>
        <p:spPr>
          <a:xfrm>
            <a:off x="1416050" y="1419067"/>
            <a:ext cx="3960813" cy="58928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700" b="1" dirty="0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charset="-122"/>
              </a:rPr>
              <a:t>参考资料：</a:t>
            </a:r>
          </a:p>
        </p:txBody>
      </p:sp>
      <p:cxnSp>
        <p:nvCxnSpPr>
          <p:cNvPr id="9" name="直接连接符 8"/>
          <p:cNvCxnSpPr/>
          <p:nvPr>
            <p:custDataLst>
              <p:tags r:id="rId3"/>
            </p:custDataLst>
          </p:nvPr>
        </p:nvCxnSpPr>
        <p:spPr>
          <a:xfrm>
            <a:off x="1135063" y="1308100"/>
            <a:ext cx="0" cy="811213"/>
          </a:xfrm>
          <a:prstGeom prst="line">
            <a:avLst/>
          </a:prstGeom>
          <a:ln>
            <a:solidFill>
              <a:sysClr val="windowText" lastClr="000000"/>
            </a:solidFill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grpSp>
        <p:nvGrpSpPr>
          <p:cNvPr id="126982" name="组合 44"/>
          <p:cNvGrpSpPr/>
          <p:nvPr/>
        </p:nvGrpSpPr>
        <p:grpSpPr>
          <a:xfrm rot="10800000">
            <a:off x="7562850" y="1173163"/>
            <a:ext cx="923925" cy="711200"/>
            <a:chOff x="842086" y="1969574"/>
            <a:chExt cx="1233302" cy="949325"/>
          </a:xfrm>
        </p:grpSpPr>
        <p:sp>
          <p:nvSpPr>
            <p:cNvPr id="46" name="任意多边形: 形状 45"/>
            <p:cNvSpPr/>
            <p:nvPr>
              <p:custDataLst>
                <p:tags r:id="rId4"/>
              </p:custDataLst>
            </p:nvPr>
          </p:nvSpPr>
          <p:spPr>
            <a:xfrm>
              <a:off x="8420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  <p:sp>
          <p:nvSpPr>
            <p:cNvPr id="47" name="任意多边形: 形状 46"/>
            <p:cNvSpPr/>
            <p:nvPr>
              <p:custDataLst>
                <p:tags r:id="rId5"/>
              </p:custDataLst>
            </p:nvPr>
          </p:nvSpPr>
          <p:spPr>
            <a:xfrm>
              <a:off x="15024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</p:grpSp>
      <p:sp>
        <p:nvSpPr>
          <p:cNvPr id="126985" name="文本框 1"/>
          <p:cNvSpPr txBox="1"/>
          <p:nvPr/>
        </p:nvSpPr>
        <p:spPr>
          <a:xfrm>
            <a:off x="1416050" y="2251075"/>
            <a:ext cx="6602095" cy="2584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>
                <a:latin typeface="Arial" panose="020B0604020202020204" pitchFamily="34" charset="0"/>
                <a:ea typeface="宋体" panose="02010600030101010101" pitchFamily="2" charset="-122"/>
              </a:rPr>
              <a:t>[1] 设计思路来源于经典的游戏——坦克大战</a:t>
            </a:r>
          </a:p>
          <a:p>
            <a:r>
              <a:rPr>
                <a:latin typeface="Arial" panose="020B0604020202020204" pitchFamily="34" charset="0"/>
                <a:ea typeface="宋体" panose="02010600030101010101" pitchFamily="2" charset="-122"/>
              </a:rPr>
              <a:t>https://baike.baidu.com/item/%E5%9D%A6%E5%85%8B%E5%A4%A7%E6%88%98/2882132?fr=aladdin</a:t>
            </a:r>
          </a:p>
          <a:p>
            <a:r>
              <a:rPr>
                <a:latin typeface="Arial" panose="020B0604020202020204" pitchFamily="34" charset="0"/>
                <a:ea typeface="宋体" panose="02010600030101010101" pitchFamily="2" charset="-122"/>
              </a:rPr>
              <a:t>[2] Java版的基础实现来源于B站</a:t>
            </a:r>
          </a:p>
          <a:p>
            <a:r>
              <a:rPr>
                <a:latin typeface="Arial" panose="020B0604020202020204" pitchFamily="34" charset="0"/>
                <a:ea typeface="宋体" panose="02010600030101010101" pitchFamily="2" charset="-122"/>
              </a:rPr>
              <a:t>https://www.bilibili.com/video/BV1ue4y1Y7na/?p=25&amp;spm_id_from=333.880.my_history.page.click&amp;vd_source=3cf0c6b94b1ad135d170ff87f1ada70c</a:t>
            </a:r>
          </a:p>
          <a:p>
            <a:r>
              <a:rPr>
                <a:latin typeface="Arial" panose="020B0604020202020204" pitchFamily="34" charset="0"/>
                <a:ea typeface="宋体" panose="02010600030101010101" pitchFamily="2" charset="-122"/>
              </a:rPr>
              <a:t>[3] 游戏玩法介绍参考</a:t>
            </a:r>
          </a:p>
          <a:p>
            <a:r>
              <a:rPr>
                <a:latin typeface="Arial" panose="020B0604020202020204" pitchFamily="34" charset="0"/>
                <a:ea typeface="宋体" panose="02010600030101010101" pitchFamily="2" charset="-122"/>
              </a:rPr>
              <a:t>https://zhuanlan.zhihu.com/p/4951272643-474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073" name="组合 25"/>
          <p:cNvGrpSpPr/>
          <p:nvPr/>
        </p:nvGrpSpPr>
        <p:grpSpPr>
          <a:xfrm>
            <a:off x="684213" y="825500"/>
            <a:ext cx="7775575" cy="5207000"/>
            <a:chOff x="975533" y="0"/>
            <a:chExt cx="10240934" cy="6858000"/>
          </a:xfrm>
        </p:grpSpPr>
        <p:sp>
          <p:nvSpPr>
            <p:cNvPr id="23" name="任意多边形: 形状 22"/>
            <p:cNvSpPr/>
            <p:nvPr>
              <p:custDataLst>
                <p:tags r:id="rId3"/>
              </p:custDataLst>
            </p:nvPr>
          </p:nvSpPr>
          <p:spPr>
            <a:xfrm>
              <a:off x="2412733" y="0"/>
              <a:ext cx="7366534" cy="6858000"/>
            </a:xfrm>
            <a:custGeom>
              <a:avLst/>
              <a:gdLst>
                <a:gd name="connsiteX0" fmla="*/ 2338804 w 7366534"/>
                <a:gd name="connsiteY0" fmla="*/ 0 h 6858000"/>
                <a:gd name="connsiteX1" fmla="*/ 5027730 w 7366534"/>
                <a:gd name="connsiteY1" fmla="*/ 0 h 6858000"/>
                <a:gd name="connsiteX2" fmla="*/ 5116961 w 7366534"/>
                <a:gd name="connsiteY2" fmla="*/ 35183 h 6858000"/>
                <a:gd name="connsiteX3" fmla="*/ 7366534 w 7366534"/>
                <a:gd name="connsiteY3" fmla="*/ 3429000 h 6858000"/>
                <a:gd name="connsiteX4" fmla="*/ 5116961 w 7366534"/>
                <a:gd name="connsiteY4" fmla="*/ 6822818 h 6858000"/>
                <a:gd name="connsiteX5" fmla="*/ 5027731 w 7366534"/>
                <a:gd name="connsiteY5" fmla="*/ 6858000 h 6858000"/>
                <a:gd name="connsiteX6" fmla="*/ 2338804 w 7366534"/>
                <a:gd name="connsiteY6" fmla="*/ 6858000 h 6858000"/>
                <a:gd name="connsiteX7" fmla="*/ 2249574 w 7366534"/>
                <a:gd name="connsiteY7" fmla="*/ 6822818 h 6858000"/>
                <a:gd name="connsiteX8" fmla="*/ 0 w 7366534"/>
                <a:gd name="connsiteY8" fmla="*/ 3429000 h 6858000"/>
                <a:gd name="connsiteX9" fmla="*/ 2249574 w 7366534"/>
                <a:gd name="connsiteY9" fmla="*/ 351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66534" h="6858000">
                  <a:moveTo>
                    <a:pt x="2338804" y="0"/>
                  </a:moveTo>
                  <a:lnTo>
                    <a:pt x="5027730" y="0"/>
                  </a:lnTo>
                  <a:lnTo>
                    <a:pt x="5116961" y="35183"/>
                  </a:lnTo>
                  <a:cubicBezTo>
                    <a:pt x="6438941" y="594333"/>
                    <a:pt x="7366534" y="1903341"/>
                    <a:pt x="7366534" y="3429000"/>
                  </a:cubicBezTo>
                  <a:cubicBezTo>
                    <a:pt x="7366534" y="4954659"/>
                    <a:pt x="6438941" y="6263667"/>
                    <a:pt x="5116961" y="6822818"/>
                  </a:cubicBezTo>
                  <a:lnTo>
                    <a:pt x="5027731" y="6858000"/>
                  </a:lnTo>
                  <a:lnTo>
                    <a:pt x="2338804" y="6858000"/>
                  </a:lnTo>
                  <a:lnTo>
                    <a:pt x="2249574" y="6822818"/>
                  </a:lnTo>
                  <a:cubicBezTo>
                    <a:pt x="927594" y="6263667"/>
                    <a:pt x="0" y="4954659"/>
                    <a:pt x="0" y="3429000"/>
                  </a:cubicBezTo>
                  <a:cubicBezTo>
                    <a:pt x="0" y="1903341"/>
                    <a:pt x="927594" y="594333"/>
                    <a:pt x="2249574" y="35183"/>
                  </a:cubicBezTo>
                  <a:close/>
                </a:path>
              </a:pathLst>
            </a:custGeom>
            <a:noFill/>
            <a:ln>
              <a:solidFill>
                <a:sysClr val="window" lastClr="FFFFFF">
                  <a:lumMod val="95000"/>
                </a:sysClr>
              </a:solidFill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 algn="just" fontAlgn="base">
                <a:lnSpc>
                  <a:spcPct val="120000"/>
                </a:lnSpc>
              </a:pPr>
              <a:endParaRPr lang="zh-CN" altLang="en-US" sz="1350" strike="noStrike" noProof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任意多边形: 形状 24"/>
            <p:cNvSpPr/>
            <p:nvPr>
              <p:custDataLst>
                <p:tags r:id="rId4"/>
              </p:custDataLst>
            </p:nvPr>
          </p:nvSpPr>
          <p:spPr>
            <a:xfrm>
              <a:off x="975533" y="0"/>
              <a:ext cx="10240934" cy="6858000"/>
            </a:xfrm>
            <a:custGeom>
              <a:avLst/>
              <a:gdLst>
                <a:gd name="connsiteX0" fmla="*/ 1318176 w 10240934"/>
                <a:gd name="connsiteY0" fmla="*/ 0 h 6858000"/>
                <a:gd name="connsiteX1" fmla="*/ 8922758 w 10240934"/>
                <a:gd name="connsiteY1" fmla="*/ 0 h 6858000"/>
                <a:gd name="connsiteX2" fmla="*/ 9071668 w 10240934"/>
                <a:gd name="connsiteY2" fmla="*/ 171908 h 6858000"/>
                <a:gd name="connsiteX3" fmla="*/ 10240934 w 10240934"/>
                <a:gd name="connsiteY3" fmla="*/ 3429000 h 6858000"/>
                <a:gd name="connsiteX4" fmla="*/ 9071668 w 10240934"/>
                <a:gd name="connsiteY4" fmla="*/ 6686093 h 6858000"/>
                <a:gd name="connsiteX5" fmla="*/ 8922758 w 10240934"/>
                <a:gd name="connsiteY5" fmla="*/ 6858000 h 6858000"/>
                <a:gd name="connsiteX6" fmla="*/ 1318176 w 10240934"/>
                <a:gd name="connsiteY6" fmla="*/ 6858000 h 6858000"/>
                <a:gd name="connsiteX7" fmla="*/ 1169266 w 10240934"/>
                <a:gd name="connsiteY7" fmla="*/ 6686093 h 6858000"/>
                <a:gd name="connsiteX8" fmla="*/ 0 w 10240934"/>
                <a:gd name="connsiteY8" fmla="*/ 3429000 h 6858000"/>
                <a:gd name="connsiteX9" fmla="*/ 1169266 w 10240934"/>
                <a:gd name="connsiteY9" fmla="*/ 17190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40934" h="6858000">
                  <a:moveTo>
                    <a:pt x="1318176" y="0"/>
                  </a:moveTo>
                  <a:lnTo>
                    <a:pt x="8922758" y="0"/>
                  </a:lnTo>
                  <a:lnTo>
                    <a:pt x="9071668" y="171908"/>
                  </a:lnTo>
                  <a:cubicBezTo>
                    <a:pt x="9802133" y="1057026"/>
                    <a:pt x="10240934" y="2191769"/>
                    <a:pt x="10240934" y="3429000"/>
                  </a:cubicBezTo>
                  <a:cubicBezTo>
                    <a:pt x="10240934" y="4666231"/>
                    <a:pt x="9802133" y="5800974"/>
                    <a:pt x="9071668" y="6686093"/>
                  </a:cubicBezTo>
                  <a:lnTo>
                    <a:pt x="8922758" y="6858000"/>
                  </a:lnTo>
                  <a:lnTo>
                    <a:pt x="1318176" y="6858000"/>
                  </a:lnTo>
                  <a:lnTo>
                    <a:pt x="1169266" y="6686093"/>
                  </a:lnTo>
                  <a:cubicBezTo>
                    <a:pt x="438801" y="5800974"/>
                    <a:pt x="0" y="4666231"/>
                    <a:pt x="0" y="3429000"/>
                  </a:cubicBezTo>
                  <a:cubicBezTo>
                    <a:pt x="0" y="2191769"/>
                    <a:pt x="438801" y="1057026"/>
                    <a:pt x="1169266" y="171908"/>
                  </a:cubicBezTo>
                  <a:close/>
                </a:path>
              </a:pathLst>
            </a:custGeom>
            <a:noFill/>
            <a:ln>
              <a:solidFill>
                <a:sysClr val="window" lastClr="FFFFFF">
                  <a:lumMod val="95000"/>
                </a:sysClr>
              </a:solidFill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 algn="just" fontAlgn="base">
                <a:lnSpc>
                  <a:spcPct val="120000"/>
                </a:lnSpc>
              </a:pPr>
              <a:endParaRPr lang="zh-CN" altLang="en-US" sz="1350" strike="noStrike" noProof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椭圆 4"/>
          <p:cNvSpPr/>
          <p:nvPr>
            <p:custDataLst>
              <p:tags r:id="rId2"/>
            </p:custDataLst>
          </p:nvPr>
        </p:nvSpPr>
        <p:spPr>
          <a:xfrm>
            <a:off x="2809875" y="1666875"/>
            <a:ext cx="3524250" cy="3524250"/>
          </a:xfrm>
          <a:prstGeom prst="ellipse">
            <a:avLst/>
          </a:prstGeom>
          <a:noFill/>
          <a:ln>
            <a:solidFill>
              <a:sysClr val="window" lastClr="FFFFFF">
                <a:lumMod val="95000"/>
              </a:sysClr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lstStyle/>
          <a:p>
            <a:pPr algn="ctr" fontAlgn="base">
              <a:lnSpc>
                <a:spcPct val="120000"/>
              </a:lnSpc>
            </a:pPr>
            <a:endParaRPr lang="zh-CN" altLang="en-US" sz="1350" strike="noStrike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9838" y="2997200"/>
            <a:ext cx="2476500" cy="8302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4800" spc="3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谢谢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RlOGQ2NjBkYzc5NzAzODdmYmFhODFjZDgxN2MxZTAifQ=="/>
  <p:tag name="KSO_WPP_MARK_KEY" val="c2a9c131-d783-4698-8b70-4756e70de0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&#10;添加大标题内容"/>
  <p:tag name="KSO_WM_UNIT_TEXT_PART_ID" val="5-X"/>
  <p:tag name="KSO_WM_UNIT_TEXT_PART_SIZE" val="92.4*403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194877_1*a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NOCLEAR" val="0"/>
  <p:tag name="KSO_WM_DIAGRAM_GROUP_CODE" val="ζ1-1"/>
  <p:tag name="KSO_WM_UNIT_TEXT_PART_ID_V2" val="a-2-1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52e8259-e5e6-4a3d-9165-5c32d2c7df07}"/>
  <p:tag name="TABLE_ENDDRAG_ORIGIN_RECT" val="435*127"/>
  <p:tag name="TABLE_ENDDRAG_RECT" val="16*80*435*12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6fbf961-82fe-41cc-99b5-b39ac6096dfd}"/>
  <p:tag name="TABLE_ENDDRAG_ORIGIN_RECT" val="435*120"/>
  <p:tag name="TABLE_ENDDRAG_RECT" val="16*224*435*1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af2d80e-c439-4502-aca9-3ed6282e06ab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52e8259-e5e6-4a3d-9165-5c32d2c7df07}"/>
  <p:tag name="TABLE_ENDDRAG_ORIGIN_RECT" val="435*127"/>
  <p:tag name="TABLE_ENDDRAG_RECT" val="16*80*435*12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6fbf961-82fe-41cc-99b5-b39ac6096dfd}"/>
  <p:tag name="TABLE_ENDDRAG_ORIGIN_RECT" val="435*120"/>
  <p:tag name="TABLE_ENDDRAG_RECT" val="16*224*435*12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af2d80e-c439-4502-aca9-3ed6282e06ab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2e9b38c-7e3e-4537-b88d-ad3d6e7d33d0}"/>
  <p:tag name="TABLE_ENDDRAG_ORIGIN_RECT" val="516*133"/>
  <p:tag name="TABLE_ENDDRAG_RECT" val="138*207*516*13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0b57435-d1c3-466c-8873-ff6722b9699d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41a89d2-4e80-4cfc-87da-e701bc0a8886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0b57435-d1c3-466c-8873-ff6722b9699d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41a89d2-4e80-4cfc-87da-e701bc0a8886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0b57435-d1c3-466c-8873-ff6722b9699d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41a89d2-4e80-4cfc-87da-e701bc0a888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0b57435-d1c3-466c-8873-ff6722b9699d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41a89d2-4e80-4cfc-87da-e701bc0a8886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41a89d2-4e80-4cfc-87da-e701bc0a8886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41a89d2-4e80-4cfc-87da-e701bc0a8886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41a89d2-4e80-4cfc-87da-e701bc0a8886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41a89d2-4e80-4cfc-87da-e701bc0a8886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01551_1"/>
  <p:tag name="KSO_WM_TEMPLATE_SUBCATEGORY" val="0"/>
  <p:tag name="KSO_WM_SLIDE_ITEM_CNT" val="0"/>
  <p:tag name="KSO_WM_SLIDE_INDEX" val="1"/>
  <p:tag name="KSO_WM_UNIT_SHOW_EDIT_AREA_INDICATION" val="1"/>
  <p:tag name="KSO_WM_TAG_VERSION" val="1.0"/>
  <p:tag name="KSO_WM_BEAUTIFY_FLAG" val="#wm#"/>
  <p:tag name="KSO_WM_TEMPLATE_CATEGORY" val="diagram"/>
  <p:tag name="KSO_WM_TEMPLATE_INDEX" val="20201551"/>
  <p:tag name="KSO_WM_SLIDE_LAYOUT" val="a_d_h"/>
  <p:tag name="KSO_WM_SLIDE_LAYOUT_CNT" val="1_1_1"/>
  <p:tag name="KSO_WM_SLIDE_TYPE" val="text"/>
  <p:tag name="KSO_WM_SLIDE_SUBTYPE" val="picTxt"/>
  <p:tag name="KSO_WM_SLIDE_SIZE" val="143.7*26.55"/>
  <p:tag name="KSO_WM_SLIDE_POSITION" val="260.4*271.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点击&#10;输入大标题"/>
  <p:tag name="KSO_WM_UNIT_NOCLEAR" val="0"/>
  <p:tag name="KSO_WM_UNIT_SHOW_EDIT_AREA_INDICATION" val="1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551_1*a*1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1551_1*i*5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1551_1*i*9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551_1*i*2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551_1*i*3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1551_1*i*4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01551_1"/>
  <p:tag name="KSO_WM_TEMPLATE_SUBCATEGORY" val="0"/>
  <p:tag name="KSO_WM_SLIDE_ITEM_CNT" val="0"/>
  <p:tag name="KSO_WM_SLIDE_INDEX" val="1"/>
  <p:tag name="KSO_WM_UNIT_SHOW_EDIT_AREA_INDICATION" val="1"/>
  <p:tag name="KSO_WM_TAG_VERSION" val="1.0"/>
  <p:tag name="KSO_WM_BEAUTIFY_FLAG" val="#wm#"/>
  <p:tag name="KSO_WM_TEMPLATE_CATEGORY" val="diagram"/>
  <p:tag name="KSO_WM_TEMPLATE_INDEX" val="20201551"/>
  <p:tag name="KSO_WM_SLIDE_LAYOUT" val="a_d_h"/>
  <p:tag name="KSO_WM_SLIDE_LAYOUT_CNT" val="1_1_1"/>
  <p:tag name="KSO_WM_SLIDE_TYPE" val="text"/>
  <p:tag name="KSO_WM_SLIDE_SUBTYPE" val="picTxt"/>
  <p:tag name="KSO_WM_SLIDE_SIZE" val="143.7*26.55"/>
  <p:tag name="KSO_WM_SLIDE_POSITION" val="260.4*271.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点击&#10;输入大标题"/>
  <p:tag name="KSO_WM_UNIT_NOCLEAR" val="0"/>
  <p:tag name="KSO_WM_UNIT_SHOW_EDIT_AREA_INDICATION" val="1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551_1*a*1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1551_1*i*5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1551_1*i*9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551_1*i*2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551_1*i*3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1551_1*i*4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01613_1"/>
  <p:tag name="KSO_WM_TEMPLATE_SUBCATEGORY" val="0"/>
  <p:tag name="KSO_WM_SLIDE_TYPE" val="text"/>
  <p:tag name="KSO_WM_SLIDE_SUBTYPE" val="diag"/>
  <p:tag name="KSO_WM_SLIDE_ITEM_CNT" val="0"/>
  <p:tag name="KSO_WM_SLIDE_INDEX" val="1"/>
  <p:tag name="KSO_WM_SLIDE_SIZE" val="854*546"/>
  <p:tag name="KSO_WM_SLIDE_POSITION" val="71*-3"/>
  <p:tag name="KSO_WM_TAG_VERSION" val="1.0"/>
  <p:tag name="KSO_WM_BEAUTIFY_FLAG" val="#wm#"/>
  <p:tag name="KSO_WM_TEMPLATE_CATEGORY" val="diagram"/>
  <p:tag name="KSO_WM_TEMPLATE_INDEX" val="20201613"/>
  <p:tag name="KSO_WM_SLIDE_LAYOUT" val="a_d_f"/>
  <p:tag name="KSO_WM_SLIDE_LAYOUT_CNT" val="1_1_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5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3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4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4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1868</Words>
  <Application>Microsoft Office PowerPoint</Application>
  <PresentationFormat>全屏显示(4:3)</PresentationFormat>
  <Paragraphs>761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黑体</vt:lpstr>
      <vt:lpstr>宋体</vt:lpstr>
      <vt:lpstr>微软雅黑</vt:lpstr>
      <vt:lpstr>Arial</vt:lpstr>
      <vt:lpstr>Times New Roman</vt:lpstr>
      <vt:lpstr>Wingdings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jjddn</dc:creator>
  <cp:lastModifiedBy>健健的电脑</cp:lastModifiedBy>
  <cp:revision>51</cp:revision>
  <dcterms:created xsi:type="dcterms:W3CDTF">2022-10-30T13:20:00Z</dcterms:created>
  <dcterms:modified xsi:type="dcterms:W3CDTF">2022-12-14T03:55:50Z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4DC3AED9A2454AD09C81CB048738E86D</vt:lpwstr>
  </property>
</Properties>
</file>