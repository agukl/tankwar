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</p:sldMasterIdLst>
  <p:sldIdLst>
    <p:sldId id="257" r:id="rId5"/>
    <p:sldId id="263" r:id="rId6"/>
    <p:sldId id="301" r:id="rId7"/>
    <p:sldId id="268" r:id="rId8"/>
    <p:sldId id="300" r:id="rId9"/>
    <p:sldId id="293" r:id="rId10"/>
    <p:sldId id="299" r:id="rId11"/>
    <p:sldId id="302" r:id="rId12"/>
    <p:sldId id="264" r:id="rId13"/>
    <p:sldId id="265" r:id="rId14"/>
  </p:sldIdLst>
  <p:sldSz cx="9144000" cy="6858000" type="screen4x3"/>
  <p:notesSz cx="6858000" cy="9144000"/>
  <p:custDataLst>
    <p:tags r:id="rId19"/>
  </p:custDataLst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ello" initials="n" lastIdx="2" clrIdx="0"/>
  <p:cmAuthor id="2" name="作者" initials="作" lastIdx="0" clrIdx="2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 varScale="1">
        <p:scale>
          <a:sx n="69" d="100"/>
          <a:sy n="69" d="100"/>
        </p:scale>
        <p:origin x="-138" y="-102"/>
      </p:cViewPr>
      <p:guideLst>
        <p:guide orient="horz" pos="2136"/>
        <p:guide pos="285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gs" Target="tags/tag73.xml"/><Relationship Id="rId18" Type="http://schemas.openxmlformats.org/officeDocument/2006/relationships/commentAuthors" Target="commentAuthors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1" y="1778438"/>
            <a:ext cx="3655181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1" y="2665379"/>
            <a:ext cx="3655181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778438"/>
            <a:ext cx="3673182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2665379"/>
            <a:ext cx="3673182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24012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457201"/>
            <a:ext cx="462915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24012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1" y="1778438"/>
            <a:ext cx="3655181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1" y="2665379"/>
            <a:ext cx="3655181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778438"/>
            <a:ext cx="3673182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2665379"/>
            <a:ext cx="3673182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24012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457201"/>
            <a:ext cx="462915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24012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1" y="1778438"/>
            <a:ext cx="3655181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1" y="2665379"/>
            <a:ext cx="3655181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778438"/>
            <a:ext cx="3673182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2665379"/>
            <a:ext cx="3673182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24012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457201"/>
            <a:ext cx="462915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24012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2" Type="http://schemas.openxmlformats.org/officeDocument/2006/relationships/theme" Target="../theme/theme3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 1025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1026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50" name="标题 1025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1026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 1025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1026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7.xml"/><Relationship Id="rId7" Type="http://schemas.openxmlformats.org/officeDocument/2006/relationships/image" Target="../media/image1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15.xml"/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23.xml"/><Relationship Id="rId8" Type="http://schemas.openxmlformats.org/officeDocument/2006/relationships/image" Target="../media/image2.png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31.xml"/><Relationship Id="rId8" Type="http://schemas.openxmlformats.org/officeDocument/2006/relationships/image" Target="../media/image3.png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0" Type="http://schemas.openxmlformats.org/officeDocument/2006/relationships/slideLayout" Target="../slideLayouts/slideLayout29.xml"/><Relationship Id="rId1" Type="http://schemas.openxmlformats.org/officeDocument/2006/relationships/tags" Target="../tags/tag24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image" Target="../media/image4.png"/><Relationship Id="rId7" Type="http://schemas.openxmlformats.org/officeDocument/2006/relationships/tags" Target="../tags/tag38.xml"/><Relationship Id="rId6" Type="http://schemas.openxmlformats.org/officeDocument/2006/relationships/tags" Target="../tags/tag37.xml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3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tags" Target="../tags/tag43.xml"/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53.xml"/><Relationship Id="rId7" Type="http://schemas.openxmlformats.org/officeDocument/2006/relationships/image" Target="../media/image5.png"/><Relationship Id="rId6" Type="http://schemas.openxmlformats.org/officeDocument/2006/relationships/tags" Target="../tags/tag52.xml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tags" Target="../tags/tag4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61.xml"/><Relationship Id="rId7" Type="http://schemas.openxmlformats.org/officeDocument/2006/relationships/tags" Target="../tags/tag60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7" Type="http://schemas.openxmlformats.org/officeDocument/2006/relationships/tags" Target="../tags/tag68.xml"/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8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587" y="857250"/>
            <a:ext cx="9145588" cy="3452813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 fontAlgn="base"/>
            <a:endParaRPr kumimoji="1" lang="zh-CN" altLang="en-US" sz="1200" b="1" strike="noStrike" noProof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4499610" y="857250"/>
            <a:ext cx="4628515" cy="3453130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 fontAlgn="base"/>
            <a:endParaRPr kumimoji="1" lang="zh-CN" altLang="en-US" sz="1200" b="1" strike="noStrike" noProof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4310063"/>
            <a:ext cx="9145588" cy="1690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 fontAlgn="base"/>
            <a:endParaRPr kumimoji="1" lang="zh-CN" altLang="en-US" sz="1200" b="1" strike="noStrike" noProof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396875" y="5287963"/>
            <a:ext cx="8140700" cy="712788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组长：</a:t>
            </a:r>
            <a:r>
              <a:rPr lang="en-US" altLang="zh-CN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郎竑健 </a:t>
            </a:r>
            <a:endParaRPr kumimoji="0" lang="en-US" altLang="zh-CN" sz="1200" b="0" i="0" u="none" strike="noStrike" kern="1200" cap="none" spc="150" normalizeH="0" baseline="0" noProof="1">
              <a:solidFill>
                <a:srgbClr val="404040"/>
              </a:solidFill>
              <a:uFillTx/>
              <a:latin typeface="Arial" panose="020B0604020202020204" pitchFamily="34" charset="0"/>
              <a:ea typeface="微软雅黑" panose="020B0503020204020204" charset="-122"/>
              <a:cs typeface="+mn-cs"/>
            </a:endParaRPr>
          </a:p>
          <a:p>
            <a: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组员：</a:t>
            </a:r>
            <a:r>
              <a:rPr lang="en-US" altLang="zh-CN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徐志浩 俞伟鸿 王天宇</a:t>
            </a:r>
            <a:endParaRPr lang="zh-CN" altLang="en-US" sz="1200" strike="noStrike" noProof="1" dirty="0">
              <a:solidFill>
                <a:srgbClr val="000000">
                  <a:lumMod val="50000"/>
                  <a:lumOff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5"/>
            </p:custDataLst>
          </p:nvPr>
        </p:nvSpPr>
        <p:spPr>
          <a:xfrm>
            <a:off x="3132138" y="1525588"/>
            <a:ext cx="4192588" cy="1060450"/>
          </a:xfrm>
          <a:prstGeom prst="rect">
            <a:avLst/>
          </a:prstGeom>
          <a:noFill/>
        </p:spPr>
        <p:txBody>
          <a:bodyPr wrap="square" lIns="76200" tIns="28575" rIns="47625" bIns="28575" rtlCol="0" anchor="b" anchorCtr="0">
            <a:noAutofit/>
          </a:bodyPr>
          <a:lstStyle/>
          <a:p>
            <a:pPr fontAlgn="auto"/>
            <a:r>
              <a:rPr lang="zh-CN" altLang="en-US" sz="4400" b="1" spc="300" noProof="1" dirty="0">
                <a:solidFill>
                  <a:srgbClr val="000000">
                    <a:lumMod val="75000"/>
                    <a:lumOff val="25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rPr>
              <a:t>详细设计</a:t>
            </a:r>
            <a:endParaRPr lang="zh-CN" altLang="en-US" sz="4400" b="1" spc="300" noProof="1" dirty="0">
              <a:solidFill>
                <a:srgbClr val="000000">
                  <a:lumMod val="75000"/>
                  <a:lumOff val="2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r" fontAlgn="auto"/>
            <a:endParaRPr lang="en-US" altLang="zh-CN" sz="2700" b="1" spc="300" noProof="1" dirty="0">
              <a:solidFill>
                <a:srgbClr val="000000">
                  <a:lumMod val="75000"/>
                  <a:lumOff val="2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6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/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 fontAlgn="base"/>
              <a:endParaRPr lang="zh-CN" altLang="en-US" sz="1350" strike="noStrike" noProof="1"/>
            </a:p>
          </p:txBody>
        </p:sp>
        <p:sp>
          <p:nvSpPr>
            <p:cNvPr id="20" name="任意多边形: 形状 19"/>
            <p:cNvSpPr>
              <a:spLocks noChangeAspect="1"/>
            </p:cNvSpPr>
            <p:nvPr/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 fontAlgn="base"/>
              <a:endParaRPr lang="zh-CN" altLang="en-US" sz="1350" strike="noStrike" noProof="1"/>
            </a:p>
          </p:txBody>
        </p:sp>
      </p:grpSp>
      <p:pic>
        <p:nvPicPr>
          <p:cNvPr id="3079" name="图片 -21474826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9475" y="2205038"/>
            <a:ext cx="2095500" cy="928687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8"/>
    </p:custData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60153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3"/>
            </p:custDataLst>
          </p:nvPr>
        </p:nvSpPr>
        <p:spPr>
          <a:xfrm>
            <a:off x="179705" y="189230"/>
            <a:ext cx="1392555" cy="62293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目录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2" name="文本框 1"/>
          <p:cNvSpPr txBox="1"/>
          <p:nvPr>
            <p:custDataLst>
              <p:tags r:id="rId7"/>
            </p:custDataLst>
          </p:nvPr>
        </p:nvSpPr>
        <p:spPr>
          <a:xfrm>
            <a:off x="587375" y="1052830"/>
            <a:ext cx="7056755" cy="467804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>
              <a:buFont typeface="Wingdings" panose="05000000000000000000" charset="0"/>
            </a:pP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界面设计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数据库设计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关键算法设计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endParaRPr lang="zh-CN"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07448" y="292481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3" name="文本框 2"/>
          <p:cNvSpPr txBox="1"/>
          <p:nvPr>
            <p:custDataLst>
              <p:tags r:id="rId6"/>
            </p:custDataLst>
          </p:nvPr>
        </p:nvSpPr>
        <p:spPr>
          <a:xfrm>
            <a:off x="179705" y="260985"/>
            <a:ext cx="2719705" cy="62484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界面设计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7"/>
            </p:custDataLst>
          </p:nvPr>
        </p:nvSpPr>
        <p:spPr>
          <a:xfrm>
            <a:off x="211455" y="836295"/>
            <a:ext cx="8821420" cy="438721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>
              <a:buFont typeface="+mj-lt"/>
            </a:pP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2" name="图片 1" descr="6a4f559a6aa6849ff593c94647f02b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375" y="1484630"/>
            <a:ext cx="7874000" cy="4408170"/>
          </a:xfrm>
          <a:prstGeom prst="rect">
            <a:avLst/>
          </a:prstGeom>
        </p:spPr>
      </p:pic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4978400" y="4220845"/>
            <a:ext cx="4165600" cy="2245360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359410" y="4310380"/>
            <a:ext cx="4297045" cy="2431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251460" y="188595"/>
            <a:ext cx="403479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>
              <a:buFont typeface="Wingdings" panose="05000000000000000000" charset="0"/>
            </a:pPr>
            <a:r>
              <a:rPr lang="en-US" altLang="zh-CN" sz="2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HIPO</a:t>
            </a:r>
            <a:r>
              <a:rPr lang="zh-CN" altLang="en-US" sz="2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图</a:t>
            </a:r>
            <a:endParaRPr lang="zh-CN" altLang="en-US" sz="2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pic>
        <p:nvPicPr>
          <p:cNvPr id="8" name="图片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995" y="1556385"/>
            <a:ext cx="8366760" cy="3783965"/>
          </a:xfrm>
          <a:prstGeom prst="rect">
            <a:avLst/>
          </a:prstGeom>
        </p:spPr>
      </p:pic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4932045" y="3932555"/>
            <a:ext cx="4165600" cy="2245360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359410" y="4310380"/>
            <a:ext cx="4297045" cy="2431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251460" y="188595"/>
            <a:ext cx="559054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>
              <a:buFont typeface="Wingdings" panose="05000000000000000000" charset="0"/>
            </a:pPr>
            <a:r>
              <a:rPr lang="zh-CN" altLang="en-US" sz="2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流程图</a:t>
            </a:r>
            <a:endParaRPr lang="zh-CN" altLang="en-US" sz="2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020" y="1124585"/>
            <a:ext cx="8493760" cy="5224145"/>
          </a:xfrm>
          <a:prstGeom prst="rect">
            <a:avLst/>
          </a:prstGeom>
        </p:spPr>
      </p:pic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635058" y="213233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3"/>
            </p:custDataLst>
          </p:nvPr>
        </p:nvSpPr>
        <p:spPr>
          <a:xfrm>
            <a:off x="107315" y="188595"/>
            <a:ext cx="7343775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数据库设计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100" name="文本框 99"/>
          <p:cNvSpPr txBox="1"/>
          <p:nvPr/>
        </p:nvSpPr>
        <p:spPr>
          <a:xfrm>
            <a:off x="551815" y="1532890"/>
            <a:ext cx="8259445" cy="3966210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p>
            <a:pPr marL="266700" indent="-266700"/>
            <a:r>
              <a:rPr lang="en-US" sz="2800">
                <a:latin typeface="Wingdings" panose="05000000000000000000" charset="0"/>
                <a:ea typeface="宋体" panose="02010600030101010101" pitchFamily="2" charset="-122"/>
              </a:rPr>
              <a:t>l </a:t>
            </a:r>
            <a:r>
              <a:rPr lang="zh-CN" sz="2800">
                <a:ea typeface="宋体" panose="02010600030101010101" pitchFamily="2" charset="-122"/>
              </a:rPr>
              <a:t>数据被访问的频度和流量与游戏的菜单界面相关，使访问数据库的延时不影响游戏进行时的动作。</a:t>
            </a:r>
            <a:endParaRPr lang="zh-CN" sz="2800">
              <a:ea typeface="宋体" panose="02010600030101010101" pitchFamily="2" charset="-122"/>
            </a:endParaRPr>
          </a:p>
          <a:p>
            <a:pPr marL="266700" indent="-266700"/>
            <a:r>
              <a:rPr lang="en-US" sz="2800">
                <a:latin typeface="Wingdings" panose="05000000000000000000" charset="0"/>
                <a:ea typeface="宋体" panose="02010600030101010101" pitchFamily="2" charset="-122"/>
              </a:rPr>
              <a:t>l </a:t>
            </a:r>
            <a:r>
              <a:rPr lang="zh-CN" sz="2800">
                <a:ea typeface="宋体" panose="02010600030101010101" pitchFamily="2" charset="-122"/>
              </a:rPr>
              <a:t>数据存储量用于信息参数的记录，使用单独书写的信息处理方法访问数据库调用。</a:t>
            </a:r>
            <a:endParaRPr lang="zh-CN" sz="2800">
              <a:ea typeface="宋体" panose="02010600030101010101" pitchFamily="2" charset="-122"/>
            </a:endParaRPr>
          </a:p>
          <a:p>
            <a:pPr marL="266700" indent="-266700"/>
            <a:r>
              <a:rPr lang="en-US" sz="2800">
                <a:latin typeface="Wingdings" panose="05000000000000000000" charset="0"/>
                <a:ea typeface="宋体" panose="02010600030101010101" pitchFamily="2" charset="-122"/>
              </a:rPr>
              <a:t>l </a:t>
            </a:r>
            <a:r>
              <a:rPr lang="zh-CN" sz="2800">
                <a:ea typeface="宋体" panose="02010600030101010101" pitchFamily="2" charset="-122"/>
              </a:rPr>
              <a:t>数据总量较少，暂时可以忽略数据增长量的影响。</a:t>
            </a:r>
            <a:endParaRPr lang="zh-CN" sz="2800">
              <a:ea typeface="宋体" panose="02010600030101010101" pitchFamily="2" charset="-122"/>
            </a:endParaRPr>
          </a:p>
          <a:p>
            <a:pPr marL="266700" indent="-266700"/>
            <a:r>
              <a:rPr lang="en-US" sz="2800">
                <a:latin typeface="Wingdings" panose="05000000000000000000" charset="0"/>
                <a:ea typeface="宋体" panose="02010600030101010101" pitchFamily="2" charset="-122"/>
              </a:rPr>
              <a:t>l </a:t>
            </a:r>
            <a:r>
              <a:rPr lang="zh-CN" sz="2800">
                <a:ea typeface="宋体" panose="02010600030101010101" pitchFamily="2" charset="-122"/>
              </a:rPr>
              <a:t>存储访问的并发处理交给MYSQL管理，开发只考虑数据的存储格式和调用的可靠性。</a:t>
            </a:r>
            <a:endParaRPr lang="zh-CN" altLang="en-US" sz="2800">
              <a:ea typeface="宋体" panose="02010600030101010101" pitchFamily="2" charset="-122"/>
            </a:endParaRPr>
          </a:p>
        </p:txBody>
      </p:sp>
    </p:spTree>
    <p:custDataLst>
      <p:tags r:id="rId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07448" y="3068956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3"/>
            </p:custDataLst>
          </p:nvPr>
        </p:nvSpPr>
        <p:spPr>
          <a:xfrm>
            <a:off x="179705" y="189230"/>
            <a:ext cx="6906260" cy="62293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en-US" altLang="zh-CN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ER</a:t>
            </a:r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图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pic>
        <p:nvPicPr>
          <p:cNvPr id="10" name="图片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03985" y="1052195"/>
            <a:ext cx="6423025" cy="4503420"/>
          </a:xfrm>
          <a:prstGeom prst="rect">
            <a:avLst/>
          </a:prstGeom>
          <a:noFill/>
          <a:ln>
            <a:noFill/>
          </a:ln>
        </p:spPr>
      </p:pic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252731" y="444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07448" y="292481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3" name="文本框 2"/>
          <p:cNvSpPr txBox="1"/>
          <p:nvPr>
            <p:custDataLst>
              <p:tags r:id="rId6"/>
            </p:custDataLst>
          </p:nvPr>
        </p:nvSpPr>
        <p:spPr>
          <a:xfrm>
            <a:off x="179705" y="404495"/>
            <a:ext cx="2719705" cy="62484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算法</a:t>
            </a:r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设计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7"/>
            </p:custDataLst>
          </p:nvPr>
        </p:nvSpPr>
        <p:spPr>
          <a:xfrm>
            <a:off x="683895" y="1196975"/>
            <a:ext cx="7701280" cy="533781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Tank Class（）{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属性变量1</a:t>
            </a:r>
            <a:r>
              <a:rPr lang="en-US" alt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	</a:t>
            </a: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属性变量2......属性变量n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构造方法（args[]）{}</a:t>
            </a:r>
            <a:r>
              <a:rPr lang="en-US" alt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	</a:t>
            </a:r>
            <a:endParaRPr lang="en-US" alt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移动方法（）{}</a:t>
            </a:r>
            <a:r>
              <a:rPr lang="en-US" alt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	</a:t>
            </a: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攻击方法（）{}</a:t>
            </a:r>
            <a:r>
              <a:rPr lang="en-US" alt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	</a:t>
            </a: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碰撞检查（）{}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攻击技能（）{}</a:t>
            </a:r>
            <a:r>
              <a:rPr lang="en-US" alt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	</a:t>
            </a: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位置检测（）{}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键盘事件监听及处理（）{}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}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主界面类调用各个类方法进行初始化开始游戏，并且存储游戏信息，访问数据库的游戏信息在这里完成，根据进行过程给一个进度条显示，同时监听键盘事件进行差错处理。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26977" name="组合 43"/>
          <p:cNvGrpSpPr/>
          <p:nvPr/>
        </p:nvGrpSpPr>
        <p:grpSpPr>
          <a:xfrm>
            <a:off x="492125" y="461963"/>
            <a:ext cx="923925" cy="711200"/>
            <a:chOff x="842086" y="1969574"/>
            <a:chExt cx="1233302" cy="949325"/>
          </a:xfrm>
        </p:grpSpPr>
        <p:sp>
          <p:nvSpPr>
            <p:cNvPr id="42" name="任意多边形: 形状 41"/>
            <p:cNvSpPr/>
            <p:nvPr>
              <p:custDataLst>
                <p:tags r:id="rId1"/>
              </p:custDataLst>
            </p:nvPr>
          </p:nvSpPr>
          <p:spPr>
            <a:xfrm>
              <a:off x="8420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43" name="任意多边形: 形状 42"/>
            <p:cNvSpPr/>
            <p:nvPr>
              <p:custDataLst>
                <p:tags r:id="rId2"/>
              </p:custDataLst>
            </p:nvPr>
          </p:nvSpPr>
          <p:spPr>
            <a:xfrm>
              <a:off x="15024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ea typeface="微软雅黑" panose="020B0503020204020204" charset="-122"/>
              </a:endParaRPr>
            </a:p>
          </p:txBody>
        </p:sp>
      </p:grpSp>
      <p:sp>
        <p:nvSpPr>
          <p:cNvPr id="126980" name="文本框 6"/>
          <p:cNvSpPr txBox="1"/>
          <p:nvPr>
            <p:custDataLst>
              <p:tags r:id="rId3"/>
            </p:custDataLst>
          </p:nvPr>
        </p:nvSpPr>
        <p:spPr>
          <a:xfrm>
            <a:off x="1416050" y="1419225"/>
            <a:ext cx="3960813" cy="588963"/>
          </a:xfrm>
          <a:prstGeom prst="rect">
            <a:avLst/>
          </a:prstGeom>
          <a:noFill/>
          <a:ln w="9525">
            <a:noFill/>
          </a:ln>
        </p:spPr>
        <p:txBody>
          <a:bodyPr wrap="square" anchor="ctr" anchorCtr="0">
            <a:spAutoFit/>
          </a:bodyPr>
          <a:p>
            <a:pPr>
              <a:lnSpc>
                <a:spcPct val="120000"/>
              </a:lnSpc>
            </a:pPr>
            <a:r>
              <a:rPr lang="zh-CN" altLang="en-US" sz="2700" b="1" dirty="0">
                <a:solidFill>
                  <a:srgbClr val="404040"/>
                </a:solidFill>
                <a:latin typeface="Arial" panose="020B0604020202020204" pitchFamily="34" charset="0"/>
                <a:ea typeface="微软雅黑" panose="020B0503020204020204" charset="-122"/>
              </a:rPr>
              <a:t>当前里程碑评价：</a:t>
            </a:r>
            <a:endParaRPr lang="zh-CN" altLang="en-US" sz="2700" b="1" dirty="0">
              <a:solidFill>
                <a:srgbClr val="40404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9" name="直接连接符 8"/>
          <p:cNvCxnSpPr/>
          <p:nvPr>
            <p:custDataLst>
              <p:tags r:id="rId4"/>
            </p:custDataLst>
          </p:nvPr>
        </p:nvCxnSpPr>
        <p:spPr>
          <a:xfrm>
            <a:off x="1135063" y="1308100"/>
            <a:ext cx="0" cy="811213"/>
          </a:xfrm>
          <a:prstGeom prst="line">
            <a:avLst/>
          </a:prstGeom>
          <a:ln>
            <a:solidFill>
              <a:sysClr val="windowText" lastClr="000000"/>
            </a:solidFill>
          </a:ln>
        </p:spPr>
        <p:style>
          <a:lnRef idx="1">
            <a:srgbClr val="4472C4"/>
          </a:lnRef>
          <a:fillRef idx="0">
            <a:srgbClr val="4472C4"/>
          </a:fillRef>
          <a:effectRef idx="0">
            <a:srgbClr val="4472C4"/>
          </a:effectRef>
          <a:fontRef idx="minor">
            <a:sysClr val="windowText" lastClr="000000"/>
          </a:fontRef>
        </p:style>
      </p:cxnSp>
      <p:grpSp>
        <p:nvGrpSpPr>
          <p:cNvPr id="126982" name="组合 44"/>
          <p:cNvGrpSpPr/>
          <p:nvPr/>
        </p:nvGrpSpPr>
        <p:grpSpPr>
          <a:xfrm rot="10800000">
            <a:off x="7562850" y="1173163"/>
            <a:ext cx="923925" cy="711200"/>
            <a:chOff x="842086" y="1969574"/>
            <a:chExt cx="1233302" cy="949325"/>
          </a:xfrm>
        </p:grpSpPr>
        <p:sp>
          <p:nvSpPr>
            <p:cNvPr id="46" name="任意多边形: 形状 45"/>
            <p:cNvSpPr/>
            <p:nvPr>
              <p:custDataLst>
                <p:tags r:id="rId5"/>
              </p:custDataLst>
            </p:nvPr>
          </p:nvSpPr>
          <p:spPr>
            <a:xfrm>
              <a:off x="8420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ea typeface="微软雅黑" panose="020B0503020204020204" charset="-122"/>
              </a:endParaRPr>
            </a:p>
          </p:txBody>
        </p:sp>
        <p:sp>
          <p:nvSpPr>
            <p:cNvPr id="47" name="任意多边形: 形状 46"/>
            <p:cNvSpPr/>
            <p:nvPr>
              <p:custDataLst>
                <p:tags r:id="rId6"/>
              </p:custDataLst>
            </p:nvPr>
          </p:nvSpPr>
          <p:spPr>
            <a:xfrm>
              <a:off x="15024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ea typeface="微软雅黑" panose="020B0503020204020204" charset="-122"/>
              </a:endParaRPr>
            </a:p>
          </p:txBody>
        </p:sp>
      </p:grpSp>
      <p:sp>
        <p:nvSpPr>
          <p:cNvPr id="126985" name="文本框 1"/>
          <p:cNvSpPr txBox="1"/>
          <p:nvPr/>
        </p:nvSpPr>
        <p:spPr>
          <a:xfrm>
            <a:off x="1416050" y="2251075"/>
            <a:ext cx="6602095" cy="119888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郎竑健：其余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(90)</a:t>
            </a:r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 </a:t>
            </a:r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  <a:p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  <a:sym typeface="微软雅黑" panose="020B0503020204020204" charset="-122"/>
              </a:rPr>
              <a:t>俞伟鸿：界面设计、伪码编制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(89)</a:t>
            </a:r>
            <a:endParaRPr lang="en-US" altLang="zh-CN">
              <a:latin typeface="Arial" panose="020B0604020202020204" pitchFamily="34" charset="0"/>
              <a:ea typeface="宋体" panose="02010600030101010101" pitchFamily="2" charset="-122"/>
            </a:endParaRPr>
          </a:p>
          <a:p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徐志浩：</a:t>
            </a:r>
            <a:r>
              <a:rPr lang="en-US" altLang="zh-CN">
                <a:sym typeface="+mn-ea"/>
              </a:rPr>
              <a:t>3</a:t>
            </a:r>
            <a:r>
              <a:rPr lang="en-US" altLang="zh-CN">
                <a:sym typeface="+mn-ea"/>
              </a:rPr>
              <a:t>0%</a:t>
            </a:r>
            <a:r>
              <a:rPr lang="en-US" altLang="zh-CN">
                <a:sym typeface="+mn-ea"/>
              </a:rPr>
              <a:t>Word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(88)</a:t>
            </a:r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  <a:p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  <p:custDataLst>
      <p:tags r:id="rId7"/>
    </p:custData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31073" name="组合 25"/>
          <p:cNvGrpSpPr/>
          <p:nvPr/>
        </p:nvGrpSpPr>
        <p:grpSpPr>
          <a:xfrm>
            <a:off x="684213" y="825500"/>
            <a:ext cx="7775575" cy="5207000"/>
            <a:chOff x="975533" y="0"/>
            <a:chExt cx="10240934" cy="6858000"/>
          </a:xfrm>
        </p:grpSpPr>
        <p:sp>
          <p:nvSpPr>
            <p:cNvPr id="23" name="任意多边形: 形状 22"/>
            <p:cNvSpPr/>
            <p:nvPr>
              <p:custDataLst>
                <p:tags r:id="rId1"/>
              </p:custDataLst>
            </p:nvPr>
          </p:nvSpPr>
          <p:spPr>
            <a:xfrm>
              <a:off x="2412733" y="0"/>
              <a:ext cx="7366534" cy="6858000"/>
            </a:xfrm>
            <a:custGeom>
              <a:avLst/>
              <a:gdLst>
                <a:gd name="connsiteX0" fmla="*/ 2338804 w 7366534"/>
                <a:gd name="connsiteY0" fmla="*/ 0 h 6858000"/>
                <a:gd name="connsiteX1" fmla="*/ 5027730 w 7366534"/>
                <a:gd name="connsiteY1" fmla="*/ 0 h 6858000"/>
                <a:gd name="connsiteX2" fmla="*/ 5116961 w 7366534"/>
                <a:gd name="connsiteY2" fmla="*/ 35183 h 6858000"/>
                <a:gd name="connsiteX3" fmla="*/ 7366534 w 7366534"/>
                <a:gd name="connsiteY3" fmla="*/ 3429000 h 6858000"/>
                <a:gd name="connsiteX4" fmla="*/ 5116961 w 7366534"/>
                <a:gd name="connsiteY4" fmla="*/ 6822818 h 6858000"/>
                <a:gd name="connsiteX5" fmla="*/ 5027731 w 7366534"/>
                <a:gd name="connsiteY5" fmla="*/ 6858000 h 6858000"/>
                <a:gd name="connsiteX6" fmla="*/ 2338804 w 7366534"/>
                <a:gd name="connsiteY6" fmla="*/ 6858000 h 6858000"/>
                <a:gd name="connsiteX7" fmla="*/ 2249574 w 7366534"/>
                <a:gd name="connsiteY7" fmla="*/ 6822818 h 6858000"/>
                <a:gd name="connsiteX8" fmla="*/ 0 w 7366534"/>
                <a:gd name="connsiteY8" fmla="*/ 3429000 h 6858000"/>
                <a:gd name="connsiteX9" fmla="*/ 2249574 w 7366534"/>
                <a:gd name="connsiteY9" fmla="*/ 3518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66534" h="6858000">
                  <a:moveTo>
                    <a:pt x="2338804" y="0"/>
                  </a:moveTo>
                  <a:lnTo>
                    <a:pt x="5027730" y="0"/>
                  </a:lnTo>
                  <a:lnTo>
                    <a:pt x="5116961" y="35183"/>
                  </a:lnTo>
                  <a:cubicBezTo>
                    <a:pt x="6438941" y="594333"/>
                    <a:pt x="7366534" y="1903341"/>
                    <a:pt x="7366534" y="3429000"/>
                  </a:cubicBezTo>
                  <a:cubicBezTo>
                    <a:pt x="7366534" y="4954659"/>
                    <a:pt x="6438941" y="6263667"/>
                    <a:pt x="5116961" y="6822818"/>
                  </a:cubicBezTo>
                  <a:lnTo>
                    <a:pt x="5027731" y="6858000"/>
                  </a:lnTo>
                  <a:lnTo>
                    <a:pt x="2338804" y="6858000"/>
                  </a:lnTo>
                  <a:lnTo>
                    <a:pt x="2249574" y="6822818"/>
                  </a:lnTo>
                  <a:cubicBezTo>
                    <a:pt x="927594" y="6263667"/>
                    <a:pt x="0" y="4954659"/>
                    <a:pt x="0" y="3429000"/>
                  </a:cubicBezTo>
                  <a:cubicBezTo>
                    <a:pt x="0" y="1903341"/>
                    <a:pt x="927594" y="594333"/>
                    <a:pt x="2249574" y="35183"/>
                  </a:cubicBezTo>
                  <a:close/>
                </a:path>
              </a:pathLst>
            </a:custGeom>
            <a:noFill/>
            <a:ln>
              <a:solidFill>
                <a:sysClr val="window" lastClr="FFFFFF">
                  <a:lumMod val="95000"/>
                </a:sysClr>
              </a:solidFill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p>
              <a:pPr algn="just" fontAlgn="base">
                <a:lnSpc>
                  <a:spcPct val="120000"/>
                </a:lnSpc>
              </a:pPr>
              <a:endParaRPr lang="zh-CN" altLang="en-US" sz="1350" strike="noStrike" noProof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5" name="任意多边形: 形状 24"/>
            <p:cNvSpPr/>
            <p:nvPr>
              <p:custDataLst>
                <p:tags r:id="rId2"/>
              </p:custDataLst>
            </p:nvPr>
          </p:nvSpPr>
          <p:spPr>
            <a:xfrm>
              <a:off x="975533" y="0"/>
              <a:ext cx="10240934" cy="6858000"/>
            </a:xfrm>
            <a:custGeom>
              <a:avLst/>
              <a:gdLst>
                <a:gd name="connsiteX0" fmla="*/ 1318176 w 10240934"/>
                <a:gd name="connsiteY0" fmla="*/ 0 h 6858000"/>
                <a:gd name="connsiteX1" fmla="*/ 8922758 w 10240934"/>
                <a:gd name="connsiteY1" fmla="*/ 0 h 6858000"/>
                <a:gd name="connsiteX2" fmla="*/ 9071668 w 10240934"/>
                <a:gd name="connsiteY2" fmla="*/ 171908 h 6858000"/>
                <a:gd name="connsiteX3" fmla="*/ 10240934 w 10240934"/>
                <a:gd name="connsiteY3" fmla="*/ 3429000 h 6858000"/>
                <a:gd name="connsiteX4" fmla="*/ 9071668 w 10240934"/>
                <a:gd name="connsiteY4" fmla="*/ 6686093 h 6858000"/>
                <a:gd name="connsiteX5" fmla="*/ 8922758 w 10240934"/>
                <a:gd name="connsiteY5" fmla="*/ 6858000 h 6858000"/>
                <a:gd name="connsiteX6" fmla="*/ 1318176 w 10240934"/>
                <a:gd name="connsiteY6" fmla="*/ 6858000 h 6858000"/>
                <a:gd name="connsiteX7" fmla="*/ 1169266 w 10240934"/>
                <a:gd name="connsiteY7" fmla="*/ 6686093 h 6858000"/>
                <a:gd name="connsiteX8" fmla="*/ 0 w 10240934"/>
                <a:gd name="connsiteY8" fmla="*/ 3429000 h 6858000"/>
                <a:gd name="connsiteX9" fmla="*/ 1169266 w 10240934"/>
                <a:gd name="connsiteY9" fmla="*/ 17190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40934" h="6858000">
                  <a:moveTo>
                    <a:pt x="1318176" y="0"/>
                  </a:moveTo>
                  <a:lnTo>
                    <a:pt x="8922758" y="0"/>
                  </a:lnTo>
                  <a:lnTo>
                    <a:pt x="9071668" y="171908"/>
                  </a:lnTo>
                  <a:cubicBezTo>
                    <a:pt x="9802133" y="1057026"/>
                    <a:pt x="10240934" y="2191769"/>
                    <a:pt x="10240934" y="3429000"/>
                  </a:cubicBezTo>
                  <a:cubicBezTo>
                    <a:pt x="10240934" y="4666231"/>
                    <a:pt x="9802133" y="5800974"/>
                    <a:pt x="9071668" y="6686093"/>
                  </a:cubicBezTo>
                  <a:lnTo>
                    <a:pt x="8922758" y="6858000"/>
                  </a:lnTo>
                  <a:lnTo>
                    <a:pt x="1318176" y="6858000"/>
                  </a:lnTo>
                  <a:lnTo>
                    <a:pt x="1169266" y="6686093"/>
                  </a:lnTo>
                  <a:cubicBezTo>
                    <a:pt x="438801" y="5800974"/>
                    <a:pt x="0" y="4666231"/>
                    <a:pt x="0" y="3429000"/>
                  </a:cubicBezTo>
                  <a:cubicBezTo>
                    <a:pt x="0" y="2191769"/>
                    <a:pt x="438801" y="1057026"/>
                    <a:pt x="1169266" y="171908"/>
                  </a:cubicBezTo>
                  <a:close/>
                </a:path>
              </a:pathLst>
            </a:custGeom>
            <a:noFill/>
            <a:ln>
              <a:solidFill>
                <a:sysClr val="window" lastClr="FFFFFF">
                  <a:lumMod val="95000"/>
                </a:sysClr>
              </a:solidFill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p>
              <a:pPr algn="just" fontAlgn="base">
                <a:lnSpc>
                  <a:spcPct val="120000"/>
                </a:lnSpc>
              </a:pPr>
              <a:endParaRPr lang="zh-CN" altLang="en-US" sz="1350" strike="noStrike" noProof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5" name="椭圆 4"/>
          <p:cNvSpPr/>
          <p:nvPr>
            <p:custDataLst>
              <p:tags r:id="rId3"/>
            </p:custDataLst>
          </p:nvPr>
        </p:nvSpPr>
        <p:spPr>
          <a:xfrm>
            <a:off x="2809875" y="1666875"/>
            <a:ext cx="3524250" cy="3524250"/>
          </a:xfrm>
          <a:prstGeom prst="ellipse">
            <a:avLst/>
          </a:prstGeom>
          <a:noFill/>
          <a:ln>
            <a:solidFill>
              <a:sysClr val="window" lastClr="FFFFFF">
                <a:lumMod val="95000"/>
              </a:sysClr>
            </a:solidFill>
          </a:ln>
        </p:spPr>
        <p:style>
          <a:lnRef idx="2">
            <a:srgbClr val="4472C4">
              <a:shade val="50000"/>
            </a:srgbClr>
          </a:lnRef>
          <a:fillRef idx="1">
            <a:srgbClr val="4472C4"/>
          </a:fillRef>
          <a:effectRef idx="0">
            <a:srgbClr val="4472C4"/>
          </a:effectRef>
          <a:fontRef idx="minor">
            <a:sysClr val="window" lastClr="FFFFFF"/>
          </a:fontRef>
        </p:style>
        <p:txBody>
          <a:bodyPr rtlCol="0" anchor="ctr">
            <a:normAutofit/>
          </a:bodyPr>
          <a:p>
            <a:pPr algn="ctr" fontAlgn="base">
              <a:lnSpc>
                <a:spcPct val="120000"/>
              </a:lnSpc>
            </a:pPr>
            <a:endParaRPr lang="zh-CN" altLang="en-US" sz="1350" strike="noStrike" noProof="1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779838" y="2997200"/>
            <a:ext cx="2476500" cy="83026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Aft>
                <a:spcPts val="800"/>
              </a:spcAft>
            </a:pPr>
            <a:r>
              <a:rPr lang="zh-CN" altLang="en-US" sz="4800" spc="30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  <a:sym typeface="Arial" panose="020B0604020202020204" pitchFamily="34" charset="0"/>
              </a:rPr>
              <a:t>谢谢</a:t>
            </a:r>
            <a:endParaRPr lang="zh-CN" altLang="en-US" sz="4800" spc="300" noProof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  <a:sym typeface="Arial" panose="020B0604020202020204" pitchFamily="34" charset="0"/>
            </a:endParaRPr>
          </a:p>
        </p:txBody>
      </p:sp>
    </p:spTree>
    <p:custDataLst>
      <p:tags r:id="rId4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5.xml><?xml version="1.0" encoding="utf-8"?>
<p:tagLst xmlns:p="http://schemas.openxmlformats.org/presentationml/2006/main">
  <p:tag name="KSO_WM_UNIT_ISCONTENTSTITLE" val="0"/>
  <p:tag name="KSO_WM_UNIT_PRESET_TEXT" val="单击此处&#13;添加大标题内容"/>
  <p:tag name="KSO_WM_UNIT_TEXT_PART_ID" val="5-X"/>
  <p:tag name="KSO_WM_UNIT_TEXT_PART_SIZE" val="92.4*403"/>
  <p:tag name="KSO_WM_UNIT_VALUE" val="2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194877_1*a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NOCLEAR" val="0"/>
  <p:tag name="KSO_WM_DIAGRAM_GROUP_CODE" val="ζ1-1"/>
  <p:tag name="KSO_WM_UNIT_TEXT_PART_ID_V2" val="a-2-1"/>
  <p:tag name="KSO_WM_UNIT_TEXT_FILL_FORE_SCHEMECOLOR_INDEX" val="13"/>
  <p:tag name="KSO_WM_UNIT_TEXT_FILL_TYPE" val="1"/>
  <p:tag name="KSO_WM_UNIT_USESOURCEFORMAT_APPLY" val="1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7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0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4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15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1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22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23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7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1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5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9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2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46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9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3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9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60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61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diagram20201551_1*i*3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diagram20201551_1*i*4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PRESET_TEXT" val="点击&#13;输入大标题"/>
  <p:tag name="KSO_WM_UNIT_NOCLEAR" val="0"/>
  <p:tag name="KSO_WM_UNIT_SHOW_EDIT_AREA_INDICATION" val="1"/>
  <p:tag name="KSO_WM_UNIT_VALUE" val="2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01551_1*a*1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diagram20201551_1*i*5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diagram20201551_1*i*9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diagram20201551_1*i*2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SLIDE_ID" val="diagram20201551_1"/>
  <p:tag name="KSO_WM_TEMPLATE_SUBCATEGORY" val="0"/>
  <p:tag name="KSO_WM_SLIDE_ITEM_CNT" val="0"/>
  <p:tag name="KSO_WM_SLIDE_INDEX" val="1"/>
  <p:tag name="KSO_WM_UNIT_SHOW_EDIT_AREA_INDICATION" val="1"/>
  <p:tag name="KSO_WM_TAG_VERSION" val="1.0"/>
  <p:tag name="KSO_WM_BEAUTIFY_FLAG" val="#wm#"/>
  <p:tag name="KSO_WM_TEMPLATE_CATEGORY" val="diagram"/>
  <p:tag name="KSO_WM_TEMPLATE_INDEX" val="20201551"/>
  <p:tag name="KSO_WM_SLIDE_LAYOUT" val="a_d_h"/>
  <p:tag name="KSO_WM_SLIDE_LAYOUT_CNT" val="1_1_1"/>
  <p:tag name="KSO_WM_SLIDE_TYPE" val="text"/>
  <p:tag name="KSO_WM_SLIDE_SUBTYPE" val="picTxt"/>
  <p:tag name="KSO_WM_SLIDE_SIZE" val="143.7*26.55"/>
  <p:tag name="KSO_WM_SLIDE_POSITION" val="260.4*271.2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01613_1*i*3"/>
  <p:tag name="KSO_WM_TEMPLATE_CATEGORY" val="diagram"/>
  <p:tag name="KSO_WM_TEMPLATE_INDEX" val="20201613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01613_1*i*4"/>
  <p:tag name="KSO_WM_TEMPLATE_CATEGORY" val="diagram"/>
  <p:tag name="KSO_WM_TEMPLATE_INDEX" val="20201613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01613_1*i*5"/>
  <p:tag name="KSO_WM_TEMPLATE_CATEGORY" val="diagram"/>
  <p:tag name="KSO_WM_TEMPLATE_INDEX" val="20201613"/>
  <p:tag name="KSO_WM_UNIT_LAYERLEVEL" val="1"/>
  <p:tag name="KSO_WM_TAG_VERSION" val="1.0"/>
  <p:tag name="KSO_WM_BEAUTIFY_FLAG" val="#wm#"/>
  <p:tag name="KSO_WM_UNIT_TYPE" val="i"/>
  <p:tag name="KSO_WM_UNIT_INDEX" val="5"/>
</p:tagLst>
</file>

<file path=ppt/tags/tag72.xml><?xml version="1.0" encoding="utf-8"?>
<p:tagLst xmlns:p="http://schemas.openxmlformats.org/presentationml/2006/main">
  <p:tag name="KSO_WM_SLIDE_ID" val="diagram20201613_1"/>
  <p:tag name="KSO_WM_TEMPLATE_SUBCATEGORY" val="0"/>
  <p:tag name="KSO_WM_SLIDE_TYPE" val="text"/>
  <p:tag name="KSO_WM_SLIDE_SUBTYPE" val="diag"/>
  <p:tag name="KSO_WM_SLIDE_ITEM_CNT" val="0"/>
  <p:tag name="KSO_WM_SLIDE_INDEX" val="1"/>
  <p:tag name="KSO_WM_SLIDE_SIZE" val="854*546"/>
  <p:tag name="KSO_WM_SLIDE_POSITION" val="71*-3"/>
  <p:tag name="KSO_WM_TAG_VERSION" val="1.0"/>
  <p:tag name="KSO_WM_BEAUTIFY_FLAG" val="#wm#"/>
  <p:tag name="KSO_WM_TEMPLATE_CATEGORY" val="diagram"/>
  <p:tag name="KSO_WM_TEMPLATE_INDEX" val="20201613"/>
  <p:tag name="KSO_WM_SLIDE_LAYOUT" val="a_d_f"/>
  <p:tag name="KSO_WM_SLIDE_LAYOUT_CNT" val="1_1_2"/>
</p:tagLst>
</file>

<file path=ppt/tags/tag73.xml><?xml version="1.0" encoding="utf-8"?>
<p:tagLst xmlns:p="http://schemas.openxmlformats.org/presentationml/2006/main">
  <p:tag name="COMMONDATA" val="eyJoZGlkIjoiM2I0YzY4NjUwZGU1YzMwM2VhZjcxMmNjYTBmYTc2YmEifQ=="/>
  <p:tag name="KSO_WPP_MARK_KEY" val="c2a9c131-d783-4698-8b70-4756e70de055"/>
</p:tagLst>
</file>

<file path=ppt/theme/theme1.xml><?xml version="1.0" encoding="utf-8"?>
<a:theme xmlns:a="http://schemas.openxmlformats.org/drawingml/2006/main" name="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451</Words>
  <Application>WPS 演示</Application>
  <PresentationFormat/>
  <Paragraphs>52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黑体</vt:lpstr>
      <vt:lpstr>Wingdings</vt:lpstr>
      <vt:lpstr>Arial Unicode MS</vt:lpstr>
      <vt:lpstr>Calibri</vt:lpstr>
      <vt:lpstr>默认设计模板</vt:lpstr>
      <vt:lpstr>1_默认设计模板</vt:lpstr>
      <vt:lpstr>2_默认设计模板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jjddn</dc:creator>
  <cp:lastModifiedBy>XI AOGUI</cp:lastModifiedBy>
  <cp:revision>35</cp:revision>
  <dcterms:created xsi:type="dcterms:W3CDTF">2022-10-30T13:20:00Z</dcterms:created>
  <dcterms:modified xsi:type="dcterms:W3CDTF">2022-11-23T01:23:59Z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2052-11.1.0.12763</vt:lpwstr>
  </property>
  <property fmtid="{D5CDD505-2E9C-101B-9397-08002B2CF9AE}" pid="3" name="ICV">
    <vt:lpwstr>4DC3AED9A2454AD09C81CB048738E86D</vt:lpwstr>
  </property>
</Properties>
</file>