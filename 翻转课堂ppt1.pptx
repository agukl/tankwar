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sldIdLst>
    <p:sldId id="257" r:id="rId5"/>
    <p:sldId id="263" r:id="rId6"/>
    <p:sldId id="282" r:id="rId7"/>
    <p:sldId id="292" r:id="rId8"/>
    <p:sldId id="299" r:id="rId9"/>
    <p:sldId id="266" r:id="rId10"/>
    <p:sldId id="268" r:id="rId11"/>
    <p:sldId id="308" r:id="rId12"/>
    <p:sldId id="305" r:id="rId13"/>
    <p:sldId id="310" r:id="rId14"/>
    <p:sldId id="311" r:id="rId15"/>
    <p:sldId id="275" r:id="rId16"/>
    <p:sldId id="313" r:id="rId17"/>
    <p:sldId id="314" r:id="rId18"/>
    <p:sldId id="315" r:id="rId19"/>
    <p:sldId id="316" r:id="rId20"/>
    <p:sldId id="319" r:id="rId21"/>
    <p:sldId id="320" r:id="rId22"/>
    <p:sldId id="322" r:id="rId23"/>
    <p:sldId id="323" r:id="rId24"/>
    <p:sldId id="324" r:id="rId25"/>
    <p:sldId id="325" r:id="rId26"/>
    <p:sldId id="326" r:id="rId27"/>
    <p:sldId id="327" r:id="rId28"/>
    <p:sldId id="328" r:id="rId29"/>
    <p:sldId id="265" r:id="rId30"/>
  </p:sldIdLst>
  <p:sldSz cx="9144000" cy="6858000" type="screen4x3"/>
  <p:notesSz cx="6858000" cy="9144000"/>
  <p:custDataLst>
    <p:tags r:id="rId35"/>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2" clrIdx="0"/>
  <p:cmAuthor id="2" name="作者" initials="作"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10"/>
        <p:guide pos="2879"/>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5" Type="http://schemas.openxmlformats.org/officeDocument/2006/relationships/tags" Target="tags/tag226.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 1025"/>
          <p:cNvSpPr>
            <a:spLocks noGrp="1"/>
          </p:cNvSpPr>
          <p:nvPr>
            <p:ph type="title"/>
          </p:nvPr>
        </p:nvSpPr>
        <p:spPr>
          <a:xfrm>
            <a:off x="457200" y="274638"/>
            <a:ext cx="8229600" cy="1143000"/>
          </a:xfrm>
          <a:prstGeom prst="rect">
            <a:avLst/>
          </a:prstGeom>
          <a:noFill/>
          <a:ln w="9525">
            <a:noFill/>
          </a:ln>
        </p:spPr>
        <p:txBody>
          <a:bodyPr anchor="ctr"/>
          <a:p>
            <a:pPr lvl="0"/>
            <a:r>
              <a:rPr lang="zh-CN" altLang="en-US"/>
              <a:t>单击此处编辑母版标题样式</a:t>
            </a:r>
            <a:endParaRPr lang="zh-CN" altLang="en-US"/>
          </a:p>
        </p:txBody>
      </p:sp>
      <p:sp>
        <p:nvSpPr>
          <p:cNvPr id="2051" name="文本占位符 1026"/>
          <p:cNvSpPr>
            <a:spLocks noGrp="1"/>
          </p:cNvSpPr>
          <p:nvPr>
            <p:ph type="body"/>
          </p:nvPr>
        </p:nvSpPr>
        <p:spPr>
          <a:xfrm>
            <a:off x="457200" y="1600200"/>
            <a:ext cx="8229600" cy="4525963"/>
          </a:xfrm>
          <a:prstGeom prst="rect">
            <a:avLst/>
          </a:prstGeom>
          <a:noFill/>
          <a:ln w="9525">
            <a:noFill/>
          </a:ln>
        </p:spPr>
        <p:txBody>
          <a:bodyPr anchor="t"/>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p>
            <a:pPr lvl="0"/>
            <a:r>
              <a:rPr lang="zh-CN" altLang="en-US"/>
              <a:t>单击此处编辑母版标题样式</a:t>
            </a:r>
            <a:endParaRPr lang="zh-CN" altLang="en-US"/>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7.xml"/><Relationship Id="rId7" Type="http://schemas.openxmlformats.org/officeDocument/2006/relationships/image" Target="../media/image1.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9.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s>
</file>

<file path=ppt/slides/_rels/slide7.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0" Type="http://schemas.openxmlformats.org/officeDocument/2006/relationships/slideLayout" Target="../slideLayouts/slideLayout29.xml"/><Relationship Id="rId1" Type="http://schemas.openxmlformats.org/officeDocument/2006/relationships/tags" Target="../tags/tag47.xml"/></Relationships>
</file>

<file path=ppt/slides/_rels/slide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1" Type="http://schemas.openxmlformats.org/officeDocument/2006/relationships/slideLayout" Target="../slideLayouts/slideLayout7.xml"/><Relationship Id="rId10" Type="http://schemas.openxmlformats.org/officeDocument/2006/relationships/tags" Target="../tags/tag65.xml"/><Relationship Id="rId1" Type="http://schemas.openxmlformats.org/officeDocument/2006/relationships/tags" Target="../tags/tag56.xml"/></Relationships>
</file>

<file path=ppt/slides/_rels/slide9.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0" Type="http://schemas.openxmlformats.org/officeDocument/2006/relationships/slideLayout" Target="../slideLayouts/slideLayout7.xml"/><Relationship Id="rId1" Type="http://schemas.openxmlformats.org/officeDocument/2006/relationships/tags" Target="../tags/tag66.xml"/></Relationships>
</file>

<file path=ppt/slides/_rels/slide10.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0" Type="http://schemas.openxmlformats.org/officeDocument/2006/relationships/slideLayout" Target="../slideLayouts/slideLayout7.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0" Type="http://schemas.openxmlformats.org/officeDocument/2006/relationships/slideLayout" Target="../slideLayouts/slideLayout7.xml"/><Relationship Id="rId1" Type="http://schemas.openxmlformats.org/officeDocument/2006/relationships/tags" Target="../tags/tag84.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3.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0" Type="http://schemas.openxmlformats.org/officeDocument/2006/relationships/slideLayout" Target="../slideLayouts/slideLayout7.xml"/><Relationship Id="rId1" Type="http://schemas.openxmlformats.org/officeDocument/2006/relationships/tags" Target="../tags/tag101.xml"/></Relationships>
</file>

<file path=ppt/slides/_rels/slide14.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slideLayout" Target="../slideLayouts/slideLayout7.xml"/><Relationship Id="rId10" Type="http://schemas.openxmlformats.org/officeDocument/2006/relationships/tags" Target="../tags/tag119.xml"/><Relationship Id="rId1" Type="http://schemas.openxmlformats.org/officeDocument/2006/relationships/tags" Target="../tags/tag110.xml"/></Relationships>
</file>

<file path=ppt/slides/_rels/slide1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slideLayout" Target="../slideLayouts/slideLayout7.xml"/><Relationship Id="rId10" Type="http://schemas.openxmlformats.org/officeDocument/2006/relationships/tags" Target="../tags/tag128.xml"/><Relationship Id="rId1" Type="http://schemas.openxmlformats.org/officeDocument/2006/relationships/tags" Target="../tags/tag120.xml"/></Relationships>
</file>

<file path=ppt/slides/_rels/slide16.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1" Type="http://schemas.openxmlformats.org/officeDocument/2006/relationships/slideLayout" Target="../slideLayouts/slideLayout7.xml"/><Relationship Id="rId10" Type="http://schemas.openxmlformats.org/officeDocument/2006/relationships/tags" Target="../tags/tag138.xml"/><Relationship Id="rId1" Type="http://schemas.openxmlformats.org/officeDocument/2006/relationships/tags" Target="../tags/tag129.xml"/></Relationships>
</file>

<file path=ppt/slides/_rels/slide17.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0" Type="http://schemas.openxmlformats.org/officeDocument/2006/relationships/slideLayout" Target="../slideLayouts/slideLayout7.xml"/><Relationship Id="rId1" Type="http://schemas.openxmlformats.org/officeDocument/2006/relationships/tags" Target="../tags/tag139.xml"/></Relationships>
</file>

<file path=ppt/slides/_rels/slide18.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0" Type="http://schemas.openxmlformats.org/officeDocument/2006/relationships/slideLayout" Target="../slideLayouts/slideLayout7.xml"/><Relationship Id="rId1" Type="http://schemas.openxmlformats.org/officeDocument/2006/relationships/tags" Target="../tags/tag148.xml"/></Relationships>
</file>

<file path=ppt/slides/_rels/slide19.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2" Type="http://schemas.openxmlformats.org/officeDocument/2006/relationships/slideLayout" Target="../slideLayouts/slideLayout7.xml"/><Relationship Id="rId11" Type="http://schemas.openxmlformats.org/officeDocument/2006/relationships/tags" Target="../tags/tag166.xml"/><Relationship Id="rId10" Type="http://schemas.openxmlformats.org/officeDocument/2006/relationships/image" Target="../media/image2.png"/><Relationship Id="rId1" Type="http://schemas.openxmlformats.org/officeDocument/2006/relationships/tags" Target="../tags/tag157.xml"/></Relationships>
</file>

<file path=ppt/slides/_rels/slide20.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2" Type="http://schemas.openxmlformats.org/officeDocument/2006/relationships/slideLayout" Target="../slideLayouts/slideLayout7.xml"/><Relationship Id="rId11" Type="http://schemas.openxmlformats.org/officeDocument/2006/relationships/tags" Target="../tags/tag176.xml"/><Relationship Id="rId10" Type="http://schemas.openxmlformats.org/officeDocument/2006/relationships/image" Target="../media/image2.png"/><Relationship Id="rId1" Type="http://schemas.openxmlformats.org/officeDocument/2006/relationships/tags" Target="../tags/tag167.xml"/></Relationships>
</file>

<file path=ppt/slides/_rels/slide21.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0" Type="http://schemas.openxmlformats.org/officeDocument/2006/relationships/slideLayout" Target="../slideLayouts/slideLayout7.xml"/><Relationship Id="rId1" Type="http://schemas.openxmlformats.org/officeDocument/2006/relationships/tags" Target="../tags/tag177.xml"/></Relationships>
</file>

<file path=ppt/slides/_rels/slide22.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 Type="http://schemas.openxmlformats.org/officeDocument/2006/relationships/tags" Target="../tags/tag191.xml"/><Relationship Id="rId5" Type="http://schemas.openxmlformats.org/officeDocument/2006/relationships/tags" Target="../tags/tag190.xml"/><Relationship Id="rId4" Type="http://schemas.openxmlformats.org/officeDocument/2006/relationships/tags" Target="../tags/tag189.xml"/><Relationship Id="rId3" Type="http://schemas.openxmlformats.org/officeDocument/2006/relationships/tags" Target="../tags/tag188.xml"/><Relationship Id="rId2" Type="http://schemas.openxmlformats.org/officeDocument/2006/relationships/tags" Target="../tags/tag187.xml"/><Relationship Id="rId10" Type="http://schemas.openxmlformats.org/officeDocument/2006/relationships/slideLayout" Target="../slideLayouts/slideLayout7.xml"/><Relationship Id="rId1" Type="http://schemas.openxmlformats.org/officeDocument/2006/relationships/tags" Target="../tags/tag186.xml"/></Relationships>
</file>

<file path=ppt/slides/_rels/slide23.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0" Type="http://schemas.openxmlformats.org/officeDocument/2006/relationships/slideLayout" Target="../slideLayouts/slideLayout7.xml"/><Relationship Id="rId1" Type="http://schemas.openxmlformats.org/officeDocument/2006/relationships/tags" Target="../tags/tag195.xml"/></Relationships>
</file>

<file path=ppt/slides/_rels/slide24.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0" Type="http://schemas.openxmlformats.org/officeDocument/2006/relationships/slideLayout" Target="../slideLayouts/slideLayout7.xml"/><Relationship Id="rId1" Type="http://schemas.openxmlformats.org/officeDocument/2006/relationships/tags" Target="../tags/tag204.xml"/></Relationships>
</file>

<file path=ppt/slides/_rels/slide25.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0" Type="http://schemas.openxmlformats.org/officeDocument/2006/relationships/slideLayout" Target="../slideLayouts/slideLayout7.xml"/><Relationship Id="rId1" Type="http://schemas.openxmlformats.org/officeDocument/2006/relationships/tags" Target="../tags/tag213.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587" y="857250"/>
            <a:ext cx="9145588" cy="3452813"/>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7" name="任意多边形: 形状 16"/>
          <p:cNvSpPr/>
          <p:nvPr>
            <p:custDataLst>
              <p:tags r:id="rId2"/>
            </p:custDataLst>
          </p:nvPr>
        </p:nvSpPr>
        <p:spPr>
          <a:xfrm>
            <a:off x="4499610" y="857250"/>
            <a:ext cx="4628515" cy="3453130"/>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4" name="矩形 3"/>
          <p:cNvSpPr/>
          <p:nvPr>
            <p:custDataLst>
              <p:tags r:id="rId3"/>
            </p:custDataLst>
          </p:nvPr>
        </p:nvSpPr>
        <p:spPr>
          <a:xfrm>
            <a:off x="0" y="4310063"/>
            <a:ext cx="9145588" cy="1690688"/>
          </a:xfrm>
          <a:prstGeom prst="rect">
            <a:avLst/>
          </a:prstGeom>
          <a:solidFill>
            <a:srgbClr val="FFFFFF"/>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fontAlgn="base"/>
            <a:endParaRPr kumimoji="1" lang="zh-CN" altLang="en-US" sz="1200" b="1" strike="noStrike" noProof="1">
              <a:solidFill>
                <a:srgbClr val="FFFFFF"/>
              </a:solidFill>
              <a:latin typeface="微软雅黑" panose="020B0503020204020204" charset="-122"/>
            </a:endParaRPr>
          </a:p>
        </p:txBody>
      </p:sp>
      <p:sp>
        <p:nvSpPr>
          <p:cNvPr id="14" name="文本框 13"/>
          <p:cNvSpPr txBox="1"/>
          <p:nvPr>
            <p:custDataLst>
              <p:tags r:id="rId4"/>
            </p:custDataLst>
          </p:nvPr>
        </p:nvSpPr>
        <p:spPr>
          <a:xfrm>
            <a:off x="396875" y="5287963"/>
            <a:ext cx="8140700" cy="712788"/>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marR="0" indent="0" algn="l" defTabSz="685800" rtl="0" eaLnBrk="1" fontAlgn="auto" latinLnBrk="0" hangingPunct="1">
              <a:lnSpc>
                <a:spcPct val="100000"/>
              </a:lnSpc>
              <a:spcBef>
                <a:spcPts val="0"/>
              </a:spcBef>
              <a:spcAft>
                <a:spcPts val="1000"/>
              </a:spcAft>
              <a:buClrTx/>
              <a:buSzTx/>
              <a:buFont typeface="Arial" panose="020B0604020202020204" pitchFamily="34" charset="0"/>
              <a:buNone/>
            </a:pPr>
            <a:r>
              <a:rPr lang="zh-CN" altLang="en-US" sz="1200" strike="noStrike" noProof="1">
                <a:solidFill>
                  <a:srgbClr val="404040"/>
                </a:solidFill>
                <a:uFillTx/>
                <a:latin typeface="Arial" panose="020B0604020202020204" pitchFamily="34" charset="0"/>
                <a:ea typeface="微软雅黑" panose="020B0503020204020204" charset="-122"/>
                <a:cs typeface="+mn-cs"/>
                <a:sym typeface="+mn-ea"/>
              </a:rPr>
              <a:t>组长：</a:t>
            </a:r>
            <a:r>
              <a:rPr lang="en-US" altLang="zh-CN" sz="1200" strike="noStrike" noProof="1">
                <a:solidFill>
                  <a:srgbClr val="404040"/>
                </a:solidFill>
                <a:uFillTx/>
                <a:latin typeface="Arial" panose="020B0604020202020204" pitchFamily="34" charset="0"/>
                <a:ea typeface="微软雅黑" panose="020B0503020204020204" charset="-122"/>
                <a:cs typeface="+mn-cs"/>
                <a:sym typeface="+mn-ea"/>
              </a:rPr>
              <a:t>郎竑健 </a:t>
            </a:r>
            <a:endParaRPr kumimoji="0" lang="en-US" altLang="zh-CN" sz="1200" b="0" i="0" u="none" strike="noStrike" kern="1200" cap="none" spc="150" normalizeH="0" baseline="0" noProof="1">
              <a:solidFill>
                <a:srgbClr val="404040"/>
              </a:solidFill>
              <a:uFillTx/>
              <a:latin typeface="Arial" panose="020B0604020202020204" pitchFamily="34" charset="0"/>
              <a:ea typeface="微软雅黑" panose="020B0503020204020204" charset="-122"/>
              <a:cs typeface="+mn-cs"/>
            </a:endParaRPr>
          </a:p>
          <a:p>
            <a:pPr marL="0" marR="0" indent="0" algn="l" defTabSz="685800" rtl="0" eaLnBrk="1" fontAlgn="auto" latinLnBrk="0" hangingPunct="1">
              <a:lnSpc>
                <a:spcPct val="100000"/>
              </a:lnSpc>
              <a:spcBef>
                <a:spcPts val="0"/>
              </a:spcBef>
              <a:spcAft>
                <a:spcPts val="1000"/>
              </a:spcAft>
              <a:buClrTx/>
              <a:buSzTx/>
              <a:buFont typeface="Arial" panose="020B0604020202020204" pitchFamily="34" charset="0"/>
              <a:buNone/>
            </a:pPr>
            <a:r>
              <a:rPr lang="zh-CN" altLang="en-US" sz="1200" strike="noStrike" noProof="1">
                <a:solidFill>
                  <a:srgbClr val="404040"/>
                </a:solidFill>
                <a:uFillTx/>
                <a:latin typeface="Arial" panose="020B0604020202020204" pitchFamily="34" charset="0"/>
                <a:ea typeface="微软雅黑" panose="020B0503020204020204" charset="-122"/>
                <a:cs typeface="+mn-cs"/>
                <a:sym typeface="+mn-ea"/>
              </a:rPr>
              <a:t>组员：</a:t>
            </a:r>
            <a:r>
              <a:rPr lang="en-US" altLang="zh-CN" sz="1200" strike="noStrike" noProof="1">
                <a:solidFill>
                  <a:srgbClr val="404040"/>
                </a:solidFill>
                <a:uFillTx/>
                <a:latin typeface="Arial" panose="020B0604020202020204" pitchFamily="34" charset="0"/>
                <a:ea typeface="微软雅黑" panose="020B0503020204020204" charset="-122"/>
                <a:cs typeface="+mn-cs"/>
                <a:sym typeface="+mn-ea"/>
              </a:rPr>
              <a:t>徐志浩 俞伟鸿 王天宇</a:t>
            </a:r>
            <a:endParaRPr lang="zh-CN" altLang="en-US" sz="1200" strike="noStrike" noProof="1" dirty="0">
              <a:solidFill>
                <a:srgbClr val="000000">
                  <a:lumMod val="50000"/>
                  <a:lumOff val="50000"/>
                </a:srgbClr>
              </a:solidFill>
              <a:latin typeface="微软雅黑" panose="020B0503020204020204" charset="-122"/>
              <a:ea typeface="微软雅黑" panose="020B0503020204020204" charset="-122"/>
            </a:endParaRPr>
          </a:p>
        </p:txBody>
      </p:sp>
      <p:sp>
        <p:nvSpPr>
          <p:cNvPr id="15" name="文本框 14"/>
          <p:cNvSpPr txBox="1"/>
          <p:nvPr>
            <p:custDataLst>
              <p:tags r:id="rId5"/>
            </p:custDataLst>
          </p:nvPr>
        </p:nvSpPr>
        <p:spPr>
          <a:xfrm>
            <a:off x="3132138" y="1525588"/>
            <a:ext cx="4192588" cy="1060450"/>
          </a:xfrm>
          <a:prstGeom prst="rect">
            <a:avLst/>
          </a:prstGeom>
          <a:noFill/>
        </p:spPr>
        <p:txBody>
          <a:bodyPr wrap="square" lIns="76200" tIns="28575" rIns="47625" bIns="28575" rtlCol="0" anchor="b" anchorCtr="0">
            <a:noAutofit/>
          </a:bodyPr>
          <a:lstStyle/>
          <a:p>
            <a:pPr fontAlgn="auto"/>
            <a:r>
              <a:rPr lang="zh-CN" altLang="en-US" sz="4400" b="1" spc="300" noProof="1" dirty="0">
                <a:solidFill>
                  <a:srgbClr val="000000">
                    <a:lumMod val="75000"/>
                    <a:lumOff val="25000"/>
                  </a:srgbClr>
                </a:solidFill>
                <a:latin typeface="微软雅黑" panose="020B0503020204020204" charset="-122"/>
                <a:ea typeface="微软雅黑" panose="020B0503020204020204" charset="-122"/>
                <a:cs typeface="+mn-cs"/>
              </a:rPr>
              <a:t>翻转测试</a:t>
            </a:r>
            <a:endParaRPr lang="zh-CN" altLang="en-US" sz="4400" b="1" spc="300" noProof="1" dirty="0">
              <a:solidFill>
                <a:srgbClr val="000000">
                  <a:lumMod val="75000"/>
                  <a:lumOff val="25000"/>
                </a:srgbClr>
              </a:solidFill>
              <a:latin typeface="微软雅黑" panose="020B0503020204020204" charset="-122"/>
              <a:ea typeface="微软雅黑" panose="020B0503020204020204" charset="-122"/>
            </a:endParaRPr>
          </a:p>
          <a:p>
            <a:pPr algn="r" fontAlgn="auto"/>
            <a:endParaRPr lang="en-US" altLang="zh-CN" sz="2700" b="1" spc="300" noProof="1" dirty="0">
              <a:solidFill>
                <a:srgbClr val="000000">
                  <a:lumMod val="75000"/>
                  <a:lumOff val="25000"/>
                </a:srgbClr>
              </a:solidFill>
              <a:latin typeface="微软雅黑" panose="020B0503020204020204" charset="-122"/>
              <a:ea typeface="微软雅黑" panose="020B0503020204020204" charset="-122"/>
            </a:endParaRPr>
          </a:p>
        </p:txBody>
      </p:sp>
      <p:grpSp>
        <p:nvGrpSpPr>
          <p:cNvPr id="18" name="组合 17"/>
          <p:cNvGrpSpPr>
            <a:grpSpLocks noChangeAspect="1"/>
          </p:cNvGrpSpPr>
          <p:nvPr>
            <p:custDataLst>
              <p:tags r:id="rId6"/>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sp>
          <p:nvSpPr>
            <p:cNvPr id="20" name="任意多边形: 形状 19"/>
            <p:cNvSpPr>
              <a:spLocks noChangeAspect="1"/>
            </p:cNvSpPr>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fontAlgn="base"/>
              <a:endParaRPr lang="zh-CN" altLang="en-US" sz="1350" strike="noStrike" noProof="1"/>
            </a:p>
          </p:txBody>
        </p:sp>
      </p:grpSp>
      <p:pic>
        <p:nvPicPr>
          <p:cNvPr id="3079" name="图片 -2147482611"/>
          <p:cNvPicPr>
            <a:picLocks noChangeAspect="1"/>
          </p:cNvPicPr>
          <p:nvPr/>
        </p:nvPicPr>
        <p:blipFill>
          <a:blip r:embed="rId7"/>
          <a:stretch>
            <a:fillRect/>
          </a:stretch>
        </p:blipFill>
        <p:spPr>
          <a:xfrm>
            <a:off x="3132455" y="2348865"/>
            <a:ext cx="2498090" cy="1106805"/>
          </a:xfrm>
          <a:prstGeom prst="rect">
            <a:avLst/>
          </a:prstGeom>
          <a:noFill/>
          <a:ln w="9525">
            <a:noFill/>
          </a:ln>
        </p:spPr>
      </p:pic>
    </p:spTree>
    <p:custDataLst>
      <p:tags r:id="rId8"/>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6015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79705" y="189230"/>
            <a:ext cx="1392555" cy="62293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solidFill>
                  <a:schemeClr val="tx1"/>
                </a:solidFill>
                <a:latin typeface="黑体" panose="02010609060101010101" charset="-122"/>
                <a:ea typeface="黑体" panose="02010609060101010101" charset="-122"/>
                <a:cs typeface="黑体" panose="02010609060101010101" charset="-122"/>
              </a:rPr>
              <a:t>目录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1475105" y="1124585"/>
            <a:ext cx="7056755" cy="467804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7.1编码</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7.2软件测试基础</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7.3单元测试</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7.4集成测试</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7.5确认测试</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1800" dirty="0">
                <a:solidFill>
                  <a:schemeClr val="tx1"/>
                </a:solidFill>
                <a:latin typeface="黑体" panose="02010609060101010101" charset="-122"/>
                <a:ea typeface="黑体" panose="02010609060101010101" charset="-122"/>
                <a:cs typeface="黑体" panose="02010609060101010101" charset="-122"/>
              </a:rPr>
              <a:t>7.6白盒测试技术</a:t>
            </a: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zh-CN" sz="1800" dirty="0">
              <a:latin typeface="黑体" panose="02010609060101010101" charset="-122"/>
              <a:ea typeface="黑体" panose="02010609060101010101" charset="-122"/>
              <a:cs typeface="黑体" panose="02010609060101010101"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60153"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altLang="en-US" sz="2800" dirty="0">
                <a:latin typeface="黑体" panose="02010609060101010101" charset="-122"/>
                <a:ea typeface="黑体" panose="02010609060101010101" charset="-122"/>
                <a:cs typeface="黑体" panose="02010609060101010101" charset="-122"/>
                <a:sym typeface="+mn-ea"/>
              </a:rPr>
              <a:t>编码</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467995" y="1341120"/>
            <a:ext cx="7292340" cy="384365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indent="-285750">
              <a:buFont typeface="Wingdings" panose="05000000000000000000" charset="0"/>
              <a:buChar char="l"/>
            </a:pPr>
            <a:r>
              <a:rPr lang="zh-CN" sz="2000" dirty="0">
                <a:latin typeface="黑体" panose="02010609060101010101" charset="-122"/>
                <a:ea typeface="黑体" panose="02010609060101010101" charset="-122"/>
                <a:cs typeface="黑体" panose="02010609060101010101" charset="-122"/>
              </a:rPr>
              <a:t>程序设计语言：</a:t>
            </a:r>
            <a:r>
              <a:rPr lang="en-US" altLang="zh-CN" sz="2000" dirty="0">
                <a:latin typeface="黑体" panose="02010609060101010101" charset="-122"/>
                <a:ea typeface="黑体" panose="02010609060101010101" charset="-122"/>
                <a:cs typeface="黑体" panose="02010609060101010101" charset="-122"/>
              </a:rPr>
              <a:t>JAVA</a:t>
            </a:r>
            <a:endParaRPr lang="en-US" altLang="zh-CN" sz="2000" dirty="0">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endParaRPr lang="en-US" altLang="zh-CN" sz="2000" dirty="0">
              <a:latin typeface="黑体" panose="02010609060101010101" charset="-122"/>
              <a:ea typeface="黑体" panose="02010609060101010101" charset="-122"/>
              <a:cs typeface="黑体" panose="02010609060101010101" charset="-122"/>
            </a:endParaRPr>
          </a:p>
          <a:p>
            <a:pPr marL="285750" indent="-285750">
              <a:buFont typeface="Wingdings" panose="05000000000000000000" charset="0"/>
              <a:buChar char="l"/>
            </a:pPr>
            <a:r>
              <a:rPr lang="zh-CN" altLang="en-US" sz="2000" dirty="0">
                <a:latin typeface="黑体" panose="02010609060101010101" charset="-122"/>
                <a:ea typeface="黑体" panose="02010609060101010101" charset="-122"/>
                <a:cs typeface="黑体" panose="02010609060101010101" charset="-122"/>
              </a:rPr>
              <a:t>编码风格：</a:t>
            </a:r>
            <a:endParaRPr lang="zh-CN" altLang="en-US" sz="2000" dirty="0">
              <a:latin typeface="黑体" panose="02010609060101010101" charset="-122"/>
              <a:ea typeface="黑体" panose="02010609060101010101" charset="-122"/>
              <a:cs typeface="黑体" panose="02010609060101010101" charset="-122"/>
            </a:endParaRPr>
          </a:p>
          <a:p>
            <a:pPr marL="800100" lvl="1" indent="-342900">
              <a:buAutoNum type="arabicPeriod"/>
            </a:pPr>
            <a:r>
              <a:rPr lang="zh-CN" altLang="en-US" sz="2400" dirty="0">
                <a:latin typeface="黑体" panose="02010609060101010101" charset="-122"/>
                <a:ea typeface="黑体" panose="02010609060101010101" charset="-122"/>
                <a:cs typeface="黑体" panose="02010609060101010101" charset="-122"/>
              </a:rPr>
              <a:t>程序内部文档按类（方法）添加注释；</a:t>
            </a:r>
            <a:endParaRPr lang="zh-CN" altLang="en-US" sz="2400" dirty="0">
              <a:latin typeface="黑体" panose="02010609060101010101" charset="-122"/>
              <a:ea typeface="黑体" panose="02010609060101010101" charset="-122"/>
              <a:cs typeface="黑体" panose="02010609060101010101" charset="-122"/>
            </a:endParaRPr>
          </a:p>
          <a:p>
            <a:pPr marL="800100" lvl="1" indent="-342900">
              <a:buAutoNum type="arabicPeriod"/>
            </a:pPr>
            <a:r>
              <a:rPr lang="zh-CN" altLang="en-US" sz="2400" dirty="0">
                <a:latin typeface="黑体" panose="02010609060101010101" charset="-122"/>
                <a:ea typeface="黑体" panose="02010609060101010101" charset="-122"/>
                <a:cs typeface="黑体" panose="02010609060101010101" charset="-122"/>
              </a:rPr>
              <a:t>数据变量命名遵循驼峰命名法，并且尽量明确</a:t>
            </a:r>
            <a:r>
              <a:rPr lang="zh-CN" altLang="en-US" sz="2400" dirty="0">
                <a:latin typeface="黑体" panose="02010609060101010101" charset="-122"/>
                <a:ea typeface="黑体" panose="02010609060101010101" charset="-122"/>
                <a:cs typeface="黑体" panose="02010609060101010101" charset="-122"/>
                <a:sym typeface="+mn-ea"/>
              </a:rPr>
              <a:t>含义；</a:t>
            </a:r>
            <a:endParaRPr lang="zh-CN" altLang="en-US" sz="2400" dirty="0">
              <a:latin typeface="黑体" panose="02010609060101010101" charset="-122"/>
              <a:ea typeface="黑体" panose="02010609060101010101" charset="-122"/>
              <a:cs typeface="黑体" panose="02010609060101010101" charset="-122"/>
              <a:sym typeface="+mn-ea"/>
            </a:endParaRPr>
          </a:p>
          <a:p>
            <a:pPr marL="800100" lvl="1" indent="-342900">
              <a:buAutoNum type="arabicPeriod"/>
            </a:pPr>
            <a:r>
              <a:rPr lang="zh-CN" altLang="en-US" sz="2400" dirty="0">
                <a:latin typeface="黑体" panose="02010609060101010101" charset="-122"/>
                <a:ea typeface="黑体" panose="02010609060101010101" charset="-122"/>
                <a:cs typeface="黑体" panose="02010609060101010101" charset="-122"/>
                <a:sym typeface="+mn-ea"/>
              </a:rPr>
              <a:t>按类构造对象，对于每个运动实体添加动作响应方法；</a:t>
            </a:r>
            <a:endParaRPr lang="zh-CN" altLang="en-US" sz="2400" dirty="0">
              <a:latin typeface="黑体" panose="02010609060101010101" charset="-122"/>
              <a:ea typeface="黑体" panose="02010609060101010101" charset="-122"/>
              <a:cs typeface="黑体" panose="02010609060101010101" charset="-122"/>
              <a:sym typeface="+mn-ea"/>
            </a:endParaRPr>
          </a:p>
          <a:p>
            <a:pPr marL="800100" lvl="1" indent="-342900">
              <a:buAutoNum type="arabicPeriod"/>
            </a:pPr>
            <a:r>
              <a:rPr lang="zh-CN" altLang="en-US" sz="2400" dirty="0">
                <a:latin typeface="黑体" panose="02010609060101010101" charset="-122"/>
                <a:ea typeface="黑体" panose="02010609060101010101" charset="-122"/>
                <a:cs typeface="黑体" panose="02010609060101010101" charset="-122"/>
                <a:sym typeface="+mn-ea"/>
              </a:rPr>
              <a:t>规范输入输出，统一采用规定的工具类传输数据。</a:t>
            </a:r>
            <a:endParaRPr lang="zh-CN" altLang="en-US" sz="2400" dirty="0">
              <a:latin typeface="黑体" panose="02010609060101010101" charset="-122"/>
              <a:ea typeface="黑体" panose="02010609060101010101" charset="-122"/>
              <a:cs typeface="黑体" panose="02010609060101010101" charset="-122"/>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518"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4"/>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5"/>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6"/>
            </p:custDataLst>
          </p:nvPr>
        </p:nvSpPr>
        <p:spPr>
          <a:xfrm>
            <a:off x="179705" y="260985"/>
            <a:ext cx="2719705" cy="62484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软件测试基础</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6" name="文本框 5"/>
          <p:cNvSpPr txBox="1"/>
          <p:nvPr>
            <p:custDataLst>
              <p:tags r:id="rId7"/>
            </p:custDataLst>
          </p:nvPr>
        </p:nvSpPr>
        <p:spPr>
          <a:xfrm>
            <a:off x="819150" y="1268730"/>
            <a:ext cx="7701280" cy="5011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mj-lt"/>
            </a:pPr>
            <a:r>
              <a:rPr lang="zh-CN" sz="2000" dirty="0">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sz="2000" dirty="0">
              <a:latin typeface="黑体" panose="02010609060101010101" charset="-122"/>
              <a:ea typeface="黑体" panose="02010609060101010101" charset="-122"/>
              <a:cs typeface="黑体" panose="02010609060101010101"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518"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4"/>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5"/>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6"/>
            </p:custDataLst>
          </p:nvPr>
        </p:nvSpPr>
        <p:spPr>
          <a:xfrm>
            <a:off x="179705" y="260985"/>
            <a:ext cx="2719705" cy="62484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单元测试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6" name="文本框 5"/>
          <p:cNvSpPr txBox="1"/>
          <p:nvPr>
            <p:custDataLst>
              <p:tags r:id="rId7"/>
            </p:custDataLst>
          </p:nvPr>
        </p:nvSpPr>
        <p:spPr>
          <a:xfrm>
            <a:off x="819150" y="1268730"/>
            <a:ext cx="7701280" cy="5011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mj-lt"/>
            </a:pPr>
            <a:r>
              <a:rPr lang="zh-CN" sz="2000" dirty="0">
                <a:latin typeface="黑体" panose="02010609060101010101" charset="-122"/>
                <a:ea typeface="黑体" panose="02010609060101010101" charset="-122"/>
                <a:cs typeface="黑体" panose="02010609060101010101" charset="-122"/>
              </a:rPr>
              <a:t>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a:t>
            </a:r>
            <a:endParaRPr lang="zh-CN" sz="2000" dirty="0">
              <a:latin typeface="黑体" panose="02010609060101010101" charset="-122"/>
              <a:ea typeface="黑体" panose="02010609060101010101" charset="-122"/>
              <a:cs typeface="黑体" panose="02010609060101010101"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9518" y="857251"/>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107315"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集成测试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Tree>
    <p:custDataLst>
      <p:tags r:id="rId7"/>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4787900" y="3932555"/>
            <a:ext cx="4165600" cy="2245360"/>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4" name="矩形 3"/>
          <p:cNvSpPr/>
          <p:nvPr>
            <p:custDataLst>
              <p:tags r:id="rId3"/>
            </p:custDataLst>
          </p:nvPr>
        </p:nvSpPr>
        <p:spPr>
          <a:xfrm>
            <a:off x="179705" y="4426585"/>
            <a:ext cx="4297045" cy="2431415"/>
          </a:xfrm>
          <a:prstGeom prst="rect">
            <a:avLst/>
          </a:prstGeom>
          <a:solidFill>
            <a:srgbClr val="FFFFFF"/>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黑体" panose="02010609060101010101" charset="-122"/>
              <a:ea typeface="黑体" panose="02010609060101010101" charset="-122"/>
            </a:endParaRPr>
          </a:p>
        </p:txBody>
      </p:sp>
      <p:sp>
        <p:nvSpPr>
          <p:cNvPr id="14" name="文本框 13"/>
          <p:cNvSpPr txBox="1"/>
          <p:nvPr>
            <p:custDataLst>
              <p:tags r:id="rId4"/>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确认测试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5"/>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6" name="文本框 5"/>
          <p:cNvSpPr txBox="1"/>
          <p:nvPr>
            <p:custDataLst>
              <p:tags r:id="rId8"/>
            </p:custDataLst>
          </p:nvPr>
        </p:nvSpPr>
        <p:spPr>
          <a:xfrm>
            <a:off x="1403985" y="1024255"/>
            <a:ext cx="7112635" cy="43072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mj-lt"/>
            </a:pPr>
            <a:r>
              <a:rPr lang="zh-CN" sz="2000" dirty="0">
                <a:latin typeface="黑体" panose="02010609060101010101" charset="-122"/>
                <a:ea typeface="黑体" panose="02010609060101010101" charset="-122"/>
                <a:cs typeface="黑体" panose="02010609060101010101" charset="-122"/>
              </a:rPr>
              <a:t>确认测试是根据软件需求说明书中定义的全部功能、性能要求以及确认测试计划,来测试整个软件系统是否达到了要求,并提交最终的用户手册和操作手册。</a:t>
            </a:r>
            <a:endParaRPr lang="zh-CN" sz="2000" dirty="0">
              <a:latin typeface="黑体" panose="02010609060101010101" charset="-122"/>
              <a:ea typeface="黑体" panose="02010609060101010101" charset="-122"/>
              <a:cs typeface="黑体" panose="02010609060101010101" charset="-122"/>
            </a:endParaRPr>
          </a:p>
          <a:p>
            <a:pPr>
              <a:buFont typeface="+mj-lt"/>
            </a:pPr>
            <a:endParaRPr lang="zh-CN" sz="2000" dirty="0">
              <a:latin typeface="黑体" panose="02010609060101010101" charset="-122"/>
              <a:ea typeface="黑体" panose="02010609060101010101" charset="-122"/>
              <a:cs typeface="黑体" panose="02010609060101010101" charset="-122"/>
            </a:endParaRPr>
          </a:p>
          <a:p>
            <a:pPr>
              <a:buFont typeface="+mj-lt"/>
            </a:pPr>
            <a:r>
              <a:rPr lang="en-US" altLang="zh-CN" sz="2000" dirty="0">
                <a:latin typeface="黑体" panose="02010609060101010101" charset="-122"/>
                <a:ea typeface="黑体" panose="02010609060101010101" charset="-122"/>
                <a:cs typeface="黑体" panose="02010609060101010101" charset="-122"/>
              </a:rPr>
              <a:t>确认测试是软件产品付之实际使用之前的一道既完整又系统的检验,它直接影响到软件产品的质量。也就是说,确认测试是软件质量保证的最后一个关键环节。</a:t>
            </a:r>
            <a:endParaRPr lang="en-US" altLang="zh-CN" sz="2000" dirty="0">
              <a:latin typeface="黑体" panose="02010609060101010101" charset="-122"/>
              <a:ea typeface="黑体" panose="02010609060101010101" charset="-122"/>
              <a:cs typeface="黑体" panose="02010609060101010101" charset="-122"/>
            </a:endParaRPr>
          </a:p>
          <a:p>
            <a:pPr>
              <a:buFont typeface="+mj-lt"/>
            </a:pPr>
            <a:endParaRPr lang="en-US" altLang="zh-CN" sz="2000" dirty="0">
              <a:latin typeface="黑体" panose="02010609060101010101" charset="-122"/>
              <a:ea typeface="黑体" panose="02010609060101010101" charset="-122"/>
              <a:cs typeface="黑体" panose="02010609060101010101" charset="-122"/>
            </a:endParaRPr>
          </a:p>
          <a:p>
            <a:pPr>
              <a:buFont typeface="+mj-lt"/>
            </a:pPr>
            <a:r>
              <a:rPr lang="en-US" altLang="zh-CN" sz="2000" dirty="0">
                <a:latin typeface="黑体" panose="02010609060101010101" charset="-122"/>
                <a:ea typeface="黑体" panose="02010609060101010101" charset="-122"/>
                <a:cs typeface="黑体" panose="02010609060101010101" charset="-122"/>
              </a:rPr>
              <a:t>有效性测试:制定测试计划,运用黑盒法,验证软件特性是否与需求符合</a:t>
            </a:r>
            <a:r>
              <a:rPr lang="zh-CN" altLang="en-US" sz="2000" dirty="0">
                <a:latin typeface="黑体" panose="02010609060101010101" charset="-122"/>
                <a:ea typeface="黑体" panose="02010609060101010101" charset="-122"/>
                <a:cs typeface="黑体" panose="02010609060101010101" charset="-122"/>
              </a:rPr>
              <a:t>。</a:t>
            </a:r>
            <a:endParaRPr lang="en-US" altLang="zh-CN" sz="2000" dirty="0">
              <a:latin typeface="黑体" panose="02010609060101010101" charset="-122"/>
              <a:ea typeface="黑体" panose="02010609060101010101" charset="-122"/>
              <a:cs typeface="黑体" panose="02010609060101010101" charset="-122"/>
            </a:endParaRPr>
          </a:p>
          <a:p>
            <a:pPr>
              <a:buFont typeface="+mj-lt"/>
            </a:pPr>
            <a:endParaRPr lang="en-US" altLang="zh-CN" sz="2000" dirty="0">
              <a:latin typeface="黑体" panose="02010609060101010101" charset="-122"/>
              <a:ea typeface="黑体" panose="02010609060101010101" charset="-122"/>
              <a:cs typeface="黑体" panose="02010609060101010101" charset="-122"/>
            </a:endParaRPr>
          </a:p>
          <a:p>
            <a:pPr>
              <a:buFont typeface="+mj-lt"/>
            </a:pPr>
            <a:endParaRPr lang="zh-CN" altLang="en-US" sz="2000" dirty="0">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4787900" y="3932555"/>
            <a:ext cx="4165600" cy="2245360"/>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4" name="矩形 3"/>
          <p:cNvSpPr/>
          <p:nvPr>
            <p:custDataLst>
              <p:tags r:id="rId3"/>
            </p:custDataLst>
          </p:nvPr>
        </p:nvSpPr>
        <p:spPr>
          <a:xfrm>
            <a:off x="179705" y="4426585"/>
            <a:ext cx="4297045" cy="2431415"/>
          </a:xfrm>
          <a:prstGeom prst="rect">
            <a:avLst/>
          </a:prstGeom>
          <a:solidFill>
            <a:srgbClr val="FFFFFF"/>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黑体" panose="02010609060101010101" charset="-122"/>
              <a:ea typeface="黑体" panose="02010609060101010101" charset="-122"/>
            </a:endParaRPr>
          </a:p>
        </p:txBody>
      </p:sp>
      <p:sp>
        <p:nvSpPr>
          <p:cNvPr id="14" name="文本框 13"/>
          <p:cNvSpPr txBox="1"/>
          <p:nvPr>
            <p:custDataLst>
              <p:tags r:id="rId4"/>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确认测试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5"/>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6"/>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7"/>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6" name="文本框 5"/>
          <p:cNvSpPr txBox="1"/>
          <p:nvPr>
            <p:custDataLst>
              <p:tags r:id="rId8"/>
            </p:custDataLst>
          </p:nvPr>
        </p:nvSpPr>
        <p:spPr>
          <a:xfrm>
            <a:off x="107950" y="857250"/>
            <a:ext cx="4673600" cy="43072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mj-lt"/>
            </a:pPr>
            <a:r>
              <a:rPr lang="zh-CN" sz="2000" dirty="0">
                <a:solidFill>
                  <a:srgbClr val="FF0000"/>
                </a:solidFill>
                <a:latin typeface="黑体" panose="02010609060101010101" charset="-122"/>
                <a:ea typeface="黑体" panose="02010609060101010101" charset="-122"/>
                <a:cs typeface="黑体" panose="02010609060101010101" charset="-122"/>
              </a:rPr>
              <a:t>确认</a:t>
            </a:r>
            <a:r>
              <a:rPr lang="zh-CN" sz="2000" dirty="0">
                <a:latin typeface="黑体" panose="02010609060101010101" charset="-122"/>
                <a:ea typeface="黑体" panose="02010609060101010101" charset="-122"/>
                <a:cs typeface="黑体" panose="02010609060101010101" charset="-122"/>
              </a:rPr>
              <a:t>测试也称为</a:t>
            </a:r>
            <a:r>
              <a:rPr lang="zh-CN" sz="2000" dirty="0">
                <a:solidFill>
                  <a:srgbClr val="00B0F0"/>
                </a:solidFill>
                <a:latin typeface="黑体" panose="02010609060101010101" charset="-122"/>
                <a:ea typeface="黑体" panose="02010609060101010101" charset="-122"/>
                <a:cs typeface="黑体" panose="02010609060101010101" charset="-122"/>
              </a:rPr>
              <a:t>验收</a:t>
            </a:r>
            <a:r>
              <a:rPr lang="zh-CN" sz="2000" dirty="0">
                <a:latin typeface="黑体" panose="02010609060101010101" charset="-122"/>
                <a:ea typeface="黑体" panose="02010609060101010101" charset="-122"/>
                <a:cs typeface="黑体" panose="02010609060101010101" charset="-122"/>
              </a:rPr>
              <a:t>测试，它的目标是验证</a:t>
            </a:r>
            <a:r>
              <a:rPr lang="zh-CN" sz="2000" u="sng" dirty="0">
                <a:latin typeface="黑体" panose="02010609060101010101" charset="-122"/>
                <a:ea typeface="黑体" panose="02010609060101010101" charset="-122"/>
                <a:cs typeface="黑体" panose="02010609060101010101" charset="-122"/>
              </a:rPr>
              <a:t>软件的有效性</a:t>
            </a:r>
            <a:r>
              <a:rPr lang="zh-CN" sz="2000" dirty="0">
                <a:latin typeface="黑体" panose="02010609060101010101" charset="-122"/>
                <a:ea typeface="黑体" panose="02010609060101010101" charset="-122"/>
                <a:cs typeface="黑体" panose="02010609060101010101" charset="-122"/>
              </a:rPr>
              <a:t>。</a:t>
            </a:r>
            <a:endParaRPr lang="zh-CN" sz="2000" dirty="0">
              <a:latin typeface="黑体" panose="02010609060101010101" charset="-122"/>
              <a:ea typeface="黑体" panose="02010609060101010101" charset="-122"/>
              <a:cs typeface="黑体" panose="02010609060101010101" charset="-122"/>
            </a:endParaRPr>
          </a:p>
          <a:p>
            <a:pPr>
              <a:buFont typeface="+mj-lt"/>
            </a:pPr>
            <a:endParaRPr lang="en-US" altLang="zh-CN" sz="2000" dirty="0">
              <a:latin typeface="黑体" panose="02010609060101010101" charset="-122"/>
              <a:ea typeface="黑体" panose="02010609060101010101" charset="-122"/>
              <a:cs typeface="黑体" panose="02010609060101010101" charset="-122"/>
            </a:endParaRPr>
          </a:p>
          <a:p>
            <a:pPr>
              <a:buFont typeface="+mj-lt"/>
            </a:pPr>
            <a:r>
              <a:rPr lang="zh-CN" altLang="en-US" sz="2000" dirty="0">
                <a:latin typeface="黑体" panose="02010609060101010101" charset="-122"/>
                <a:ea typeface="黑体" panose="02010609060101010101" charset="-122"/>
                <a:cs typeface="黑体" panose="02010609060101010101" charset="-122"/>
              </a:rPr>
              <a:t>通常，</a:t>
            </a:r>
            <a:r>
              <a:rPr lang="zh-CN" altLang="en-US" sz="2000" dirty="0">
                <a:solidFill>
                  <a:srgbClr val="FF0000"/>
                </a:solidFill>
                <a:latin typeface="黑体" panose="02010609060101010101" charset="-122"/>
                <a:ea typeface="黑体" panose="02010609060101010101" charset="-122"/>
                <a:cs typeface="黑体" panose="02010609060101010101" charset="-122"/>
              </a:rPr>
              <a:t>确认</a:t>
            </a:r>
            <a:r>
              <a:rPr lang="zh-CN" altLang="en-US" sz="2000" dirty="0">
                <a:latin typeface="黑体" panose="02010609060101010101" charset="-122"/>
                <a:ea typeface="黑体" panose="02010609060101010101" charset="-122"/>
                <a:cs typeface="黑体" panose="02010609060101010101" charset="-122"/>
              </a:rPr>
              <a:t>（</a:t>
            </a:r>
            <a:r>
              <a:rPr lang="en-US" altLang="zh-CN" sz="2000" dirty="0">
                <a:latin typeface="黑体" panose="02010609060101010101" charset="-122"/>
                <a:ea typeface="黑体" panose="02010609060101010101" charset="-122"/>
                <a:cs typeface="黑体" panose="02010609060101010101" charset="-122"/>
              </a:rPr>
              <a:t>validation</a:t>
            </a:r>
            <a:r>
              <a:rPr lang="zh-CN" altLang="en-US" sz="2000" dirty="0">
                <a:latin typeface="黑体" panose="02010609060101010101" charset="-122"/>
                <a:ea typeface="黑体" panose="02010609060101010101" charset="-122"/>
                <a:cs typeface="黑体" panose="02010609060101010101" charset="-122"/>
              </a:rPr>
              <a:t>）指的是保证软件正确地实现了某个特定要求的一系列活动。</a:t>
            </a:r>
            <a:r>
              <a:rPr lang="zh-CN" altLang="en-US" sz="2000" dirty="0">
                <a:solidFill>
                  <a:srgbClr val="00B0F0"/>
                </a:solidFill>
                <a:latin typeface="黑体" panose="02010609060101010101" charset="-122"/>
                <a:ea typeface="黑体" panose="02010609060101010101" charset="-122"/>
                <a:cs typeface="黑体" panose="02010609060101010101" charset="-122"/>
              </a:rPr>
              <a:t>验证</a:t>
            </a:r>
            <a:r>
              <a:rPr lang="zh-CN" altLang="en-US" sz="2000" dirty="0">
                <a:latin typeface="黑体" panose="02010609060101010101" charset="-122"/>
                <a:ea typeface="黑体" panose="02010609060101010101" charset="-122"/>
                <a:cs typeface="黑体" panose="02010609060101010101" charset="-122"/>
              </a:rPr>
              <a:t>（</a:t>
            </a:r>
            <a:r>
              <a:rPr lang="en-US" altLang="zh-CN" sz="2000" dirty="0">
                <a:latin typeface="黑体" panose="02010609060101010101" charset="-122"/>
                <a:ea typeface="黑体" panose="02010609060101010101" charset="-122"/>
                <a:cs typeface="黑体" panose="02010609060101010101" charset="-122"/>
              </a:rPr>
              <a:t>verification</a:t>
            </a:r>
            <a:r>
              <a:rPr lang="zh-CN" altLang="en-US" sz="2000" dirty="0">
                <a:latin typeface="黑体" panose="02010609060101010101" charset="-122"/>
                <a:ea typeface="黑体" panose="02010609060101010101" charset="-122"/>
                <a:cs typeface="黑体" panose="02010609060101010101" charset="-122"/>
              </a:rPr>
              <a:t>）指的是保证软件正确地实现了某个特定要求的一系列活动。</a:t>
            </a:r>
            <a:r>
              <a:rPr lang="en-US" altLang="zh-CN" sz="2000" dirty="0">
                <a:latin typeface="黑体" panose="02010609060101010101" charset="-122"/>
                <a:ea typeface="黑体" panose="02010609060101010101" charset="-122"/>
                <a:cs typeface="黑体" panose="02010609060101010101" charset="-122"/>
              </a:rPr>
              <a:t>	</a:t>
            </a:r>
            <a:endParaRPr lang="en-US" altLang="zh-CN" sz="2000" dirty="0">
              <a:latin typeface="黑体" panose="02010609060101010101" charset="-122"/>
              <a:ea typeface="黑体" panose="02010609060101010101" charset="-122"/>
              <a:cs typeface="黑体" panose="02010609060101010101" charset="-122"/>
            </a:endParaRPr>
          </a:p>
          <a:p>
            <a:pPr>
              <a:buFont typeface="+mj-lt"/>
            </a:pPr>
            <a:endParaRPr lang="en-US" altLang="zh-CN" sz="2000" dirty="0">
              <a:latin typeface="黑体" panose="02010609060101010101" charset="-122"/>
              <a:ea typeface="黑体" panose="02010609060101010101" charset="-122"/>
              <a:cs typeface="黑体" panose="02010609060101010101" charset="-122"/>
            </a:endParaRPr>
          </a:p>
          <a:p>
            <a:pPr>
              <a:buFont typeface="+mj-lt"/>
            </a:pPr>
            <a:endParaRPr lang="zh-CN" altLang="en-US" sz="2000" dirty="0">
              <a:latin typeface="黑体" panose="02010609060101010101" charset="-122"/>
              <a:ea typeface="黑体" panose="02010609060101010101" charset="-122"/>
              <a:cs typeface="黑体" panose="02010609060101010101" charset="-122"/>
            </a:endParaRPr>
          </a:p>
        </p:txBody>
      </p:sp>
      <p:sp>
        <p:nvSpPr>
          <p:cNvPr id="2" name="文本框 1"/>
          <p:cNvSpPr txBox="1"/>
          <p:nvPr>
            <p:custDataLst>
              <p:tags r:id="rId9"/>
            </p:custDataLst>
          </p:nvPr>
        </p:nvSpPr>
        <p:spPr>
          <a:xfrm>
            <a:off x="4716145" y="908685"/>
            <a:ext cx="4673600" cy="43072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mj-lt"/>
            </a:pPr>
            <a:r>
              <a:rPr lang="zh-CN" altLang="en-US" sz="2000" dirty="0">
                <a:latin typeface="黑体" panose="02010609060101010101" charset="-122"/>
                <a:ea typeface="黑体" panose="02010609060101010101" charset="-122"/>
                <a:cs typeface="黑体" panose="02010609060101010101" charset="-122"/>
              </a:rPr>
              <a:t>软件有效性的简单定义是：如果软件的功能和性能如同用户所合理期待的那样，</a:t>
            </a:r>
            <a:r>
              <a:rPr lang="zh-CN" altLang="en-US" sz="2000" dirty="0">
                <a:latin typeface="黑体" panose="02010609060101010101" charset="-122"/>
                <a:ea typeface="黑体" panose="02010609060101010101" charset="-122"/>
                <a:cs typeface="黑体" panose="02010609060101010101" charset="-122"/>
              </a:rPr>
              <a:t>软件就是有效的。</a:t>
            </a:r>
            <a:endParaRPr lang="zh-CN" altLang="en-US" sz="2000" dirty="0">
              <a:latin typeface="黑体" panose="02010609060101010101" charset="-122"/>
              <a:ea typeface="黑体" panose="02010609060101010101" charset="-122"/>
              <a:cs typeface="黑体" panose="02010609060101010101" charset="-122"/>
            </a:endParaRPr>
          </a:p>
          <a:p>
            <a:pPr>
              <a:buFont typeface="+mj-lt"/>
            </a:pPr>
            <a:endParaRPr lang="zh-CN" altLang="en-US" sz="2000" dirty="0">
              <a:latin typeface="黑体" panose="02010609060101010101" charset="-122"/>
              <a:ea typeface="黑体" panose="02010609060101010101" charset="-122"/>
              <a:cs typeface="黑体" panose="02010609060101010101" charset="-122"/>
            </a:endParaRPr>
          </a:p>
          <a:p>
            <a:pPr>
              <a:buFont typeface="+mj-lt"/>
            </a:pPr>
            <a:r>
              <a:rPr lang="zh-CN" altLang="en-US" sz="2000" dirty="0">
                <a:latin typeface="黑体" panose="02010609060101010101" charset="-122"/>
                <a:ea typeface="黑体" panose="02010609060101010101" charset="-122"/>
                <a:cs typeface="黑体" panose="02010609060101010101" charset="-122"/>
              </a:rPr>
              <a:t>需求分析阶段产生的软件需求规格说明书。准确地描述了用户对软件的合理期望，因此是软件有效性的标准，也是进行确认测试</a:t>
            </a:r>
            <a:r>
              <a:rPr lang="zh-CN" altLang="en-US" sz="2000" dirty="0">
                <a:latin typeface="黑体" panose="02010609060101010101" charset="-122"/>
                <a:ea typeface="黑体" panose="02010609060101010101" charset="-122"/>
                <a:cs typeface="黑体" panose="02010609060101010101" charset="-122"/>
              </a:rPr>
              <a:t>的基础。</a:t>
            </a:r>
            <a:endParaRPr lang="zh-CN" altLang="en-US" sz="2000" dirty="0">
              <a:latin typeface="黑体" panose="02010609060101010101" charset="-122"/>
              <a:ea typeface="黑体" panose="02010609060101010101" charset="-122"/>
              <a:cs typeface="黑体" panose="02010609060101010101"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299656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确认测试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7.5.1</a:t>
            </a:r>
            <a:r>
              <a:rPr lang="zh-CN" altLang="en-US" sz="2800" dirty="0">
                <a:solidFill>
                  <a:schemeClr val="tx1"/>
                </a:solidFill>
                <a:latin typeface="黑体" panose="02010609060101010101" charset="-122"/>
                <a:ea typeface="黑体" panose="02010609060101010101" charset="-122"/>
                <a:cs typeface="黑体" panose="02010609060101010101" charset="-122"/>
              </a:rPr>
              <a:t>确认测试的范围</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6943725" cy="3487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确认测试必须有用户积极参与，或者以用户为主进行。</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确认测试通常使用黑盒测试</a:t>
            </a:r>
            <a:r>
              <a:rPr lang="zh-CN" altLang="en-US" sz="2000" dirty="0">
                <a:solidFill>
                  <a:schemeClr val="tx1"/>
                </a:solidFill>
                <a:latin typeface="黑体" panose="02010609060101010101" charset="-122"/>
                <a:ea typeface="黑体" panose="02010609060101010101" charset="-122"/>
                <a:cs typeface="黑体" panose="02010609060101010101" charset="-122"/>
              </a:rPr>
              <a:t>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确认测试有下述两种可能</a:t>
            </a:r>
            <a:r>
              <a:rPr lang="zh-CN" altLang="en-US" sz="2000" dirty="0">
                <a:solidFill>
                  <a:schemeClr val="tx1"/>
                </a:solidFill>
                <a:latin typeface="黑体" panose="02010609060101010101" charset="-122"/>
                <a:ea typeface="黑体" panose="02010609060101010101" charset="-122"/>
                <a:cs typeface="黑体" panose="02010609060101010101" charset="-122"/>
              </a:rPr>
              <a:t>的结果：</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a:t>
            </a: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）功能和性能与用户要求一致，软件</a:t>
            </a:r>
            <a:r>
              <a:rPr lang="zh-CN" altLang="en-US" sz="2000" dirty="0">
                <a:solidFill>
                  <a:schemeClr val="tx1"/>
                </a:solidFill>
                <a:latin typeface="黑体" panose="02010609060101010101" charset="-122"/>
                <a:ea typeface="黑体" panose="02010609060101010101" charset="-122"/>
                <a:cs typeface="黑体" panose="02010609060101010101" charset="-122"/>
              </a:rPr>
              <a:t>是可以接受的。</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a:t>
            </a: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en-US" sz="2000" dirty="0">
                <a:solidFill>
                  <a:schemeClr val="tx1"/>
                </a:solidFill>
                <a:latin typeface="黑体" panose="02010609060101010101" charset="-122"/>
                <a:ea typeface="黑体" panose="02010609060101010101" charset="-122"/>
                <a:cs typeface="黑体" panose="02010609060101010101" charset="-122"/>
              </a:rPr>
              <a:t>）功能和性能与用户要求</a:t>
            </a:r>
            <a:r>
              <a:rPr lang="zh-CN" altLang="en-US" sz="2000" dirty="0">
                <a:solidFill>
                  <a:schemeClr val="tx1"/>
                </a:solidFill>
                <a:latin typeface="黑体" panose="02010609060101010101" charset="-122"/>
                <a:ea typeface="黑体" panose="02010609060101010101" charset="-122"/>
                <a:cs typeface="黑体" panose="02010609060101010101" charset="-122"/>
              </a:rPr>
              <a:t>有差距。</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在这个阶段发现的问题往往和需求分析阶段的差错有关，涉及的面通常比较广，因此解决起来也比较困难。为了制定解决确认测试过程中发现的软件缺陷或错误的策略，通常需要</a:t>
            </a:r>
            <a:r>
              <a:rPr lang="zh-CN" altLang="en-US" sz="2000" dirty="0">
                <a:solidFill>
                  <a:schemeClr val="tx1"/>
                </a:solidFill>
                <a:latin typeface="黑体" panose="02010609060101010101" charset="-122"/>
                <a:ea typeface="黑体" panose="02010609060101010101" charset="-122"/>
                <a:cs typeface="黑体" panose="02010609060101010101" charset="-122"/>
              </a:rPr>
              <a:t>和用户充分协商。</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299656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确认测试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7.5.2</a:t>
            </a:r>
            <a:r>
              <a:rPr lang="zh-CN" altLang="en-US" sz="2800" dirty="0">
                <a:solidFill>
                  <a:schemeClr val="tx1"/>
                </a:solidFill>
                <a:latin typeface="黑体" panose="02010609060101010101" charset="-122"/>
                <a:ea typeface="黑体" panose="02010609060101010101" charset="-122"/>
                <a:cs typeface="黑体" panose="02010609060101010101" charset="-122"/>
              </a:rPr>
              <a:t>软件</a:t>
            </a:r>
            <a:r>
              <a:rPr lang="zh-CN" altLang="en-US" sz="2800" dirty="0">
                <a:solidFill>
                  <a:schemeClr val="tx1"/>
                </a:solidFill>
                <a:latin typeface="黑体" panose="02010609060101010101" charset="-122"/>
                <a:ea typeface="黑体" panose="02010609060101010101" charset="-122"/>
                <a:cs typeface="黑体" panose="02010609060101010101" charset="-122"/>
              </a:rPr>
              <a:t>配置复查</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7057390" cy="3487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确认测试的一个重要内容是复查软件配置，其目的是保证软件配置的所有成分都齐全，质量符合要求，文档和程序完全一致，具有完成软件维护所必须的细节，而且已经编好</a:t>
            </a:r>
            <a:r>
              <a:rPr lang="zh-CN" altLang="en-US" sz="2000" dirty="0">
                <a:solidFill>
                  <a:schemeClr val="tx1"/>
                </a:solidFill>
                <a:latin typeface="黑体" panose="02010609060101010101" charset="-122"/>
                <a:ea typeface="黑体" panose="02010609060101010101" charset="-122"/>
                <a:cs typeface="黑体" panose="02010609060101010101" charset="-122"/>
              </a:rPr>
              <a:t>目录。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软件配置审查</a:t>
            </a:r>
            <a:r>
              <a:rPr lang="en-US" altLang="zh-CN" sz="2000" dirty="0">
                <a:solidFill>
                  <a:schemeClr val="tx1"/>
                </a:solidFill>
                <a:latin typeface="黑体" panose="02010609060101010101" charset="-122"/>
                <a:ea typeface="黑体" panose="02010609060101010101" charset="-122"/>
                <a:cs typeface="黑体" panose="02010609060101010101" charset="-122"/>
              </a:rPr>
              <a:t>——</a:t>
            </a:r>
            <a:r>
              <a:rPr lang="zh-CN" altLang="en-US" sz="2000" dirty="0">
                <a:solidFill>
                  <a:schemeClr val="tx1"/>
                </a:solidFill>
                <a:latin typeface="黑体" panose="02010609060101010101" charset="-122"/>
                <a:ea typeface="黑体" panose="02010609060101010101" charset="-122"/>
                <a:cs typeface="黑体" panose="02010609060101010101" charset="-122"/>
              </a:rPr>
              <a:t>指软件工程过程中所产生的所有信息项:文档、报告、程序、表格、数据。随着软件工程过程的进展软件配置项( SCI software ConfigurationItem)快速增加和变化。应复査SCI是否齐全。</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58883" y="299656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solidFill>
                  <a:schemeClr val="tx1"/>
                </a:solidFill>
                <a:latin typeface="黑体" panose="02010609060101010101" charset="-122"/>
                <a:ea typeface="黑体" panose="02010609060101010101" charset="-122"/>
                <a:cs typeface="黑体" panose="02010609060101010101" charset="-122"/>
              </a:rPr>
              <a:t>确认测试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7.5.3Alpha</a:t>
            </a:r>
            <a:r>
              <a:rPr lang="zh-CN" altLang="en-US" sz="2800" dirty="0">
                <a:solidFill>
                  <a:schemeClr val="tx1"/>
                </a:solidFill>
                <a:latin typeface="黑体" panose="02010609060101010101" charset="-122"/>
                <a:ea typeface="黑体" panose="02010609060101010101" charset="-122"/>
                <a:cs typeface="黑体" panose="02010609060101010101" charset="-122"/>
              </a:rPr>
              <a:t>和</a:t>
            </a:r>
            <a:r>
              <a:rPr lang="en-US" altLang="zh-CN" sz="2800" dirty="0">
                <a:solidFill>
                  <a:schemeClr val="tx1"/>
                </a:solidFill>
                <a:latin typeface="黑体" panose="02010609060101010101" charset="-122"/>
                <a:ea typeface="黑体" panose="02010609060101010101" charset="-122"/>
                <a:cs typeface="黑体" panose="02010609060101010101" charset="-122"/>
              </a:rPr>
              <a:t>Beta</a:t>
            </a:r>
            <a:r>
              <a:rPr lang="zh-CN" altLang="en-US" sz="2800" dirty="0">
                <a:solidFill>
                  <a:schemeClr val="tx1"/>
                </a:solidFill>
                <a:latin typeface="黑体" panose="02010609060101010101" charset="-122"/>
                <a:ea typeface="黑体" panose="02010609060101010101" charset="-122"/>
                <a:cs typeface="黑体" panose="02010609060101010101" charset="-122"/>
              </a:rPr>
              <a:t>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7057390" cy="3487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α测试即为非正式验收测试，β</a:t>
            </a:r>
            <a:r>
              <a:rPr lang="zh-CN" altLang="en-US" sz="2000" dirty="0">
                <a:solidFill>
                  <a:schemeClr val="tx1"/>
                </a:solidFill>
                <a:latin typeface="黑体" panose="02010609060101010101" charset="-122"/>
                <a:ea typeface="黑体" panose="02010609060101010101" charset="-122"/>
                <a:cs typeface="黑体" panose="02010609060101010101" charset="-122"/>
              </a:rPr>
              <a:t>测试是给用户进行测试。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Beta测试是软件产品完成了功能测试和系统测试之后，在产品发布之前所进行的软件测试活动，它是技术测试的最后一个阶段。</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alpha测试简称“α测试”，可以从软件产品编码结束之时开始，或在模块(子系统)测试完成之后开始，也可以在确认测试过程中产品达到一定的稳定和可靠程度之后再开始。</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57251"/>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4932045" y="836930"/>
            <a:ext cx="4165600" cy="2245360"/>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grpSp>
        <p:nvGrpSpPr>
          <p:cNvPr id="18" name="组合 17"/>
          <p:cNvGrpSpPr>
            <a:grpSpLocks noChangeAspect="1"/>
          </p:cNvGrpSpPr>
          <p:nvPr>
            <p:custDataLst>
              <p:tags r:id="rId3"/>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4"/>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5"/>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3" name="文本框 2"/>
          <p:cNvSpPr txBox="1"/>
          <p:nvPr>
            <p:custDataLst>
              <p:tags r:id="rId6"/>
            </p:custDataLst>
          </p:nvPr>
        </p:nvSpPr>
        <p:spPr>
          <a:xfrm>
            <a:off x="34925" y="116840"/>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5" name="文本框 4"/>
          <p:cNvSpPr txBox="1"/>
          <p:nvPr>
            <p:custDataLst>
              <p:tags r:id="rId7"/>
            </p:custDataLst>
          </p:nvPr>
        </p:nvSpPr>
        <p:spPr>
          <a:xfrm>
            <a:off x="1202690" y="952500"/>
            <a:ext cx="7628890" cy="38881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r>
              <a:rPr lang="zh-CN" sz="1800" b="1" dirty="0">
                <a:latin typeface="黑体" panose="02010609060101010101" charset="-122"/>
                <a:ea typeface="黑体" panose="02010609060101010101" charset="-122"/>
                <a:cs typeface="黑体" panose="02010609060101010101" charset="-122"/>
              </a:rPr>
              <a:t>概念</a:t>
            </a:r>
            <a:endParaRPr lang="zh-CN" sz="1800" b="1" dirty="0">
              <a:latin typeface="黑体" panose="02010609060101010101" charset="-122"/>
              <a:ea typeface="黑体" panose="02010609060101010101" charset="-122"/>
              <a:cs typeface="黑体" panose="02010609060101010101" charset="-122"/>
            </a:endParaRPr>
          </a:p>
          <a:p>
            <a:r>
              <a:rPr lang="zh-CN" sz="1800" dirty="0">
                <a:latin typeface="黑体" panose="02010609060101010101" charset="-122"/>
                <a:ea typeface="黑体" panose="02010609060101010101" charset="-122"/>
                <a:cs typeface="黑体" panose="02010609060101010101" charset="-122"/>
              </a:rPr>
              <a:t>基于应用代码的内部逻辑知识,即基于覆盖全部代码、分支、路径、条件,使用程序设计的控制结构导出测试用例。</a:t>
            </a:r>
            <a:endParaRPr lang="zh-CN" sz="1800" dirty="0">
              <a:latin typeface="黑体" panose="02010609060101010101" charset="-122"/>
              <a:ea typeface="黑体" panose="02010609060101010101" charset="-122"/>
              <a:cs typeface="黑体" panose="02010609060101010101" charset="-122"/>
            </a:endParaRPr>
          </a:p>
          <a:p>
            <a:endParaRPr lang="zh-CN" sz="1800" dirty="0">
              <a:latin typeface="黑体" panose="02010609060101010101" charset="-122"/>
              <a:ea typeface="黑体" panose="02010609060101010101" charset="-122"/>
              <a:cs typeface="黑体" panose="02010609060101010101" charset="-122"/>
            </a:endParaRPr>
          </a:p>
          <a:p>
            <a:r>
              <a:rPr lang="zh-CN" sz="1800" b="1" dirty="0">
                <a:latin typeface="黑体" panose="02010609060101010101" charset="-122"/>
                <a:ea typeface="黑体" panose="02010609060101010101" charset="-122"/>
                <a:cs typeface="黑体" panose="02010609060101010101" charset="-122"/>
              </a:rPr>
              <a:t>使用原则</a:t>
            </a:r>
            <a:endParaRPr lang="zh-CN" sz="1800" b="1" dirty="0">
              <a:latin typeface="黑体" panose="02010609060101010101" charset="-122"/>
              <a:ea typeface="黑体" panose="02010609060101010101" charset="-122"/>
              <a:cs typeface="黑体" panose="02010609060101010101" charset="-122"/>
            </a:endParaRPr>
          </a:p>
          <a:p>
            <a:r>
              <a:rPr lang="zh-CN" sz="1800" dirty="0">
                <a:latin typeface="黑体" panose="02010609060101010101" charset="-122"/>
                <a:ea typeface="黑体" panose="02010609060101010101" charset="-122"/>
                <a:cs typeface="黑体" panose="02010609060101010101" charset="-122"/>
              </a:rPr>
              <a:t>保证一个模块中所有独立路径至少被测试一次所有逻辑值均需要测试真假两种情况检查程序的内部数据结构,保证其结构的有效性在上、下边界及可操作范围内运行所有循环。</a:t>
            </a:r>
            <a:endParaRPr lang="zh-CN" sz="1800" dirty="0">
              <a:latin typeface="黑体" panose="02010609060101010101" charset="-122"/>
              <a:ea typeface="黑体" panose="02010609060101010101" charset="-122"/>
              <a:cs typeface="黑体" panose="02010609060101010101"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6943725" cy="3487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b="1" dirty="0">
                <a:solidFill>
                  <a:schemeClr val="tx1"/>
                </a:solidFill>
                <a:latin typeface="黑体" panose="02010609060101010101" charset="-122"/>
                <a:ea typeface="黑体" panose="02010609060101010101" charset="-122"/>
                <a:cs typeface="黑体" panose="02010609060101010101" charset="-122"/>
              </a:rPr>
              <a:t>关注点</a:t>
            </a:r>
            <a:endParaRPr lang="zh-CN" altLang="en-US" sz="2000" b="1"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条件判定表达式本身的复杂度,通过对程序逻辑结构的遍历来实现程序的覆盖。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b="1" dirty="0">
                <a:solidFill>
                  <a:schemeClr val="tx1"/>
                </a:solidFill>
                <a:latin typeface="黑体" panose="02010609060101010101" charset="-122"/>
                <a:ea typeface="黑体" panose="02010609060101010101" charset="-122"/>
                <a:cs typeface="黑体" panose="02010609060101010101" charset="-122"/>
              </a:rPr>
              <a:t>遵循的基本测试原则</a:t>
            </a:r>
            <a:endParaRPr lang="zh-CN" altLang="en-US" sz="2000" b="1"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对程序代码中所有的逻辑值均需要测试真值(True)和假值( False)的情况。</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694372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从覆盖源程序语句的详尽程度分析，大致有以下一些不同的</a:t>
            </a:r>
            <a:r>
              <a:rPr lang="zh-CN" altLang="en-US" sz="2000" dirty="0">
                <a:solidFill>
                  <a:schemeClr val="tx1"/>
                </a:solidFill>
                <a:latin typeface="黑体" panose="02010609060101010101" charset="-122"/>
                <a:ea typeface="黑体" panose="02010609060101010101" charset="-122"/>
                <a:cs typeface="黑体" panose="02010609060101010101" charset="-122"/>
              </a:rPr>
              <a:t>覆盖标准：</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语句覆盖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en-US" sz="2000" dirty="0">
                <a:solidFill>
                  <a:schemeClr val="tx1"/>
                </a:solidFill>
                <a:latin typeface="黑体" panose="02010609060101010101" charset="-122"/>
                <a:ea typeface="黑体" panose="02010609060101010101" charset="-122"/>
                <a:cs typeface="黑体" panose="02010609060101010101" charset="-122"/>
              </a:rPr>
              <a:t>判定覆盖</a:t>
            </a:r>
            <a:r>
              <a:rPr lang="en-US" altLang="zh-CN" sz="2000" dirty="0">
                <a:solidFill>
                  <a:schemeClr val="tx1"/>
                </a:solidFill>
                <a:latin typeface="黑体" panose="02010609060101010101" charset="-122"/>
                <a:ea typeface="黑体" panose="02010609060101010101" charset="-122"/>
                <a:cs typeface="黑体" panose="02010609060101010101" charset="-122"/>
              </a:rPr>
              <a:t>	</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3.</a:t>
            </a:r>
            <a:r>
              <a:rPr lang="zh-CN" altLang="en-US" sz="2000" dirty="0">
                <a:solidFill>
                  <a:schemeClr val="tx1"/>
                </a:solidFill>
                <a:latin typeface="黑体" panose="02010609060101010101" charset="-122"/>
                <a:ea typeface="黑体" panose="02010609060101010101" charset="-122"/>
                <a:cs typeface="黑体" panose="02010609060101010101" charset="-122"/>
              </a:rPr>
              <a:t>条件</a:t>
            </a:r>
            <a:r>
              <a:rPr lang="zh-CN" altLang="en-US" sz="2000" dirty="0">
                <a:solidFill>
                  <a:schemeClr val="tx1"/>
                </a:solidFill>
                <a:latin typeface="黑体" panose="02010609060101010101" charset="-122"/>
                <a:ea typeface="黑体" panose="02010609060101010101" charset="-122"/>
                <a:cs typeface="黑体" panose="02010609060101010101" charset="-122"/>
              </a:rPr>
              <a:t>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4.</a:t>
            </a:r>
            <a:r>
              <a:rPr lang="zh-CN" altLang="en-US" sz="2000" dirty="0">
                <a:solidFill>
                  <a:schemeClr val="tx1"/>
                </a:solidFill>
                <a:latin typeface="黑体" panose="02010609060101010101" charset="-122"/>
                <a:ea typeface="黑体" panose="02010609060101010101" charset="-122"/>
                <a:cs typeface="黑体" panose="02010609060101010101" charset="-122"/>
              </a:rPr>
              <a:t>判定</a:t>
            </a:r>
            <a:r>
              <a:rPr lang="en-US" altLang="zh-CN" sz="2000" dirty="0">
                <a:solidFill>
                  <a:schemeClr val="tx1"/>
                </a:solidFill>
                <a:latin typeface="黑体" panose="02010609060101010101" charset="-122"/>
                <a:ea typeface="黑体" panose="02010609060101010101" charset="-122"/>
                <a:cs typeface="黑体" panose="02010609060101010101" charset="-122"/>
              </a:rPr>
              <a:t>/</a:t>
            </a:r>
            <a:r>
              <a:rPr lang="zh-CN" altLang="en-US" sz="2000" dirty="0">
                <a:solidFill>
                  <a:schemeClr val="tx1"/>
                </a:solidFill>
                <a:latin typeface="黑体" panose="02010609060101010101" charset="-122"/>
                <a:ea typeface="黑体" panose="02010609060101010101" charset="-122"/>
                <a:cs typeface="黑体" panose="02010609060101010101" charset="-122"/>
              </a:rPr>
              <a:t>条件</a:t>
            </a:r>
            <a:r>
              <a:rPr lang="zh-CN" altLang="en-US" sz="2000" dirty="0">
                <a:solidFill>
                  <a:schemeClr val="tx1"/>
                </a:solidFill>
                <a:latin typeface="黑体" panose="02010609060101010101" charset="-122"/>
                <a:ea typeface="黑体" panose="02010609060101010101" charset="-122"/>
                <a:cs typeface="黑体" panose="02010609060101010101" charset="-122"/>
              </a:rPr>
              <a:t>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5.</a:t>
            </a:r>
            <a:r>
              <a:rPr lang="zh-CN" altLang="en-US" sz="2000" dirty="0">
                <a:latin typeface="黑体" panose="02010609060101010101" charset="-122"/>
                <a:ea typeface="黑体" panose="02010609060101010101" charset="-122"/>
                <a:cs typeface="黑体" panose="02010609060101010101" charset="-122"/>
                <a:sym typeface="+mn-ea"/>
              </a:rPr>
              <a:t>条件组合覆盖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9"/>
            </p:custDataLst>
          </p:nvPr>
        </p:nvSpPr>
        <p:spPr>
          <a:xfrm>
            <a:off x="4859655" y="2852420"/>
            <a:ext cx="4673600" cy="430720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6.</a:t>
            </a:r>
            <a:r>
              <a:rPr lang="zh-CN" altLang="en-US" sz="2000" dirty="0">
                <a:latin typeface="黑体" panose="02010609060101010101" charset="-122"/>
                <a:ea typeface="黑体" panose="02010609060101010101" charset="-122"/>
                <a:cs typeface="黑体" panose="02010609060101010101" charset="-122"/>
                <a:sym typeface="+mn-ea"/>
              </a:rPr>
              <a:t>点覆盖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7.</a:t>
            </a:r>
            <a:r>
              <a:rPr lang="zh-CN" altLang="en-US" sz="2000" dirty="0">
                <a:latin typeface="黑体" panose="02010609060101010101" charset="-122"/>
                <a:ea typeface="黑体" panose="02010609060101010101" charset="-122"/>
                <a:cs typeface="黑体" panose="02010609060101010101" charset="-122"/>
                <a:sym typeface="+mn-ea"/>
              </a:rPr>
              <a:t>边覆盖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8.</a:t>
            </a:r>
            <a:r>
              <a:rPr lang="zh-CN" altLang="en-US" sz="2000" dirty="0">
                <a:latin typeface="黑体" panose="02010609060101010101" charset="-122"/>
                <a:ea typeface="黑体" panose="02010609060101010101" charset="-122"/>
                <a:cs typeface="黑体" panose="02010609060101010101" charset="-122"/>
                <a:sym typeface="+mn-ea"/>
              </a:rPr>
              <a:t>路径覆盖</a:t>
            </a:r>
            <a:endParaRPr lang="zh-CN" altLang="en-US" sz="2000" dirty="0">
              <a:latin typeface="黑体" panose="02010609060101010101" charset="-122"/>
              <a:ea typeface="黑体" panose="02010609060101010101" charset="-122"/>
              <a:cs typeface="黑体" panose="02010609060101010101"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5560" y="1484630"/>
            <a:ext cx="4862830"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语句覆盖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编写足够的测试情况,使得每条语句全少执行一次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编写一个通过路径ace的单个测试情况</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在a点A=2;B=0和X=3</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en-US" sz="2000" dirty="0">
                <a:solidFill>
                  <a:schemeClr val="tx1"/>
                </a:solidFill>
                <a:latin typeface="黑体" panose="02010609060101010101" charset="-122"/>
                <a:ea typeface="黑体" panose="02010609060101010101" charset="-122"/>
                <a:cs typeface="黑体" panose="02010609060101010101" charset="-122"/>
              </a:rPr>
              <a:t>判定覆盖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编写足够的测试情况,使得每个判定至少有次“真”和一次“假”的结果</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每个分支方向都必须至少经过一次</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要在程序或子程序的每个入口点至少进入一次</a:t>
            </a:r>
            <a:endParaRPr lang="en-US" altLang="zh-CN"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pic>
        <p:nvPicPr>
          <p:cNvPr id="100" name="图片 99"/>
          <p:cNvPicPr/>
          <p:nvPr/>
        </p:nvPicPr>
        <p:blipFill>
          <a:blip r:embed="rId9"/>
          <a:stretch>
            <a:fillRect/>
          </a:stretch>
        </p:blipFill>
        <p:spPr>
          <a:xfrm>
            <a:off x="4800600" y="836295"/>
            <a:ext cx="4343400" cy="4438650"/>
          </a:xfrm>
          <a:prstGeom prst="rect">
            <a:avLst/>
          </a:prstGeom>
          <a:noFill/>
          <a:ln w="9525">
            <a:noFill/>
          </a:ln>
        </p:spPr>
      </p:pic>
    </p:spTree>
    <p:custDataLst>
      <p:tags r:id="rId1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5560" y="1484630"/>
            <a:ext cx="4862830"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3.</a:t>
            </a:r>
            <a:r>
              <a:rPr lang="zh-CN" altLang="en-US" sz="2000" dirty="0">
                <a:latin typeface="黑体" panose="02010609060101010101" charset="-122"/>
                <a:ea typeface="黑体" panose="02010609060101010101" charset="-122"/>
                <a:cs typeface="黑体" panose="02010609060101010101" charset="-122"/>
                <a:sym typeface="+mn-ea"/>
              </a:rPr>
              <a:t>条件覆盖</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编写足够的测试情况,使得判定中每个条件的所有可能结果至少出现一次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要在程序或子程序的每个入口点至少进入一次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优点:显然条件覆盖比判定覆盖,增加了对符合判定情况的测试,增加了测试路径。</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缺点:要达到条件覆盖,需要足够多的测试用例,但条件覆盖并不能保证判定覆盖。条件覆盖只能保证每个条件至少有一次为真,而不考虑所有的判定结果</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9"/>
            </p:custDataLst>
          </p:nvPr>
        </p:nvSpPr>
        <p:spPr>
          <a:xfrm>
            <a:off x="4898390" y="908685"/>
            <a:ext cx="419417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4.</a:t>
            </a:r>
            <a:r>
              <a:rPr lang="zh-CN" altLang="en-US" sz="2000" dirty="0">
                <a:latin typeface="黑体" panose="02010609060101010101" charset="-122"/>
                <a:ea typeface="黑体" panose="02010609060101010101" charset="-122"/>
                <a:cs typeface="黑体" panose="02010609060101010101" charset="-122"/>
                <a:sym typeface="+mn-ea"/>
              </a:rPr>
              <a:t>判定</a:t>
            </a:r>
            <a:r>
              <a:rPr lang="en-US" altLang="zh-CN" sz="2000" dirty="0">
                <a:latin typeface="黑体" panose="02010609060101010101" charset="-122"/>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条件覆盖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编写足够的测试情况,使得判定中每个条件的所有可能结果至少出现一次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每个判定本身所有可能结果也至少出现一次口</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同时每个入口点至少要进入一次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优点:判定/条件覆盖满足判定覆盖准则和条件覆盖准则,弥补了二者的不足。</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缺点:判定/条件覆盖准则的缺点是未考虑条件的组合情况。</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587375" y="1484630"/>
            <a:ext cx="8249920"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5.</a:t>
            </a:r>
            <a:r>
              <a:rPr lang="zh-CN" altLang="en-US" sz="2000" dirty="0">
                <a:latin typeface="黑体" panose="02010609060101010101" charset="-122"/>
                <a:ea typeface="黑体" panose="02010609060101010101" charset="-122"/>
                <a:cs typeface="黑体" panose="02010609060101010101" charset="-122"/>
                <a:sym typeface="+mn-ea"/>
              </a:rPr>
              <a:t>条件</a:t>
            </a:r>
            <a:r>
              <a:rPr lang="zh-CN" altLang="en-US" sz="2000" dirty="0">
                <a:latin typeface="黑体" panose="02010609060101010101" charset="-122"/>
                <a:ea typeface="黑体" panose="02010609060101010101" charset="-122"/>
                <a:cs typeface="黑体" panose="02010609060101010101" charset="-122"/>
                <a:sym typeface="+mn-ea"/>
              </a:rPr>
              <a:t>组合覆盖</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要写出足够的测试情况,以使判定的每条分支至少通过一次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编写是够的测试情况,使得每个判定判定中条件结果的所有可能组合至少出现一次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所有的入口点都至少进入一次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优点:满足判定覆盖、条件覆盖和判定/条件覆盖准则。判定中每个条件的所有可能结果至少出现一次。并且每个条件都显示能单独影响判定结果</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缺点:线性地增加了测试用例的数量</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694372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对从程序路径的覆盖程度分析，能够提出下述一些主要的逻辑覆盖</a:t>
            </a:r>
            <a:r>
              <a:rPr lang="zh-CN" altLang="en-US" sz="2000" dirty="0">
                <a:solidFill>
                  <a:schemeClr val="tx1"/>
                </a:solidFill>
                <a:latin typeface="黑体" panose="02010609060101010101" charset="-122"/>
                <a:ea typeface="黑体" panose="02010609060101010101" charset="-122"/>
                <a:cs typeface="黑体" panose="02010609060101010101" charset="-122"/>
              </a:rPr>
              <a:t>标准：</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6.</a:t>
            </a:r>
            <a:r>
              <a:rPr lang="zh-CN" altLang="en-US" sz="2000" dirty="0">
                <a:latin typeface="黑体" panose="02010609060101010101" charset="-122"/>
                <a:ea typeface="黑体" panose="02010609060101010101" charset="-122"/>
                <a:cs typeface="黑体" panose="02010609060101010101" charset="-122"/>
                <a:sym typeface="+mn-ea"/>
              </a:rPr>
              <a:t>点覆盖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7.</a:t>
            </a:r>
            <a:r>
              <a:rPr lang="zh-CN" altLang="en-US" sz="2000" dirty="0">
                <a:latin typeface="黑体" panose="02010609060101010101" charset="-122"/>
                <a:ea typeface="黑体" panose="02010609060101010101" charset="-122"/>
                <a:cs typeface="黑体" panose="02010609060101010101" charset="-122"/>
                <a:sym typeface="+mn-ea"/>
              </a:rPr>
              <a:t>边覆盖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8.</a:t>
            </a:r>
            <a:r>
              <a:rPr lang="zh-CN" altLang="en-US" sz="2000" dirty="0">
                <a:latin typeface="黑体" panose="02010609060101010101" charset="-122"/>
                <a:ea typeface="黑体" panose="02010609060101010101" charset="-122"/>
                <a:cs typeface="黑体" panose="02010609060101010101" charset="-122"/>
                <a:sym typeface="+mn-ea"/>
              </a:rPr>
              <a:t>路径覆盖</a:t>
            </a:r>
            <a:endParaRPr lang="zh-CN" altLang="en-US" sz="2000" dirty="0">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5560" y="1484630"/>
            <a:ext cx="463232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6.</a:t>
            </a:r>
            <a:r>
              <a:rPr lang="zh-CN" altLang="en-US" sz="2000" dirty="0">
                <a:latin typeface="黑体" panose="02010609060101010101" charset="-122"/>
                <a:ea typeface="黑体" panose="02010609060101010101" charset="-122"/>
                <a:cs typeface="黑体" panose="02010609060101010101" charset="-122"/>
                <a:sym typeface="+mn-ea"/>
              </a:rPr>
              <a:t>点覆盖</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程序执行路径至少流过流图中的每个结点一次。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x=5 y=0 a=0（路径：sabcde）</a:t>
            </a:r>
            <a:r>
              <a:rPr lang="en-US" altLang="zh-CN" sz="2000" dirty="0">
                <a:solidFill>
                  <a:schemeClr val="tx1"/>
                </a:solidFill>
                <a:latin typeface="黑体" panose="02010609060101010101" charset="-122"/>
                <a:ea typeface="黑体" panose="02010609060101010101" charset="-122"/>
                <a:cs typeface="黑体" panose="02010609060101010101" charset="-122"/>
              </a:rPr>
              <a:t>	</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9"/>
            </p:custDataLst>
          </p:nvPr>
        </p:nvSpPr>
        <p:spPr>
          <a:xfrm>
            <a:off x="35560" y="3500755"/>
            <a:ext cx="419417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sz="2000" dirty="0">
                <a:latin typeface="黑体" panose="02010609060101010101" charset="-122"/>
                <a:ea typeface="黑体" panose="02010609060101010101" charset="-122"/>
                <a:cs typeface="黑体" panose="02010609060101010101" charset="-122"/>
                <a:sym typeface="+mn-ea"/>
              </a:rPr>
              <a:t>7、边覆盖</a:t>
            </a:r>
            <a:endParaRPr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sz="2000" dirty="0">
                <a:latin typeface="黑体" panose="02010609060101010101" charset="-122"/>
                <a:ea typeface="黑体" panose="02010609060101010101" charset="-122"/>
                <a:cs typeface="黑体" panose="02010609060101010101" charset="-122"/>
                <a:sym typeface="+mn-ea"/>
              </a:rPr>
              <a:t>程序执行路径至少流过流图中的每条边一次。</a:t>
            </a:r>
            <a:endParaRPr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sz="2000" dirty="0">
                <a:latin typeface="黑体" panose="02010609060101010101" charset="-122"/>
                <a:ea typeface="黑体" panose="02010609060101010101" charset="-122"/>
                <a:cs typeface="黑体" panose="02010609060101010101" charset="-122"/>
                <a:sym typeface="+mn-ea"/>
              </a:rPr>
              <a:t>x=5 y=0 a=5 （路径：sabcde）</a:t>
            </a:r>
            <a:endParaRPr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sz="2000" dirty="0">
                <a:latin typeface="黑体" panose="02010609060101010101" charset="-122"/>
                <a:ea typeface="黑体" panose="02010609060101010101" charset="-122"/>
                <a:cs typeface="黑体" panose="02010609060101010101" charset="-122"/>
                <a:sym typeface="+mn-ea"/>
              </a:rPr>
              <a:t>满足：x＞1，y=0，x=5，a≠2</a:t>
            </a:r>
            <a:endParaRPr sz="2000" dirty="0">
              <a:latin typeface="黑体" panose="02010609060101010101" charset="-122"/>
              <a:ea typeface="黑体" panose="02010609060101010101" charset="-122"/>
              <a:cs typeface="黑体" panose="02010609060101010101" charset="-122"/>
              <a:sym typeface="+mn-ea"/>
            </a:endParaRPr>
          </a:p>
        </p:txBody>
      </p:sp>
      <p:pic>
        <p:nvPicPr>
          <p:cNvPr id="101" name="图片 100"/>
          <p:cNvPicPr/>
          <p:nvPr/>
        </p:nvPicPr>
        <p:blipFill>
          <a:blip r:embed="rId10"/>
          <a:stretch>
            <a:fillRect/>
          </a:stretch>
        </p:blipFill>
        <p:spPr>
          <a:xfrm>
            <a:off x="4715510" y="980440"/>
            <a:ext cx="4343400" cy="4438650"/>
          </a:xfrm>
          <a:prstGeom prst="rect">
            <a:avLst/>
          </a:prstGeom>
          <a:noFill/>
          <a:ln w="9525">
            <a:noFill/>
          </a:ln>
        </p:spPr>
      </p:pic>
    </p:spTree>
    <p:custDataLst>
      <p:tags r:id="rId1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7.6.1</a:t>
            </a:r>
            <a:r>
              <a:rPr lang="zh-CN" altLang="en-US" sz="2800" dirty="0">
                <a:solidFill>
                  <a:schemeClr val="tx1"/>
                </a:solidFill>
                <a:latin typeface="黑体" panose="02010609060101010101" charset="-122"/>
                <a:ea typeface="黑体" panose="02010609060101010101" charset="-122"/>
                <a:cs typeface="黑体" panose="02010609060101010101" charset="-122"/>
              </a:rPr>
              <a:t>逻辑</a:t>
            </a:r>
            <a:r>
              <a:rPr lang="zh-CN" altLang="en-US" sz="2800" dirty="0">
                <a:solidFill>
                  <a:schemeClr val="tx1"/>
                </a:solidFill>
                <a:latin typeface="黑体" panose="02010609060101010101" charset="-122"/>
                <a:ea typeface="黑体" panose="02010609060101010101" charset="-122"/>
                <a:cs typeface="黑体" panose="02010609060101010101" charset="-122"/>
              </a:rPr>
              <a:t>覆盖</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587375" y="1484630"/>
            <a:ext cx="4128770"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8.</a:t>
            </a:r>
            <a:r>
              <a:rPr lang="zh-CN" altLang="en-US" sz="2000" dirty="0">
                <a:latin typeface="黑体" panose="02010609060101010101" charset="-122"/>
                <a:ea typeface="黑体" panose="02010609060101010101" charset="-122"/>
                <a:cs typeface="黑体" panose="02010609060101010101" charset="-122"/>
                <a:sym typeface="+mn-ea"/>
              </a:rPr>
              <a:t>路径覆盖</a:t>
            </a:r>
            <a:endParaRPr lang="zh-CN" altLang="en-US" sz="2000" dirty="0">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程序中的每条可能的路径都至少执行一次。</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可能路径：</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1、sace</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2、sacde</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3、sabce</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4、sabcde</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
        <p:nvSpPr>
          <p:cNvPr id="4" name="文本框 3"/>
          <p:cNvSpPr txBox="1"/>
          <p:nvPr>
            <p:custDataLst>
              <p:tags r:id="rId9"/>
            </p:custDataLst>
          </p:nvPr>
        </p:nvSpPr>
        <p:spPr>
          <a:xfrm>
            <a:off x="2339975" y="2996565"/>
            <a:ext cx="566864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测试用例：</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1、x=0 y=1 a=3</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2、x=1 y=1 a=2</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3、x=2 y=0 a=5</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latin typeface="黑体" panose="02010609060101010101" charset="-122"/>
                <a:ea typeface="黑体" panose="02010609060101010101" charset="-122"/>
                <a:cs typeface="黑体" panose="02010609060101010101" charset="-122"/>
                <a:sym typeface="+mn-ea"/>
              </a:rPr>
              <a:t>4、x=5 y=0 a=5</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pic>
        <p:nvPicPr>
          <p:cNvPr id="101" name="图片 100"/>
          <p:cNvPicPr/>
          <p:nvPr/>
        </p:nvPicPr>
        <p:blipFill>
          <a:blip r:embed="rId10"/>
          <a:stretch>
            <a:fillRect/>
          </a:stretch>
        </p:blipFill>
        <p:spPr>
          <a:xfrm>
            <a:off x="4716145" y="980440"/>
            <a:ext cx="4343400" cy="4438650"/>
          </a:xfrm>
          <a:prstGeom prst="rect">
            <a:avLst/>
          </a:prstGeom>
          <a:noFill/>
          <a:ln w="9525">
            <a:noFill/>
          </a:ln>
        </p:spPr>
      </p:pic>
    </p:spTree>
    <p:custDataLst>
      <p:tags r:id="rId11"/>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7.6.2</a:t>
            </a:r>
            <a:r>
              <a:rPr lang="zh-CN" altLang="en-US" sz="2800" dirty="0">
                <a:solidFill>
                  <a:schemeClr val="tx1"/>
                </a:solidFill>
                <a:latin typeface="黑体" panose="02010609060101010101" charset="-122"/>
                <a:ea typeface="黑体" panose="02010609060101010101" charset="-122"/>
                <a:cs typeface="黑体" panose="02010609060101010101" charset="-122"/>
              </a:rPr>
              <a:t>控制</a:t>
            </a:r>
            <a:r>
              <a:rPr lang="zh-CN" altLang="en-US" sz="2800" dirty="0">
                <a:solidFill>
                  <a:schemeClr val="tx1"/>
                </a:solidFill>
                <a:latin typeface="黑体" panose="02010609060101010101" charset="-122"/>
                <a:ea typeface="黑体" panose="02010609060101010101" charset="-122"/>
                <a:cs typeface="黑体" panose="02010609060101010101" charset="-122"/>
              </a:rPr>
              <a:t>结构测试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1475740" y="1744345"/>
            <a:ext cx="6943725" cy="348742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现在很多种白盒测试技术，是根据程序的控制结构设计测试数据的技术，下面介绍如下几种常用的控制结构</a:t>
            </a:r>
            <a:r>
              <a:rPr lang="zh-CN" altLang="en-US" sz="2000" dirty="0">
                <a:solidFill>
                  <a:schemeClr val="tx1"/>
                </a:solidFill>
                <a:latin typeface="黑体" panose="02010609060101010101" charset="-122"/>
                <a:ea typeface="黑体" panose="02010609060101010101" charset="-122"/>
                <a:cs typeface="黑体" panose="02010609060101010101" charset="-122"/>
              </a:rPr>
              <a:t>测试技术</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基本路径</a:t>
            </a:r>
            <a:r>
              <a:rPr lang="zh-CN" altLang="en-US" sz="2000" dirty="0">
                <a:solidFill>
                  <a:schemeClr val="tx1"/>
                </a:solidFill>
                <a:latin typeface="黑体" panose="02010609060101010101" charset="-122"/>
                <a:ea typeface="黑体" panose="02010609060101010101" charset="-122"/>
                <a:cs typeface="黑体" panose="02010609060101010101" charset="-122"/>
              </a:rPr>
              <a:t>测试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en-US" sz="2000" dirty="0">
                <a:solidFill>
                  <a:schemeClr val="tx1"/>
                </a:solidFill>
                <a:latin typeface="黑体" panose="02010609060101010101" charset="-122"/>
                <a:ea typeface="黑体" panose="02010609060101010101" charset="-122"/>
                <a:cs typeface="黑体" panose="02010609060101010101" charset="-122"/>
              </a:rPr>
              <a:t>条件</a:t>
            </a:r>
            <a:r>
              <a:rPr lang="zh-CN" altLang="en-US" sz="2000" dirty="0">
                <a:solidFill>
                  <a:schemeClr val="tx1"/>
                </a:solidFill>
                <a:latin typeface="黑体" panose="02010609060101010101" charset="-122"/>
                <a:ea typeface="黑体" panose="02010609060101010101" charset="-122"/>
                <a:cs typeface="黑体" panose="02010609060101010101" charset="-122"/>
              </a:rPr>
              <a:t>测试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3.</a:t>
            </a:r>
            <a:r>
              <a:rPr lang="zh-CN" altLang="en-US" sz="2000" dirty="0">
                <a:solidFill>
                  <a:schemeClr val="tx1"/>
                </a:solidFill>
                <a:latin typeface="黑体" panose="02010609060101010101" charset="-122"/>
                <a:ea typeface="黑体" panose="02010609060101010101" charset="-122"/>
                <a:cs typeface="黑体" panose="02010609060101010101" charset="-122"/>
              </a:rPr>
              <a:t>循环测试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7.6.2</a:t>
            </a:r>
            <a:r>
              <a:rPr lang="zh-CN" altLang="en-US" sz="2800" dirty="0">
                <a:latin typeface="黑体" panose="02010609060101010101" charset="-122"/>
                <a:ea typeface="黑体" panose="02010609060101010101" charset="-122"/>
                <a:cs typeface="黑体" panose="02010609060101010101" charset="-122"/>
                <a:sym typeface="+mn-ea"/>
              </a:rPr>
              <a:t>控制结构测试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1.</a:t>
            </a:r>
            <a:r>
              <a:rPr lang="zh-CN" altLang="en-US" sz="2000" dirty="0">
                <a:latin typeface="黑体" panose="02010609060101010101" charset="-122"/>
                <a:ea typeface="黑体" panose="02010609060101010101" charset="-122"/>
                <a:cs typeface="黑体" panose="02010609060101010101" charset="-122"/>
                <a:sym typeface="+mn-ea"/>
              </a:rPr>
              <a:t>基本路径测试</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基本路径测试法又称独立路径测试，是在程序控制流图的基础上，通过分析控制结构的环路复杂性，导出基本可执行路径集合，从而设计出相应的测试用例的方法。设计出的测试用例要保证在测试中程序的语句覆盖100%，条件覆盖100%。</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基本路径测试法包括以下4个步骤：</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(1) 根据过程设计结果画出相应</a:t>
            </a:r>
            <a:r>
              <a:rPr lang="zh-CN" altLang="en-US" sz="2000" dirty="0">
                <a:solidFill>
                  <a:schemeClr val="tx1"/>
                </a:solidFill>
                <a:latin typeface="黑体" panose="02010609060101010101" charset="-122"/>
                <a:ea typeface="黑体" panose="02010609060101010101" charset="-122"/>
                <a:cs typeface="黑体" panose="02010609060101010101" charset="-122"/>
              </a:rPr>
              <a:t>的流图；</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(2) 计算流图的环形</a:t>
            </a:r>
            <a:r>
              <a:rPr lang="zh-CN" altLang="en-US" sz="2000" dirty="0">
                <a:solidFill>
                  <a:schemeClr val="tx1"/>
                </a:solidFill>
                <a:latin typeface="黑体" panose="02010609060101010101" charset="-122"/>
                <a:ea typeface="黑体" panose="02010609060101010101" charset="-122"/>
                <a:cs typeface="黑体" panose="02010609060101010101" charset="-122"/>
              </a:rPr>
              <a:t>复杂度；</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(3) 确定线性独立路径</a:t>
            </a:r>
            <a:r>
              <a:rPr lang="zh-CN" altLang="en-US" sz="2000" dirty="0">
                <a:solidFill>
                  <a:schemeClr val="tx1"/>
                </a:solidFill>
                <a:latin typeface="黑体" panose="02010609060101010101" charset="-122"/>
                <a:ea typeface="黑体" panose="02010609060101010101" charset="-122"/>
                <a:cs typeface="黑体" panose="02010609060101010101" charset="-122"/>
              </a:rPr>
              <a:t>的基本集合；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(4) 设计可强制执行基本集合中每条路径</a:t>
            </a:r>
            <a:r>
              <a:rPr lang="zh-CN" altLang="en-US" sz="2000" dirty="0">
                <a:solidFill>
                  <a:schemeClr val="tx1"/>
                </a:solidFill>
                <a:latin typeface="黑体" panose="02010609060101010101" charset="-122"/>
                <a:ea typeface="黑体" panose="02010609060101010101" charset="-122"/>
                <a:cs typeface="黑体" panose="02010609060101010101" charset="-122"/>
              </a:rPr>
              <a:t>的测试用例；</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7.6.2</a:t>
            </a:r>
            <a:r>
              <a:rPr lang="zh-CN" altLang="en-US" sz="2800" dirty="0">
                <a:latin typeface="黑体" panose="02010609060101010101" charset="-122"/>
                <a:ea typeface="黑体" panose="02010609060101010101" charset="-122"/>
                <a:cs typeface="黑体" panose="02010609060101010101" charset="-122"/>
                <a:sym typeface="+mn-ea"/>
              </a:rPr>
              <a:t>控制结构测试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2.</a:t>
            </a:r>
            <a:r>
              <a:rPr lang="zh-CN" altLang="en-US" sz="2000" dirty="0">
                <a:latin typeface="黑体" panose="02010609060101010101" charset="-122"/>
                <a:ea typeface="黑体" panose="02010609060101010101" charset="-122"/>
                <a:cs typeface="黑体" panose="02010609060101010101" charset="-122"/>
                <a:sym typeface="+mn-ea"/>
              </a:rPr>
              <a:t>条件测试</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条件测试是检查程序模块中包含逻辑条件的测试用例设计方法。(逻辑条件就是非,&lt;,&gt;,=等等)。</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条件测试能发现以下类型的错误：</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布尔操作符错误：操作符遗漏、多余或者不正确，指&amp;、|、! 运用错误。</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布尔变量错误：例如 (x&gt;y)写出(x&gt;z)。</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布尔括弧错误：例如 (x+y)*z少些括弧变成x+y*z。</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关系操作符错误：例如 x&gt;y写出x&gt;=y。</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算术表达式错误：例如 x*y写成xy。</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7.6.2</a:t>
            </a:r>
            <a:r>
              <a:rPr lang="zh-CN" altLang="en-US" sz="2800" dirty="0">
                <a:latin typeface="黑体" panose="02010609060101010101" charset="-122"/>
                <a:ea typeface="黑体" panose="02010609060101010101" charset="-122"/>
                <a:cs typeface="黑体" panose="02010609060101010101" charset="-122"/>
                <a:sym typeface="+mn-ea"/>
              </a:rPr>
              <a:t>控制结构测试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2.</a:t>
            </a:r>
            <a:r>
              <a:rPr lang="zh-CN" altLang="en-US" sz="2000" dirty="0">
                <a:latin typeface="黑体" panose="02010609060101010101" charset="-122"/>
                <a:ea typeface="黑体" panose="02010609060101010101" charset="-122"/>
                <a:cs typeface="黑体" panose="02010609060101010101" charset="-122"/>
                <a:sym typeface="+mn-ea"/>
              </a:rPr>
              <a:t>条件测试</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条件测试优点：</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条件测试的覆盖率度量最简单。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2.</a:t>
            </a:r>
            <a:r>
              <a:rPr lang="zh-CN" altLang="en-US" sz="2000" dirty="0">
                <a:solidFill>
                  <a:schemeClr val="tx1"/>
                </a:solidFill>
                <a:latin typeface="黑体" panose="02010609060101010101" charset="-122"/>
                <a:ea typeface="黑体" panose="02010609060101010101" charset="-122"/>
                <a:cs typeface="黑体" panose="02010609060101010101" charset="-122"/>
              </a:rPr>
              <a:t>程序的各个条件测试覆盖率为产生另外的程序测试提供了指导。</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条件测试策略：</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1. 分支测试(最简单的条件测试)</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2. 穷举测试（条件组合）</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3. BRO策略：</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1906" y="836296"/>
            <a:ext cx="9145906" cy="3453051"/>
          </a:xfrm>
          <a:prstGeom prst="rect">
            <a:avLst/>
          </a:prstGeom>
          <a:solidFill>
            <a:srgbClr val="FFFFFF">
              <a:lumMod val="95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7" name="任意多边形: 形状 16"/>
          <p:cNvSpPr/>
          <p:nvPr>
            <p:custDataLst>
              <p:tags r:id="rId2"/>
            </p:custDataLst>
          </p:nvPr>
        </p:nvSpPr>
        <p:spPr>
          <a:xfrm>
            <a:off x="3707448" y="3068956"/>
            <a:ext cx="5384801" cy="3453051"/>
          </a:xfrm>
          <a:custGeom>
            <a:avLst/>
            <a:gdLst>
              <a:gd name="connsiteX0" fmla="*/ 1164431 w 6780657"/>
              <a:gd name="connsiteY0" fmla="*/ 0 h 4657725"/>
              <a:gd name="connsiteX1" fmla="*/ 6780657 w 6780657"/>
              <a:gd name="connsiteY1" fmla="*/ 0 h 4657725"/>
              <a:gd name="connsiteX2" fmla="*/ 6780657 w 6780657"/>
              <a:gd name="connsiteY2" fmla="*/ 4657725 h 4657725"/>
              <a:gd name="connsiteX3" fmla="*/ 0 w 6780657"/>
              <a:gd name="connsiteY3" fmla="*/ 4657725 h 4657725"/>
            </a:gdLst>
            <a:ahLst/>
            <a:cxnLst>
              <a:cxn ang="0">
                <a:pos x="connsiteX0" y="connsiteY0"/>
              </a:cxn>
              <a:cxn ang="0">
                <a:pos x="connsiteX1" y="connsiteY1"/>
              </a:cxn>
              <a:cxn ang="0">
                <a:pos x="connsiteX2" y="connsiteY2"/>
              </a:cxn>
              <a:cxn ang="0">
                <a:pos x="connsiteX3" y="connsiteY3"/>
              </a:cxn>
            </a:cxnLst>
            <a:rect l="l" t="t" r="r" b="b"/>
            <a:pathLst>
              <a:path w="6780657" h="4657725">
                <a:moveTo>
                  <a:pt x="1164431" y="0"/>
                </a:moveTo>
                <a:lnTo>
                  <a:pt x="6780657" y="0"/>
                </a:lnTo>
                <a:lnTo>
                  <a:pt x="6780657" y="4657725"/>
                </a:lnTo>
                <a:lnTo>
                  <a:pt x="0" y="4657725"/>
                </a:lnTo>
                <a:close/>
              </a:path>
            </a:pathLst>
          </a:custGeom>
          <a:solidFill>
            <a:srgbClr val="FFFFFF">
              <a:lumMod val="85000"/>
              <a:alpha val="50000"/>
            </a:srgbClr>
          </a:solidFill>
          <a:ln>
            <a:noFill/>
          </a:ln>
        </p:spPr>
        <p:style>
          <a:lnRef idx="2">
            <a:srgbClr val="1D6DC2">
              <a:shade val="50000"/>
            </a:srgbClr>
          </a:lnRef>
          <a:fillRef idx="1">
            <a:srgbClr val="1D6DC2"/>
          </a:fillRef>
          <a:effectRef idx="0">
            <a:srgbClr val="1D6DC2"/>
          </a:effectRef>
          <a:fontRef idx="minor">
            <a:srgbClr val="FFFFFF"/>
          </a:fontRef>
        </p:style>
        <p:txBody>
          <a:bodyPr rtlCol="0" anchor="ctr"/>
          <a:lstStyle/>
          <a:p>
            <a:pPr algn="ctr"/>
            <a:endParaRPr kumimoji="1" lang="zh-CN" altLang="en-US" sz="1200" b="1">
              <a:solidFill>
                <a:srgbClr val="FFFFFF"/>
              </a:solidFill>
              <a:latin typeface="微软雅黑" panose="020B0503020204020204" charset="-122"/>
            </a:endParaRPr>
          </a:p>
        </p:txBody>
      </p:sp>
      <p:sp>
        <p:nvSpPr>
          <p:cNvPr id="14" name="文本框 13"/>
          <p:cNvSpPr txBox="1"/>
          <p:nvPr>
            <p:custDataLst>
              <p:tags r:id="rId3"/>
            </p:custDataLst>
          </p:nvPr>
        </p:nvSpPr>
        <p:spPr>
          <a:xfrm>
            <a:off x="251460" y="188595"/>
            <a:ext cx="3860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zh-CN" altLang="en-US" sz="2800" dirty="0">
                <a:latin typeface="黑体" panose="02010609060101010101" charset="-122"/>
                <a:ea typeface="黑体" panose="02010609060101010101" charset="-122"/>
                <a:cs typeface="黑体" panose="02010609060101010101" charset="-122"/>
                <a:sym typeface="+mn-ea"/>
              </a:rPr>
              <a:t>白盒测试技术</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grpSp>
        <p:nvGrpSpPr>
          <p:cNvPr id="18" name="组合 17"/>
          <p:cNvGrpSpPr>
            <a:grpSpLocks noChangeAspect="1"/>
          </p:cNvGrpSpPr>
          <p:nvPr>
            <p:custDataLst>
              <p:tags r:id="rId4"/>
            </p:custDataLst>
          </p:nvPr>
        </p:nvGrpSpPr>
        <p:grpSpPr>
          <a:xfrm>
            <a:off x="587111" y="1820168"/>
            <a:ext cx="540000" cy="471206"/>
            <a:chOff x="1168400" y="1347856"/>
            <a:chExt cx="723913" cy="631688"/>
          </a:xfrm>
          <a:solidFill>
            <a:srgbClr val="FFFFFF">
              <a:lumMod val="85000"/>
              <a:alpha val="50000"/>
            </a:srgbClr>
          </a:solidFill>
        </p:grpSpPr>
        <p:sp>
          <p:nvSpPr>
            <p:cNvPr id="19" name="任意多边形: 形状 18"/>
            <p:cNvSpPr>
              <a:spLocks noChangeAspect="1"/>
            </p:cNvSpPr>
            <p:nvPr>
              <p:custDataLst>
                <p:tags r:id="rId5"/>
              </p:custDataLst>
            </p:nvPr>
          </p:nvSpPr>
          <p:spPr>
            <a:xfrm>
              <a:off x="1168400"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sp>
          <p:nvSpPr>
            <p:cNvPr id="20" name="任意多边形: 形状 19"/>
            <p:cNvSpPr>
              <a:spLocks noChangeAspect="1"/>
            </p:cNvSpPr>
            <p:nvPr>
              <p:custDataLst>
                <p:tags r:id="rId6"/>
              </p:custDataLst>
            </p:nvPr>
          </p:nvSpPr>
          <p:spPr>
            <a:xfrm>
              <a:off x="1581018" y="1347856"/>
              <a:ext cx="311295" cy="631688"/>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a:noFill/>
            </a:ln>
          </p:spPr>
          <p:style>
            <a:lnRef idx="2">
              <a:srgbClr val="1D6DC2">
                <a:shade val="50000"/>
              </a:srgbClr>
            </a:lnRef>
            <a:fillRef idx="1">
              <a:srgbClr val="1D6DC2"/>
            </a:fillRef>
            <a:effectRef idx="0">
              <a:srgbClr val="1D6DC2"/>
            </a:effectRef>
            <a:fontRef idx="minor">
              <a:srgbClr val="FFFFFF"/>
            </a:fontRef>
          </p:style>
          <p:txBody>
            <a:bodyPr wrap="square" rtlCol="0" anchor="ctr">
              <a:noAutofit/>
            </a:bodyPr>
            <a:lstStyle/>
            <a:p>
              <a:pPr algn="ctr"/>
              <a:endParaRPr lang="zh-CN" altLang="en-US" sz="1350"/>
            </a:p>
          </p:txBody>
        </p:sp>
      </p:grpSp>
      <p:sp>
        <p:nvSpPr>
          <p:cNvPr id="2" name="文本框 1"/>
          <p:cNvSpPr txBox="1"/>
          <p:nvPr>
            <p:custDataLst>
              <p:tags r:id="rId7"/>
            </p:custDataLst>
          </p:nvPr>
        </p:nvSpPr>
        <p:spPr>
          <a:xfrm>
            <a:off x="611505" y="908685"/>
            <a:ext cx="4368800" cy="83566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800" dirty="0">
                <a:solidFill>
                  <a:schemeClr val="tx1"/>
                </a:solidFill>
                <a:latin typeface="黑体" panose="02010609060101010101" charset="-122"/>
                <a:ea typeface="黑体" panose="02010609060101010101" charset="-122"/>
                <a:cs typeface="黑体" panose="02010609060101010101" charset="-122"/>
              </a:rPr>
              <a:t>7.6.2</a:t>
            </a:r>
            <a:r>
              <a:rPr lang="zh-CN" altLang="en-US" sz="2800" dirty="0">
                <a:latin typeface="黑体" panose="02010609060101010101" charset="-122"/>
                <a:ea typeface="黑体" panose="02010609060101010101" charset="-122"/>
                <a:cs typeface="黑体" panose="02010609060101010101" charset="-122"/>
                <a:sym typeface="+mn-ea"/>
              </a:rPr>
              <a:t>控制结构测试</a:t>
            </a:r>
            <a:endParaRPr lang="zh-CN" altLang="en-US" sz="28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endParaRPr lang="zh-CN" altLang="en-US" sz="2800" dirty="0">
              <a:solidFill>
                <a:schemeClr val="tx1"/>
              </a:solidFill>
              <a:latin typeface="黑体" panose="02010609060101010101" charset="-122"/>
              <a:ea typeface="黑体" panose="02010609060101010101" charset="-122"/>
              <a:cs typeface="黑体" panose="02010609060101010101" charset="-122"/>
            </a:endParaRPr>
          </a:p>
        </p:txBody>
      </p:sp>
      <p:sp>
        <p:nvSpPr>
          <p:cNvPr id="3" name="文本框 2"/>
          <p:cNvSpPr txBox="1"/>
          <p:nvPr>
            <p:custDataLst>
              <p:tags r:id="rId8"/>
            </p:custDataLst>
          </p:nvPr>
        </p:nvSpPr>
        <p:spPr>
          <a:xfrm>
            <a:off x="323215" y="1484630"/>
            <a:ext cx="8768715" cy="487489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a:buFont typeface="Wingdings" panose="05000000000000000000" charset="0"/>
            </a:pPr>
            <a:r>
              <a:rPr lang="en-US" altLang="zh-CN" sz="2000" dirty="0">
                <a:latin typeface="黑体" panose="02010609060101010101" charset="-122"/>
                <a:ea typeface="黑体" panose="02010609060101010101" charset="-122"/>
                <a:cs typeface="黑体" panose="02010609060101010101" charset="-122"/>
                <a:sym typeface="+mn-ea"/>
              </a:rPr>
              <a:t>3.</a:t>
            </a:r>
            <a:r>
              <a:rPr lang="zh-CN" altLang="en-US" sz="2000" dirty="0">
                <a:latin typeface="黑体" panose="02010609060101010101" charset="-122"/>
                <a:ea typeface="黑体" panose="02010609060101010101" charset="-122"/>
                <a:cs typeface="黑体" panose="02010609060101010101" charset="-122"/>
                <a:sym typeface="+mn-ea"/>
              </a:rPr>
              <a:t>循环测试</a:t>
            </a:r>
            <a:endParaRPr lang="zh-CN" altLang="en-US" sz="2000" dirty="0">
              <a:latin typeface="黑体" panose="02010609060101010101" charset="-122"/>
              <a:ea typeface="黑体" panose="02010609060101010101" charset="-122"/>
              <a:cs typeface="黑体" panose="02010609060101010101" charset="-122"/>
              <a:sym typeface="+mn-ea"/>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循环测试的目的就是检査循环结构的有效性。</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循环测试是一种白盒测试技术,它专注于测试循环结构的有效性。</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zh-CN" altLang="en-US" sz="2000" dirty="0">
                <a:solidFill>
                  <a:schemeClr val="tx1"/>
                </a:solidFill>
                <a:latin typeface="黑体" panose="02010609060101010101" charset="-122"/>
                <a:ea typeface="黑体" panose="02010609060101010101" charset="-122"/>
                <a:cs typeface="黑体" panose="02010609060101010101" charset="-122"/>
              </a:rPr>
              <a:t>在结构化的程序中通常只有3种循环,即</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a:p>
            <a:pPr>
              <a:buFont typeface="Wingdings" panose="05000000000000000000" charset="0"/>
            </a:pPr>
            <a:r>
              <a:rPr lang="en-US" altLang="zh-CN" sz="2000" dirty="0">
                <a:solidFill>
                  <a:schemeClr val="tx1"/>
                </a:solidFill>
                <a:latin typeface="黑体" panose="02010609060101010101" charset="-122"/>
                <a:ea typeface="黑体" panose="02010609060101010101" charset="-122"/>
                <a:cs typeface="黑体" panose="02010609060101010101" charset="-122"/>
              </a:rPr>
              <a:t>1</a:t>
            </a:r>
            <a:r>
              <a:rPr lang="zh-CN" altLang="en-US" sz="2000" dirty="0">
                <a:solidFill>
                  <a:schemeClr val="tx1"/>
                </a:solidFill>
                <a:latin typeface="黑体" panose="02010609060101010101" charset="-122"/>
                <a:ea typeface="黑体" panose="02010609060101010101" charset="-122"/>
                <a:cs typeface="黑体" panose="02010609060101010101" charset="-122"/>
              </a:rPr>
              <a:t>简单循环</a:t>
            </a:r>
            <a:r>
              <a:rPr lang="en-US" altLang="zh-CN" sz="2000" dirty="0">
                <a:solidFill>
                  <a:schemeClr val="tx1"/>
                </a:solidFill>
                <a:latin typeface="黑体" panose="02010609060101010101" charset="-122"/>
                <a:ea typeface="黑体" panose="02010609060101010101" charset="-122"/>
                <a:cs typeface="黑体" panose="02010609060101010101" charset="-122"/>
              </a:rPr>
              <a:t>   2</a:t>
            </a:r>
            <a:r>
              <a:rPr lang="zh-CN" altLang="en-US" sz="2000" dirty="0">
                <a:solidFill>
                  <a:schemeClr val="tx1"/>
                </a:solidFill>
                <a:latin typeface="黑体" panose="02010609060101010101" charset="-122"/>
                <a:ea typeface="黑体" panose="02010609060101010101" charset="-122"/>
                <a:cs typeface="黑体" panose="02010609060101010101" charset="-122"/>
              </a:rPr>
              <a:t>串接循环</a:t>
            </a:r>
            <a:r>
              <a:rPr lang="en-US" altLang="zh-CN" sz="2000" dirty="0">
                <a:solidFill>
                  <a:schemeClr val="tx1"/>
                </a:solidFill>
                <a:latin typeface="黑体" panose="02010609060101010101" charset="-122"/>
                <a:ea typeface="黑体" panose="02010609060101010101" charset="-122"/>
                <a:cs typeface="黑体" panose="02010609060101010101" charset="-122"/>
              </a:rPr>
              <a:t>   3</a:t>
            </a:r>
            <a:r>
              <a:rPr lang="zh-CN" altLang="en-US" sz="2000" dirty="0">
                <a:solidFill>
                  <a:schemeClr val="tx1"/>
                </a:solidFill>
                <a:latin typeface="黑体" panose="02010609060101010101" charset="-122"/>
                <a:ea typeface="黑体" panose="02010609060101010101" charset="-122"/>
                <a:cs typeface="黑体" panose="02010609060101010101" charset="-122"/>
              </a:rPr>
              <a:t>嵌套循环</a:t>
            </a:r>
            <a:endParaRPr lang="zh-CN" altLang="en-US" sz="2000" dirty="0">
              <a:solidFill>
                <a:schemeClr val="tx1"/>
              </a:solidFill>
              <a:latin typeface="黑体" panose="02010609060101010101" charset="-122"/>
              <a:ea typeface="黑体" panose="02010609060101010101" charset="-122"/>
              <a:cs typeface="黑体" panose="02010609060101010101"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1073" name="组合 25"/>
          <p:cNvGrpSpPr/>
          <p:nvPr/>
        </p:nvGrpSpPr>
        <p:grpSpPr>
          <a:xfrm>
            <a:off x="684213" y="825500"/>
            <a:ext cx="7775575" cy="5207000"/>
            <a:chOff x="975533" y="0"/>
            <a:chExt cx="10240934" cy="6858000"/>
          </a:xfrm>
        </p:grpSpPr>
        <p:sp>
          <p:nvSpPr>
            <p:cNvPr id="23" name="任意多边形: 形状 22"/>
            <p:cNvSpPr/>
            <p:nvPr>
              <p:custDataLst>
                <p:tags r:id="rId1"/>
              </p:custDataLst>
            </p:nvPr>
          </p:nvSpPr>
          <p:spPr>
            <a:xfrm>
              <a:off x="2412733" y="0"/>
              <a:ext cx="7366534" cy="6858000"/>
            </a:xfrm>
            <a:custGeom>
              <a:avLst/>
              <a:gdLst>
                <a:gd name="connsiteX0" fmla="*/ 2338804 w 7366534"/>
                <a:gd name="connsiteY0" fmla="*/ 0 h 6858000"/>
                <a:gd name="connsiteX1" fmla="*/ 5027730 w 7366534"/>
                <a:gd name="connsiteY1" fmla="*/ 0 h 6858000"/>
                <a:gd name="connsiteX2" fmla="*/ 5116961 w 7366534"/>
                <a:gd name="connsiteY2" fmla="*/ 35183 h 6858000"/>
                <a:gd name="connsiteX3" fmla="*/ 7366534 w 7366534"/>
                <a:gd name="connsiteY3" fmla="*/ 3429000 h 6858000"/>
                <a:gd name="connsiteX4" fmla="*/ 5116961 w 7366534"/>
                <a:gd name="connsiteY4" fmla="*/ 6822818 h 6858000"/>
                <a:gd name="connsiteX5" fmla="*/ 5027731 w 7366534"/>
                <a:gd name="connsiteY5" fmla="*/ 6858000 h 6858000"/>
                <a:gd name="connsiteX6" fmla="*/ 2338804 w 7366534"/>
                <a:gd name="connsiteY6" fmla="*/ 6858000 h 6858000"/>
                <a:gd name="connsiteX7" fmla="*/ 2249574 w 7366534"/>
                <a:gd name="connsiteY7" fmla="*/ 6822818 h 6858000"/>
                <a:gd name="connsiteX8" fmla="*/ 0 w 7366534"/>
                <a:gd name="connsiteY8" fmla="*/ 3429000 h 6858000"/>
                <a:gd name="connsiteX9" fmla="*/ 2249574 w 7366534"/>
                <a:gd name="connsiteY9" fmla="*/ 35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66534" h="6858000">
                  <a:moveTo>
                    <a:pt x="2338804" y="0"/>
                  </a:moveTo>
                  <a:lnTo>
                    <a:pt x="5027730" y="0"/>
                  </a:lnTo>
                  <a:lnTo>
                    <a:pt x="5116961" y="35183"/>
                  </a:lnTo>
                  <a:cubicBezTo>
                    <a:pt x="6438941" y="594333"/>
                    <a:pt x="7366534" y="1903341"/>
                    <a:pt x="7366534" y="3429000"/>
                  </a:cubicBezTo>
                  <a:cubicBezTo>
                    <a:pt x="7366534" y="4954659"/>
                    <a:pt x="6438941" y="6263667"/>
                    <a:pt x="5116961" y="6822818"/>
                  </a:cubicBezTo>
                  <a:lnTo>
                    <a:pt x="5027731" y="6858000"/>
                  </a:lnTo>
                  <a:lnTo>
                    <a:pt x="2338804" y="6858000"/>
                  </a:lnTo>
                  <a:lnTo>
                    <a:pt x="2249574" y="6822818"/>
                  </a:lnTo>
                  <a:cubicBezTo>
                    <a:pt x="927594" y="6263667"/>
                    <a:pt x="0" y="4954659"/>
                    <a:pt x="0" y="3429000"/>
                  </a:cubicBezTo>
                  <a:cubicBezTo>
                    <a:pt x="0" y="1903341"/>
                    <a:pt x="927594" y="594333"/>
                    <a:pt x="2249574" y="35183"/>
                  </a:cubicBezTo>
                  <a:close/>
                </a:path>
              </a:pathLst>
            </a:cu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just" fontAlgn="base">
                <a:lnSpc>
                  <a:spcPct val="120000"/>
                </a:lnSpc>
              </a:pPr>
              <a:endParaRPr lang="zh-CN" altLang="en-US" sz="1350" strike="noStrike" noProof="1" dirty="0">
                <a:latin typeface="微软雅黑" panose="020B0503020204020204" charset="-122"/>
                <a:ea typeface="微软雅黑" panose="020B0503020204020204" charset="-122"/>
              </a:endParaRPr>
            </a:p>
          </p:txBody>
        </p:sp>
        <p:sp>
          <p:nvSpPr>
            <p:cNvPr id="25" name="任意多边形: 形状 24"/>
            <p:cNvSpPr/>
            <p:nvPr>
              <p:custDataLst>
                <p:tags r:id="rId2"/>
              </p:custDataLst>
            </p:nvPr>
          </p:nvSpPr>
          <p:spPr>
            <a:xfrm>
              <a:off x="975533" y="0"/>
              <a:ext cx="10240934" cy="6858000"/>
            </a:xfrm>
            <a:custGeom>
              <a:avLst/>
              <a:gdLst>
                <a:gd name="connsiteX0" fmla="*/ 1318176 w 10240934"/>
                <a:gd name="connsiteY0" fmla="*/ 0 h 6858000"/>
                <a:gd name="connsiteX1" fmla="*/ 8922758 w 10240934"/>
                <a:gd name="connsiteY1" fmla="*/ 0 h 6858000"/>
                <a:gd name="connsiteX2" fmla="*/ 9071668 w 10240934"/>
                <a:gd name="connsiteY2" fmla="*/ 171908 h 6858000"/>
                <a:gd name="connsiteX3" fmla="*/ 10240934 w 10240934"/>
                <a:gd name="connsiteY3" fmla="*/ 3429000 h 6858000"/>
                <a:gd name="connsiteX4" fmla="*/ 9071668 w 10240934"/>
                <a:gd name="connsiteY4" fmla="*/ 6686093 h 6858000"/>
                <a:gd name="connsiteX5" fmla="*/ 8922758 w 10240934"/>
                <a:gd name="connsiteY5" fmla="*/ 6858000 h 6858000"/>
                <a:gd name="connsiteX6" fmla="*/ 1318176 w 10240934"/>
                <a:gd name="connsiteY6" fmla="*/ 6858000 h 6858000"/>
                <a:gd name="connsiteX7" fmla="*/ 1169266 w 10240934"/>
                <a:gd name="connsiteY7" fmla="*/ 6686093 h 6858000"/>
                <a:gd name="connsiteX8" fmla="*/ 0 w 10240934"/>
                <a:gd name="connsiteY8" fmla="*/ 3429000 h 6858000"/>
                <a:gd name="connsiteX9" fmla="*/ 1169266 w 10240934"/>
                <a:gd name="connsiteY9" fmla="*/ 171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40934" h="6858000">
                  <a:moveTo>
                    <a:pt x="1318176" y="0"/>
                  </a:moveTo>
                  <a:lnTo>
                    <a:pt x="8922758" y="0"/>
                  </a:lnTo>
                  <a:lnTo>
                    <a:pt x="9071668" y="171908"/>
                  </a:lnTo>
                  <a:cubicBezTo>
                    <a:pt x="9802133" y="1057026"/>
                    <a:pt x="10240934" y="2191769"/>
                    <a:pt x="10240934" y="3429000"/>
                  </a:cubicBezTo>
                  <a:cubicBezTo>
                    <a:pt x="10240934" y="4666231"/>
                    <a:pt x="9802133" y="5800974"/>
                    <a:pt x="9071668" y="6686093"/>
                  </a:cubicBezTo>
                  <a:lnTo>
                    <a:pt x="8922758" y="6858000"/>
                  </a:lnTo>
                  <a:lnTo>
                    <a:pt x="1318176" y="6858000"/>
                  </a:lnTo>
                  <a:lnTo>
                    <a:pt x="1169266" y="6686093"/>
                  </a:lnTo>
                  <a:cubicBezTo>
                    <a:pt x="438801" y="5800974"/>
                    <a:pt x="0" y="4666231"/>
                    <a:pt x="0" y="3429000"/>
                  </a:cubicBezTo>
                  <a:cubicBezTo>
                    <a:pt x="0" y="2191769"/>
                    <a:pt x="438801" y="1057026"/>
                    <a:pt x="1169266" y="171908"/>
                  </a:cubicBezTo>
                  <a:close/>
                </a:path>
              </a:pathLst>
            </a:cu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just" fontAlgn="base">
                <a:lnSpc>
                  <a:spcPct val="120000"/>
                </a:lnSpc>
              </a:pPr>
              <a:endParaRPr lang="zh-CN" altLang="en-US" sz="1350" strike="noStrike" noProof="1" dirty="0">
                <a:latin typeface="微软雅黑" panose="020B0503020204020204" charset="-122"/>
                <a:ea typeface="微软雅黑" panose="020B0503020204020204" charset="-122"/>
              </a:endParaRPr>
            </a:p>
          </p:txBody>
        </p:sp>
      </p:grpSp>
      <p:sp>
        <p:nvSpPr>
          <p:cNvPr id="5" name="椭圆 4"/>
          <p:cNvSpPr/>
          <p:nvPr>
            <p:custDataLst>
              <p:tags r:id="rId3"/>
            </p:custDataLst>
          </p:nvPr>
        </p:nvSpPr>
        <p:spPr>
          <a:xfrm>
            <a:off x="2809875" y="1666875"/>
            <a:ext cx="3524250" cy="3524250"/>
          </a:xfrm>
          <a:prstGeom prst="ellipse">
            <a:avLst/>
          </a:prstGeom>
          <a:noFill/>
          <a:ln>
            <a:solidFill>
              <a:sysClr val="window" lastClr="FFFFFF">
                <a:lumMod val="95000"/>
              </a:sysClr>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normAutofit/>
          </a:bodyPr>
          <a:p>
            <a:pPr algn="ctr" fontAlgn="base">
              <a:lnSpc>
                <a:spcPct val="120000"/>
              </a:lnSpc>
            </a:pPr>
            <a:endParaRPr lang="zh-CN" altLang="en-US" sz="1350" strike="noStrike" noProof="1">
              <a:latin typeface="微软雅黑" panose="020B0503020204020204" charset="-122"/>
              <a:ea typeface="微软雅黑" panose="020B0503020204020204" charset="-122"/>
            </a:endParaRPr>
          </a:p>
        </p:txBody>
      </p:sp>
      <p:sp>
        <p:nvSpPr>
          <p:cNvPr id="2" name="文本框 1"/>
          <p:cNvSpPr txBox="1"/>
          <p:nvPr/>
        </p:nvSpPr>
        <p:spPr>
          <a:xfrm>
            <a:off x="3779838" y="2997200"/>
            <a:ext cx="2476500" cy="830263"/>
          </a:xfrm>
          <a:prstGeom prst="rect">
            <a:avLst/>
          </a:prstGeom>
          <a:noFill/>
        </p:spPr>
        <p:txBody>
          <a:bodyPr wrap="square" rtlCol="0" anchor="t">
            <a:spAutoFit/>
          </a:bodyPr>
          <a:p>
            <a:pPr>
              <a:spcAft>
                <a:spcPts val="800"/>
              </a:spcAft>
            </a:pPr>
            <a:r>
              <a:rPr lang="zh-CN" altLang="en-US" sz="4800" spc="300" noProof="1" dirty="0">
                <a:solidFill>
                  <a:schemeClr val="tx1">
                    <a:lumMod val="85000"/>
                    <a:lumOff val="15000"/>
                  </a:scheme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rPr>
              <a:t>谢谢</a:t>
            </a:r>
            <a:endParaRPr lang="zh-CN" altLang="en-US" sz="4800" spc="300" noProof="1" dirty="0">
              <a:solidFill>
                <a:schemeClr val="tx1">
                  <a:lumMod val="85000"/>
                  <a:lumOff val="15000"/>
                </a:schemeClr>
              </a:solidFill>
              <a:latin typeface="Arial" panose="020B0604020202020204" pitchFamily="34" charset="0"/>
              <a:ea typeface="微软雅黑" panose="020B0503020204020204" charset="-122"/>
              <a:cs typeface="微软雅黑" panose="020B0503020204020204" charset="-122"/>
              <a:sym typeface="Arial" panose="020B0604020202020204" pitchFamily="34" charset="0"/>
            </a:endParaRPr>
          </a:p>
        </p:txBody>
      </p:sp>
    </p:spTree>
    <p:custDataLst>
      <p:tags r:id="rId4"/>
    </p:custDataLst>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4"/>
  <p:tag name="KSO_WM_UNIT_ID" val="diagram20194877_1*i*4"/>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xml><?xml version="1.0" encoding="utf-8"?>
<p:tagLst xmlns:p="http://schemas.openxmlformats.org/presentationml/2006/main">
  <p:tag name="KSO_WM_UNIT_ISCONTENTSTITLE" val="0"/>
  <p:tag name="KSO_WM_UNIT_PRESET_TEXT" val="单击此处&#13;添加大标题内容"/>
  <p:tag name="KSO_WM_UNIT_TEXT_PART_ID" val="5-X"/>
  <p:tag name="KSO_WM_UNIT_TEXT_PART_SIZE" val="92.4*403"/>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4877_1*a*1"/>
  <p:tag name="KSO_WM_TEMPLATE_CATEGORY" val="diagram"/>
  <p:tag name="KSO_WM_TEMPLATE_INDEX" val="20194877"/>
  <p:tag name="KSO_WM_UNIT_LAYERLEVEL" val="1"/>
  <p:tag name="KSO_WM_TAG_VERSION" val="1.0"/>
  <p:tag name="KSO_WM_BEAUTIFY_FLAG" val="#wm#"/>
  <p:tag name="KSO_WM_UNIT_NOCLEAR" val="0"/>
  <p:tag name="KSO_WM_DIAGRAM_GROUP_CODE" val="ζ1-1"/>
  <p:tag name="KSO_WM_UNIT_TEXT_PART_ID_V2" val="a-2-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1.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3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39.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4"/>
  <p:tag name="KSO_WM_UNIT_ID" val="diagram20194877_1*i*4"/>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5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5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4"/>
  <p:tag name="KSO_WM_UNIT_ID" val="diagram20194877_1*i*4"/>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5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6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6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4.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7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8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9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92.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9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9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0.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0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09.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1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1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2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2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2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2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3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3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38.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4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4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47.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5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5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6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6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7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8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4.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5.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88.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3.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4.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197.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2.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3.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06.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2.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diagram20194877_1*i*1"/>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2"/>
  <p:tag name="KSO_WM_UNIT_ID" val="diagram20194877_1*i*2"/>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14"/>
  <p:tag name="KSO_WM_UNIT_TEXT_FILL_TYPE" val="1"/>
  <p:tag name="KSO_WM_UNIT_USESOURCEFORMAT_APPLY" val="1"/>
</p:tagLst>
</file>

<file path=ppt/tags/tag215.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6"/>
  <p:tag name="KSO_WM_UNIT_ID" val="diagram20194877_1*i*6"/>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7"/>
  <p:tag name="KSO_WM_UNIT_ID" val="diagram20194877_1*i*7"/>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8"/>
  <p:tag name="KSO_WM_UNIT_ID" val="diagram20194877_1*i*8"/>
  <p:tag name="KSO_WM_TEMPLATE_CATEGORY" val="diagram"/>
  <p:tag name="KSO_WM_TEMPLATE_INDEX" val="20194877"/>
  <p:tag name="KSO_WM_UNIT_LAYERLEVEL" val="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219.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0.xml><?xml version="1.0" encoding="utf-8"?>
<p:tagLst xmlns:p="http://schemas.openxmlformats.org/presentationml/2006/main">
  <p:tag name="KSO_WM_UNIT_TEXT_PART_ID" val="4-b"/>
  <p:tag name="KSO_WM_UNIT_TEXT_PART_SIZE" val="84.88*854.5"/>
  <p:tag name="KSO_WM_UNIT_VALUE" val="156"/>
  <p:tag name="KSO_WM_UNIT_HIGHLIGHT" val="0"/>
  <p:tag name="KSO_WM_UNIT_COMPATIBLE" val="0"/>
  <p:tag name="KSO_WM_UNIT_DIAGRAM_ISNUMVISUAL" val="0"/>
  <p:tag name="KSO_WM_UNIT_DIAGRAM_ISREFERUNIT" val="0"/>
  <p:tag name="KSO_WM_UNIT_ID" val="diagram20194877_1*h_f*1_1"/>
  <p:tag name="KSO_WM_TEMPLATE_CATEGORY" val="diagram"/>
  <p:tag name="KSO_WM_TEMPLATE_INDEX" val="20194877"/>
  <p:tag name="KSO_WM_UNIT_LAYERLEVEL" val="1_1"/>
  <p:tag name="KSO_WM_TAG_VERSION" val="1.0"/>
  <p:tag name="KSO_WM_BEAUTIFY_FLAG" val="#wm#"/>
  <p:tag name="KSO_WM_UNIT_PRESET_TEXT" val="点击此处添加正文，文字是您思想的提炼，为了最终呈现发布的良好效果，请尽量言简意赅的阐述观点；根据需要可酌情增减文字，以便观者可以准确理解您所传达的信息。即便信息错综复杂，需要用更多的文字来表述，也请您尽可能提炼思想的精髓，恰如其分的表达观点，往往事半功倍。"/>
  <p:tag name="KSO_WM_UNIT_TYPE" val="h_f"/>
  <p:tag name="KSO_WM_UNIT_INDEX" val="1_1"/>
  <p:tag name="KSO_WM_UNIT_NOCLEAR" val="0"/>
  <p:tag name="KSO_WM_DIAGRAM_GROUP_CODE" val="ζ1-1"/>
  <p:tag name="KSO_WM_UNIT_TEXT_PART_ID_V2" val="d-4-1"/>
  <p:tag name="KSO_WM_UNIT_TEXT_FILL_FORE_SCHEMECOLOR_INDEX" val="13"/>
  <p:tag name="KSO_WM_UNIT_TEXT_FILL_TYPE" val="1"/>
  <p:tag name="KSO_WM_UNIT_USESOURCEFORMAT_APPLY" val="1"/>
</p:tagLst>
</file>

<file path=ppt/tags/tag221.xml><?xml version="1.0" encoding="utf-8"?>
<p:tagLst xmlns:p="http://schemas.openxmlformats.org/presentationml/2006/main">
  <p:tag name="KSO_WM_SLIDE_ID" val="diagram20194877_1"/>
  <p:tag name="KSO_WM_TEMPLATE_SUBCATEGORY" val="6"/>
  <p:tag name="KSO_WM_SLIDE_ITEM_CNT" val="1"/>
  <p:tag name="KSO_WM_SLIDE_INDEX" val="1"/>
  <p:tag name="KSO_WM_SLIDE_DIAGTYPE" val="ζ"/>
  <p:tag name="KSO_WM_TAG_VERSION" val="1.0"/>
  <p:tag name="KSO_WM_BEAUTIFY_FLAG" val="#wm#"/>
  <p:tag name="KSO_WM_TEMPLATE_CATEGORY" val="diagram"/>
  <p:tag name="KSO_WM_TEMPLATE_INDEX" val="20194877"/>
  <p:tag name="KSO_WM_SLIDE_LAYOUT" val="a_d_h_ζ"/>
  <p:tag name="KSO_WM_SLIDE_LAYOUT_CNT" val="1_1_1_1"/>
  <p:tag name="KSO_WM_SLIDE_TYPE" val="text"/>
  <p:tag name="KSO_WM_SLIDE_SUBTYPE" val="picTxt"/>
  <p:tag name="KSO_WM_SLIDE_SIZE" val="854.5*443.119"/>
  <p:tag name="KSO_WM_SLIDE_POSITION" val="52.75*56.126"/>
  <p:tag name="KSO_WM_DIAGRAM_GROUP_CODE" val="ζ1-1"/>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3"/>
  <p:tag name="KSO_WM_TEMPLATE_CATEGORY" val="diagram"/>
  <p:tag name="KSO_WM_TEMPLATE_INDEX" val="20201613"/>
  <p:tag name="KSO_WM_UNIT_LAYERLEVEL" val="1"/>
  <p:tag name="KSO_WM_TAG_VERSION" val="1.0"/>
  <p:tag name="KSO_WM_BEAUTIFY_FLAG" val="#wm#"/>
  <p:tag name="KSO_WM_UNIT_TYPE" val="i"/>
  <p:tag name="KSO_WM_UNIT_INDEX" val="3"/>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4"/>
  <p:tag name="KSO_WM_TEMPLATE_CATEGORY" val="diagram"/>
  <p:tag name="KSO_WM_TEMPLATE_INDEX" val="20201613"/>
  <p:tag name="KSO_WM_UNIT_LAYERLEVEL" val="1"/>
  <p:tag name="KSO_WM_TAG_VERSION" val="1.0"/>
  <p:tag name="KSO_WM_BEAUTIFY_FLAG" val="#wm#"/>
  <p:tag name="KSO_WM_UNIT_TYPE" val="i"/>
  <p:tag name="KSO_WM_UNIT_INDEX" val="4"/>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1613_1*i*5"/>
  <p:tag name="KSO_WM_TEMPLATE_CATEGORY" val="diagram"/>
  <p:tag name="KSO_WM_TEMPLATE_INDEX" val="20201613"/>
  <p:tag name="KSO_WM_UNIT_LAYERLEVEL" val="1"/>
  <p:tag name="KSO_WM_TAG_VERSION" val="1.0"/>
  <p:tag name="KSO_WM_BEAUTIFY_FLAG" val="#wm#"/>
  <p:tag name="KSO_WM_UNIT_TYPE" val="i"/>
  <p:tag name="KSO_WM_UNIT_INDEX" val="5"/>
</p:tagLst>
</file>

<file path=ppt/tags/tag225.xml><?xml version="1.0" encoding="utf-8"?>
<p:tagLst xmlns:p="http://schemas.openxmlformats.org/presentationml/2006/main">
  <p:tag name="KSO_WM_SLIDE_ID" val="diagram20201613_1"/>
  <p:tag name="KSO_WM_TEMPLATE_SUBCATEGORY" val="0"/>
  <p:tag name="KSO_WM_SLIDE_TYPE" val="text"/>
  <p:tag name="KSO_WM_SLIDE_SUBTYPE" val="diag"/>
  <p:tag name="KSO_WM_SLIDE_ITEM_CNT" val="0"/>
  <p:tag name="KSO_WM_SLIDE_INDEX" val="1"/>
  <p:tag name="KSO_WM_SLIDE_SIZE" val="854*546"/>
  <p:tag name="KSO_WM_SLIDE_POSITION" val="71*-3"/>
  <p:tag name="KSO_WM_TAG_VERSION" val="1.0"/>
  <p:tag name="KSO_WM_BEAUTIFY_FLAG" val="#wm#"/>
  <p:tag name="KSO_WM_TEMPLATE_CATEGORY" val="diagram"/>
  <p:tag name="KSO_WM_TEMPLATE_INDEX" val="20201613"/>
  <p:tag name="KSO_WM_SLIDE_LAYOUT" val="a_d_f"/>
  <p:tag name="KSO_WM_SLIDE_LAYOUT_CNT" val="1_1_2"/>
</p:tagLst>
</file>

<file path=ppt/tags/tag226.xml><?xml version="1.0" encoding="utf-8"?>
<p:tagLst xmlns:p="http://schemas.openxmlformats.org/presentationml/2006/main">
  <p:tag name="COMMONDATA" val="eyJoZGlkIjoiNmVjZjQxZDYwYmE2OGZlNGVlZjE2N2NhNWU1MjczMTcifQ=="/>
  <p:tag name="KSO_WPP_MARK_KEY" val="c2a9c131-d783-4698-8b70-4756e70de055"/>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3491</Words>
  <Application>WPS 演示</Application>
  <PresentationFormat/>
  <Paragraphs>282</Paragraphs>
  <Slides>26</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26</vt:i4>
      </vt:variant>
    </vt:vector>
  </HeadingPairs>
  <TitlesOfParts>
    <vt:vector size="37" baseType="lpstr">
      <vt:lpstr>Arial</vt:lpstr>
      <vt:lpstr>宋体</vt:lpstr>
      <vt:lpstr>Wingdings</vt:lpstr>
      <vt:lpstr>微软雅黑</vt:lpstr>
      <vt:lpstr>黑体</vt:lpstr>
      <vt:lpstr>Wingdings</vt:lpstr>
      <vt:lpstr>Arial Unicode MS</vt:lpstr>
      <vt:lpstr>Calibri</vt:lpstr>
      <vt:lpstr>默认设计模板</vt:lpstr>
      <vt:lpstr>1_默认设计模板</vt:lpstr>
      <vt:lpstr>2_默认设计模板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jjddn</dc:creator>
  <cp:lastModifiedBy>leeout</cp:lastModifiedBy>
  <cp:revision>20</cp:revision>
  <dcterms:created xsi:type="dcterms:W3CDTF">2022-10-30T13:20:00Z</dcterms:created>
  <dcterms:modified xsi:type="dcterms:W3CDTF">2022-11-29T04:00:10Z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4DC3AED9A2454AD09C81CB048738E86D</vt:lpwstr>
  </property>
</Properties>
</file>